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9"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89"/>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Yutong Ma] Good morning, everyone. We are Yutong Ma, Ning Mu and Mike Wu. Our project asks a simple question about a prediction market. Kalshi lists a market each week on which movie will be number one on Netflix's US chart, with one contract per candidate title. Each contract has a price, and that price is the market's own probability that the title wins. So the interesting question is not whether the market is useful, it clearly is, but whether anything else we can see before the result adds to it. Specifically: do the price change over the previous 24 hours and the trading volume over the previous 24 hours improve winner prediction and probability quality beyond the current price? We answer with 90 completed weeks and five methods: the market's own highest-price pick, three logistic regressions with nested features, and a random forest. Before the numbers, one disclosure that matters: the last 18 weeks were already looked at in an earlier version of this project. So everything today is an exploratory re-analysis on existing data, not a fresh, never-seen test. And nothing here is trading advice.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Yutong Ma] Here is how the market works. Each week is one Kalshi event, and every candidate movie has its own yes or no contract. A contract pays one dollar if that title is number one on Netflix's US Top 10 movie chart named in the rules, so a price of ninety cents means the market thinks about ninety percent. Exactly one contract per included week settles yes. At our 24-hour cutoff between 10 and 19 candidates are listed, with a median of 12. The chart on the right is a real week, the latest one in our test period. One title is priced near ninety-nine cents and the rest are around a cent. That skew is typical and we will come back to it. A price is an approximate market probability, but when trading is thin an old trade can mislead. We have two targets. The first is the winner: pick one contract per week and count the weeks we get right. The second is the quality of the probabilities for every candidate in every week, measured by binary log loss and the Brier score. The market gives us a baseline for both: its pick is the highest price, and its probability is the price itself.</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Ning Mu] The data come from Kalshi's public API: 94 weekly events, 1,192 contracts, and 104,392 hourly candles, as of a snapshot on 2026-10-23. We have candles, not individual trades or the order book. We keep a week only if every contract has settled, exactly one contract is yes, and all share one close time. That leaves 90 weeks: one week was not fully settled and 3 did not have exactly one yes. At the 24-hour cutoff that gives 1,139 candidate-week rows, and 1,131 at the 72-hour cutoff. In 3 weeks the eventual winner was not yet listed 24 hours before close, and in 5 weeks at 72 hours. All of them are training weeks, and we keep them as top-1 misses instead of quietly dropping hard weeks. The right side shows what the data look like. Prices are extremely skewed: the median last price is one cent, and 85.7% of candidate rows are priced below ten cents, so the middle probability bins have little support. 240 rows, that is 21.1%, have no observed price at the cutoff, all in training weeks, so training and test missingness differ, and we never turn a missing price into zero. For 302 rows the last trade is more than a day old, 75 of the 217 test rows among them, so stale inputs can affect the market rule and the learned models. And 548 rows, 48.1%, had no trade at all in the final 24 hours, so trading is thin. Finally, the baseline. The highest-priced contract wins 77/90 of all 90 weeks, that is 85.6%. That is strong but not perfect, so a perfect eighteen out of eighteen on the test weeks is on the high side of the market's history.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Ning Mu] Now the prediction time and the features. The main prediction time is the common close time minus 24 hours, floored to a completed hour. The exploratory version uses 72 hours, and it is recomputed from scratch: which candidates are listed, which prices exist and which volumes exist all change. We do not shift the 24-hour table. Every feature uses only hourly candles that end at or before the cutoff. Price now is the last observed price. Price change is that price minus the last observed price at or before 24 hours earlier. Volume is the log of one plus the contracts traded in the previous 24 hours. The rule on missing data is simple: missing stays missing. If no hourly row is returned in the volume window, the volume is not available, 113 rows at the 24-hour cutoff; if a row is returned with zero trades, that is a real zero, 435 rows. The table on the right is a real test week showing both cases.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Ning Mu] The primary comparison is four systems. The baseline simply picks the highest price. Logistic regression is one algorithm family used with three nested feature sets: A uses price only, B adds the 24-hour change, C adds log volume. B minus A measures what price change adds, and C minus B what volume adds. A random forest with all three features is added as an exploratory fifth method. For each model we ran a small search on the validation weeks only. For each logistic model, six values of the regularization constant C. For the forest, nine settings of tree depth and minimum leaf size, with 300 trees. The rule was fixed before the search: pick the setting with the lowest validation log loss, weighting each week equally; if two settings differ by less than a millionth, take the more regularized one. The four lines of code on the slide are exactly that rule, copied from the script that produced these results. At the 24-hour cutoff the search chose C of 10 for model A, C of 100 for B and for C, and depth 3 with leaf size 5 for the forest. For B and C that C is the top of the grid, but the validation curve is flat there and we did not extend the grid; this is noted in appendix A2. Two cautions: logistic A is a learned price-only control, not the raw market baseline, and because A, B and C are tuned separately we compare complete procedures, not isolated feature effects. Final models are fitted on training weeks only; validation weeks are not merged back in.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Weeks are split chronologically, and whole weeks stay together: 54 training weeks from 2025-01-13 to 2026-01-26, 18 validation weeks, and 18 test weeks ending 2026-10-19. This is the same week assignment as the earlier version, and the 72-hour analysis reuses it. Nothing from a later period is ever used to fit, or to choose something about, an earlier one. Training weeks fit the preprocessing and the models, validation weeks choose the settings, and the test weeks play no role in choosing anything. Since we saw them before, we say so. Scoring in one line: top-1 asks whether the highest-scoring movie won, as weeks correct over weeks. Log loss is probability error with a large penalty for confident mistakes, and Brier is squared probability error. Both are computed for every candidate-week, the market's probability is simply the contract's observed price, and each week counts equally. Every method is scored on the same rows: 217 of 217 test rows at 24 hours and 214 of 217 at 72 hours; the rest have no observed price. The full definitions are in appendix A1.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Now the results, starting with the question a forecaster cares about most: does the model pick the winning movie? This is the 24-hour cutoff on the 18 test weeks. The market's highest price picks the winner in 18/18 weeks, and so does logistic A, which uses price only. B, which adds the 24-hour price change, and C, which also adds volume, each get 17/18. So there is no accuracy gain from price change or volume. Please do not describe the one extra miss as established harm: one week moves accuracy by 5.6 points, and the market's Wilson 95 percent interval is 82.4%–100%. The table shows that one week, Jul 6, 2026. Little Brother's price rose from 0.13 to 0.67, and Enola Holmes 3 fell from 0.87 to 0.34. The market, logistic A and the forest pick Little Brother, which won. B and C score Enola Holmes 3 higher, 0.32 against 0.29 for B and 0.58 against 0.53 for C. This is a post hoc description of one week, not evidence of a general mechanism. The random forest, which is exploratory, also gets 18/18, so top-1 cannot separate the methods.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Because top-1 is saturated, we also score the probabilities of every candidate, with binary log loss and Brier score. This part is exploratory: the random forest is outside the four-system design, the 18 test weeks were already seen, and we made no multiplicity adjustment. In the left panel, the dashed line is the market price's own level, so a bar below the line beats the market. The forest's log loss is 0.0180 against 0.0234 for the market price, a paired difference of −0.0054 [−0.0084, −0.0017]. Negative means the forest is better. But its Brier score is 0.0047 against 0.0037, a difference of +0.0010 [+0.0001, +0.0021]. Positive means the market is better. So the two metrics disagree, and no method dominates. Inside logistic regression, adding the 24-hour change did not help, +0.0064 in log loss against A with an interval that includes zero. Adding volume helped relative to B, −0.0061. Even so, logistic C stays worse than the market price, +0.0095. On the validation weeks the forest's log-loss difference was −0.0111 [−0.0338, +0.0031], which includes zero. So the forest's edge needs confirmation on new weeks. All intervals are descriptive.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The 72-hour cutoff is exploratory, and we tried no other window in this analysis. At 72 hours the market leader is 15/18 on the test weeks, and the random forest is the same, so there is no top-1 gain; fifteen out of eighteen has a Wilson 95 percent interval of 60.8%–94.2%. Over all 90 weeks the highest price wins 67/90, down from 77/90 at 24 hours. The forest's log loss against the market is −0.0029 [−0.0177, +0.0098]: slightly lower, but the interval includes zero. Less is known earlier. There are 1,131 candidate rows, the winner is not yet listed in 5 weeks against 3 at 24 hours, and 276 rows have no price. All 18 test winners were listed at both cutoffs, so the full-sample and common-week test results are identical. The calibration plots and the coverage table are in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To sum up. We found no consistent evidence that the 24-hour price change or volume improves on the market price. On winner selection, the highest price was right 18/18 on the test weeks and 77/90 over all weeks, and no model beat it. On probabilities, the 24-hour change added nothing in logistic regression, volume helped somewhat relative to B, and neither made logistic regression better than the raw market price. The random forest lowered log loss on the test weeks but not Brier, and on the validation weeks its log-loss difference was −0.0111 [−0.0338, +0.0031], which includes zero. At 72 hours there was no gain. If you remember one sentence: in these eighteen weeks, nothing we added beat the price on both probability metrics. The probability improvement is exploratory and needs confirmation on new weeks. The calibration plots in the appendix are diagnostic only, with sparse bins and eighteen test weeks.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Limits first. The 18 test weeks were already viewed in an earlier version, so nothing here is a fresh test. Prices can be stale: for 26.5% of candidate rows the last trade is more than a day old. Missingness changes by split: all 240 rows without a price are training rows. The candidate lists and settlement come from data downloaded after the fact, on 2026-10-23, so the metadata is retrospective. And we ran many exploratory comparisons, five methods at two cutoffs, with no multiplicity adjustment. The next step is simple: fix one cutoff and one primary metric before any new weeks resolve, and check whether the same pattern appears. We make no claim about causes, traders or profit, and nothing here is trading advice. Logistic regression uses price linearly on the log-odds scale, and the data are hourly candles, not individual trades. Everything is reproducible from the files listed in the appendix. Thank you, and we are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[Speaker: Mike Wu (Q&amp;A)] This slide is only a map of the appendix, for questions. Metric definitions are A1; the tuning grids are A2 and A3; the paired bootstrap is A4; calibration diagnostics are A5 and A6; data quality is A7; the key code is A8 and A9; and the run record with hashes, seed and versions is A10.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the metric definitions. The point to remember is the market's probability: it is the contract's own observed price, not a zero-one rule. Rows without an observed price are not scorable for any method, and every method is scored on the same rows.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the full 24-hour validation grid. On the left, the logistic curves are flat above C of one, and the rings mark the selected values. On the right is the forest grid; the star is the selected setting. Depth 3 with leaf 5 and depth 5 with leaf 5 differ by 0.00012, so the choice follows the pre-stated rule of lowest validation log loss and is not a tie under the 1e-6 rule. For logistic B and C at 24 hours, C of 100 is the top of the grid; the validation loss is flat between C of 10 and 100, and the grid was not extended.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the same grids for the exploratory 72-hour cutoff. Selected settings are marked with an asterisk.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paired week bootstrap, 10,000 resamples with seed 20261022, on the test weeks. Differences are first method minus second, so a negative log loss or Brier difference means the first method is better. The highlighted rows are the two comparisons with the market. At 24 hours the forest's log-loss interval excludes zero, but the effect is small and the Brier difference goes the other way; at 72 hours the intervals span zero. Descriptive only: no multiplicity adjustment and no correction for serial dependence, and practical importance is untested.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calibration at the 24-hour cutoff. Five equal-width probability bins; marker area grows with the number of candidate-weeks, and the table under each panel gives the counts. Models are shown on test weeks only. Descriptive only: eighteen test weeks and sparse bins. No recalibration was fitted.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the same calibration diagnostic at the 72-hour cutoff, with the same bins and the same caveats.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data quality and coverage. On the left, how old the last observed price is at each cutoff. On the right, the audit counts by cutoff, including how often the highest price wins and how many test rows are scored. The second histogram shows how many of the last 24 hours had any trade. Volume is missing only when no hourly row is returned for the 24-hour window; zero-volume windows are true zeros.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key training code, copied by line number from the script that produced the results. Median imputation with missing indicators fitted on training rows; scaling only for logistic regression; every training week has equal total weight; the forest uses all features at each split.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the split and the metric code. The split takes the first 60 percent of weeks in time order for training, the next 20 percent for validation and the last 20 percent for test. Probabilities are clipped, the loss is averaged within each week, and then averaged across weeks.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Appendix: reproduction. Run the script on the three input files; the run record stores hashes, seed, versions and runtime. The numbers in this deck were computed from the CSV mirror of the hourly-candle parquet because pyarrow could not be installed in the environment that ran the code; the mirror was verified against the parquet footer statistics. The parquet read path in the script was not executed in that run.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hyperlink" Target="https://github.com/tt12049999/stats414-netflix-kalshi"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6.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8.png"/><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3D"/>
        </a:solidFill>
        <a:effectLst/>
      </p:bgPr>
    </p:bg>
    <p:spTree>
      <p:nvGrpSpPr>
        <p:cNvPr id="1" name=""/>
        <p:cNvGrpSpPr/>
        <p:nvPr/>
      </p:nvGrpSpPr>
      <p:grpSpPr/>
      <p:sp>
        <p:nvSpPr>
          <p:cNvPr id="2" name="Title 1"/>
          <p:cNvSpPr>
            <a:spLocks noGrp="1"/>
          </p:cNvSpPr>
          <p:nvPr>
            <p:ph type="title"/>
          </p:nvPr>
        </p:nvSpPr>
        <p:spPr>
          <a:xfrm>
            <a:off x="548640" y="897763"/>
            <a:ext cx="11064240" cy="868680"/>
          </a:xfrm>
        </p:spPr>
        <p:txBody>
          <a:bodyPr wrap="square" lIns="45720" rIns="45720" anchor="ctr"/>
          <a:lstStyle/>
          <a:p>
            <a:pPr algn="l"/>
            <a:r>
              <a:rPr sz="2700" b="1" i="0">
                <a:solidFill>
                  <a:srgbClr val="FFFFFF"/>
                </a:solidFill>
                <a:latin typeface="Cambria"/>
              </a:rPr>
              <a:t>Beyond the price: can past change and volume predict Netflix's weekly #1 movie?</a:t>
            </a:r>
            <a:endParaRPr sz="2700" b="1" i="0">
              <a:solidFill>
                <a:srgbClr val="FFFFFF"/>
              </a:solidFill>
              <a:latin typeface="Cambria"/>
            </a:endParaRPr>
          </a:p>
        </p:txBody>
      </p:sp>
      <p:sp>
        <p:nvSpPr>
          <p:cNvPr id="3" name="Team and course"/>
          <p:cNvSpPr txBox="1"/>
          <p:nvPr/>
        </p:nvSpPr>
        <p:spPr>
          <a:xfrm>
            <a:off x="548640" y="1931035"/>
            <a:ext cx="11064240" cy="331470"/>
          </a:xfrm>
          <a:prstGeom prst="rect">
            <a:avLst/>
          </a:prstGeom>
          <a:noFill/>
        </p:spPr>
        <p:txBody>
          <a:bodyPr wrap="square" lIns="45720" tIns="27432" rIns="45720" bIns="27432" anchor="t">
            <a:spAutoFit/>
          </a:bodyPr>
          <a:lstStyle/>
          <a:p>
            <a:pPr algn="l">
              <a:spcAft>
                <a:spcPts val="400"/>
              </a:spcAft>
            </a:pPr>
            <a:r>
              <a:rPr lang="en-US" sz="1800" b="0" i="0">
                <a:solidFill>
                  <a:srgbClr val="B8C4D2"/>
                </a:solidFill>
                <a:latin typeface="Calibri"/>
              </a:rPr>
              <a:t>team aaa: </a:t>
            </a:r>
            <a:r>
              <a:rPr sz="1800" b="0" i="0">
                <a:solidFill>
                  <a:srgbClr val="B8C4D2"/>
                </a:solidFill>
                <a:latin typeface="Calibri"/>
              </a:rPr>
              <a:t>Yutong Ma, Ning Mu, Mike Wu   |   STATS 414 midterm   |   Oct 28, 2026</a:t>
            </a:r>
            <a:endParaRPr sz="1800" b="0" i="0">
              <a:solidFill>
                <a:srgbClr val="B8C4D2"/>
              </a:solidFill>
              <a:latin typeface="Calibri"/>
            </a:endParaRPr>
          </a:p>
        </p:txBody>
      </p:sp>
      <p:sp>
        <p:nvSpPr>
          <p:cNvPr id="4" name="TextBox 3"/>
          <p:cNvSpPr txBox="1"/>
          <p:nvPr/>
        </p:nvSpPr>
        <p:spPr>
          <a:xfrm>
            <a:off x="548640" y="2525395"/>
            <a:ext cx="10241280" cy="1554480"/>
          </a:xfrm>
          <a:prstGeom prst="rect">
            <a:avLst/>
          </a:prstGeom>
          <a:noFill/>
        </p:spPr>
        <p:txBody>
          <a:bodyPr wrap="square" lIns="45720" tIns="27432" rIns="45720" bIns="27432" anchor="t">
            <a:spAutoFit/>
          </a:bodyPr>
          <a:lstStyle/>
          <a:p>
            <a:pPr algn="l">
              <a:spcAft>
                <a:spcPts val="600"/>
              </a:spcAft>
            </a:pPr>
            <a:r>
              <a:rPr sz="1700" b="1" i="0">
                <a:solidFill>
                  <a:srgbClr val="F2C14E"/>
                </a:solidFill>
                <a:latin typeface="Calibri"/>
              </a:rPr>
              <a:t>Research question</a:t>
            </a:r>
            <a:endParaRPr sz="1700" b="1" i="0">
              <a:solidFill>
                <a:srgbClr val="F2C14E"/>
              </a:solidFill>
              <a:latin typeface="Calibri"/>
            </a:endParaRPr>
          </a:p>
          <a:p>
            <a:pPr algn="l">
              <a:spcAft>
                <a:spcPts val="600"/>
              </a:spcAft>
            </a:pPr>
            <a:r>
              <a:rPr sz="2200" b="0" i="0">
                <a:solidFill>
                  <a:srgbClr val="FFFFFF"/>
                </a:solidFill>
                <a:latin typeface="Calibri"/>
              </a:rPr>
              <a:t>Do the past 24-hour price change and 24-hour trading volume improve winner prediction and probability quality beyond the current Kalshi price of each candidate movie?</a:t>
            </a:r>
            <a:endParaRPr sz="2200" b="0" i="0">
              <a:solidFill>
                <a:srgbClr val="FFFFFF"/>
              </a:solidFill>
              <a:latin typeface="Calibri"/>
            </a:endParaRPr>
          </a:p>
        </p:txBody>
      </p:sp>
      <p:sp>
        <p:nvSpPr>
          <p:cNvPr id="5" name="Stat 1"/>
          <p:cNvSpPr/>
          <p:nvPr/>
        </p:nvSpPr>
        <p:spPr>
          <a:xfrm>
            <a:off x="548640" y="4262755"/>
            <a:ext cx="2606040" cy="1508760"/>
          </a:xfrm>
          <a:prstGeom prst="roundRect">
            <a:avLst>
              <a:gd name="adj" fmla="val 6000"/>
            </a:avLst>
          </a:prstGeom>
          <a:solidFill>
            <a:srgbClr val="1E3A56"/>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3200" b="1" i="0">
                <a:solidFill>
                  <a:srgbClr val="FFFFFF"/>
                </a:solidFill>
                <a:latin typeface="Calibri"/>
              </a:rPr>
              <a:t>90</a:t>
            </a:r>
            <a:endParaRPr sz="3200" b="1" i="0">
              <a:solidFill>
                <a:srgbClr val="FFFFFF"/>
              </a:solidFill>
              <a:latin typeface="Calibri"/>
            </a:endParaRPr>
          </a:p>
          <a:p>
            <a:pPr algn="ctr">
              <a:spcAft>
                <a:spcPts val="200"/>
              </a:spcAft>
            </a:pPr>
            <a:r>
              <a:rPr sz="1450" b="0" i="0">
                <a:solidFill>
                  <a:srgbClr val="C9D6E3"/>
                </a:solidFill>
                <a:latin typeface="Calibri"/>
              </a:rPr>
              <a:t>completed weekly markets</a:t>
            </a:r>
            <a:endParaRPr sz="1450" b="0" i="0">
              <a:solidFill>
                <a:srgbClr val="C9D6E3"/>
              </a:solidFill>
              <a:latin typeface="Calibri"/>
            </a:endParaRPr>
          </a:p>
        </p:txBody>
      </p:sp>
      <p:sp>
        <p:nvSpPr>
          <p:cNvPr id="6" name="Stat 2"/>
          <p:cNvSpPr/>
          <p:nvPr/>
        </p:nvSpPr>
        <p:spPr>
          <a:xfrm>
            <a:off x="3337560" y="4262755"/>
            <a:ext cx="2606040" cy="1508760"/>
          </a:xfrm>
          <a:prstGeom prst="roundRect">
            <a:avLst>
              <a:gd name="adj" fmla="val 6000"/>
            </a:avLst>
          </a:prstGeom>
          <a:solidFill>
            <a:srgbClr val="1E3A56"/>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3200" b="1" i="0">
                <a:solidFill>
                  <a:srgbClr val="FFFFFF"/>
                </a:solidFill>
                <a:latin typeface="Calibri"/>
              </a:rPr>
              <a:t>1,139</a:t>
            </a:r>
            <a:endParaRPr sz="3200" b="1" i="0">
              <a:solidFill>
                <a:srgbClr val="FFFFFF"/>
              </a:solidFill>
              <a:latin typeface="Calibri"/>
            </a:endParaRPr>
          </a:p>
          <a:p>
            <a:pPr algn="ctr">
              <a:spcAft>
                <a:spcPts val="200"/>
              </a:spcAft>
            </a:pPr>
            <a:r>
              <a:rPr sz="1450" b="0" i="0">
                <a:solidFill>
                  <a:srgbClr val="C9D6E3"/>
                </a:solidFill>
                <a:latin typeface="Calibri"/>
              </a:rPr>
              <a:t>candidate-week rows at the 24h cutoff</a:t>
            </a:r>
            <a:endParaRPr sz="1450" b="0" i="0">
              <a:solidFill>
                <a:srgbClr val="C9D6E3"/>
              </a:solidFill>
              <a:latin typeface="Calibri"/>
            </a:endParaRPr>
          </a:p>
        </p:txBody>
      </p:sp>
      <p:sp>
        <p:nvSpPr>
          <p:cNvPr id="7" name="Stat 3"/>
          <p:cNvSpPr/>
          <p:nvPr/>
        </p:nvSpPr>
        <p:spPr>
          <a:xfrm>
            <a:off x="6126479" y="4262755"/>
            <a:ext cx="2606040" cy="1508760"/>
          </a:xfrm>
          <a:prstGeom prst="roundRect">
            <a:avLst>
              <a:gd name="adj" fmla="val 6000"/>
            </a:avLst>
          </a:prstGeom>
          <a:solidFill>
            <a:srgbClr val="1E3A56"/>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3200" b="1" i="0">
                <a:solidFill>
                  <a:srgbClr val="FFFFFF"/>
                </a:solidFill>
                <a:latin typeface="Calibri"/>
              </a:rPr>
              <a:t>5</a:t>
            </a:r>
            <a:endParaRPr sz="3200" b="1" i="0">
              <a:solidFill>
                <a:srgbClr val="FFFFFF"/>
              </a:solidFill>
              <a:latin typeface="Calibri"/>
            </a:endParaRPr>
          </a:p>
          <a:p>
            <a:pPr algn="ctr">
              <a:spcAft>
                <a:spcPts val="200"/>
              </a:spcAft>
            </a:pPr>
            <a:r>
              <a:rPr sz="1450" b="0" i="0">
                <a:solidFill>
                  <a:srgbClr val="C9D6E3"/>
                </a:solidFill>
                <a:latin typeface="Calibri"/>
              </a:rPr>
              <a:t>methods: market leader, 3 logistic models, random forest</a:t>
            </a:r>
            <a:endParaRPr sz="1450" b="0" i="0">
              <a:solidFill>
                <a:srgbClr val="C9D6E3"/>
              </a:solidFill>
              <a:latin typeface="Calibri"/>
            </a:endParaRPr>
          </a:p>
        </p:txBody>
      </p:sp>
      <p:sp>
        <p:nvSpPr>
          <p:cNvPr id="8" name="Stat 4"/>
          <p:cNvSpPr/>
          <p:nvPr/>
        </p:nvSpPr>
        <p:spPr>
          <a:xfrm>
            <a:off x="8915399" y="4262755"/>
            <a:ext cx="2606040" cy="1508760"/>
          </a:xfrm>
          <a:prstGeom prst="roundRect">
            <a:avLst>
              <a:gd name="adj" fmla="val 6000"/>
            </a:avLst>
          </a:prstGeom>
          <a:solidFill>
            <a:srgbClr val="1E3A56"/>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3200" b="1" i="0">
                <a:solidFill>
                  <a:srgbClr val="FFFFFF"/>
                </a:solidFill>
                <a:latin typeface="Calibri"/>
              </a:rPr>
              <a:t>24h + 72h</a:t>
            </a:r>
            <a:endParaRPr sz="3200" b="1" i="0">
              <a:solidFill>
                <a:srgbClr val="FFFFFF"/>
              </a:solidFill>
              <a:latin typeface="Calibri"/>
            </a:endParaRPr>
          </a:p>
          <a:p>
            <a:pPr algn="ctr">
              <a:spcAft>
                <a:spcPts val="200"/>
              </a:spcAft>
            </a:pPr>
            <a:r>
              <a:rPr sz="1450" b="0" i="0">
                <a:solidFill>
                  <a:srgbClr val="C9D6E3"/>
                </a:solidFill>
                <a:latin typeface="Calibri"/>
              </a:rPr>
              <a:t>cutoffs before close (72h exploratory)</a:t>
            </a:r>
            <a:endParaRPr sz="1450" b="0" i="0">
              <a:solidFill>
                <a:srgbClr val="C9D6E3"/>
              </a:solidFill>
              <a:latin typeface="Calibri"/>
            </a:endParaRPr>
          </a:p>
        </p:txBody>
      </p:sp>
      <p:sp>
        <p:nvSpPr>
          <p:cNvPr id="10" name="GitHub link">
            <a:hlinkClick r:id="rId1"/>
          </p:cNvPr>
          <p:cNvSpPr txBox="1"/>
          <p:nvPr/>
        </p:nvSpPr>
        <p:spPr>
          <a:xfrm>
            <a:off x="548640" y="6382512"/>
            <a:ext cx="11064240" cy="384048"/>
          </a:xfrm>
          <a:prstGeom prst="rect">
            <a:avLst/>
          </a:prstGeom>
          <a:noFill/>
        </p:spPr>
        <p:txBody>
          <a:bodyPr wrap="square" lIns="45720" tIns="27432" rIns="45720" bIns="27432" anchor="t">
            <a:spAutoFit/>
          </a:bodyPr>
          <a:lstStyle/>
          <a:p>
            <a:pPr algn="l">
              <a:spcAft>
                <a:spcPts val="400"/>
              </a:spcAft>
            </a:pPr>
            <a:r>
              <a:rPr sz="1600" b="0" i="0">
                <a:solidFill>
                  <a:srgbClr val="B8C4D2"/>
                </a:solidFill>
                <a:latin typeface="Calibri"/>
              </a:rPr>
              <a:t>Code and data (public): </a:t>
            </a:r>
            <a:r>
              <a:rPr sz="1600" b="1" i="0">
                <a:solidFill>
                  <a:srgbClr val="F2C14E"/>
                </a:solidFill>
                <a:latin typeface="Calibri"/>
              </a:rPr>
              <a:t>https://github.com/tt12049999/stats414-netflix-kalshi</a:t>
            </a:r>
            <a:endParaRPr sz="1600" b="1" i="0">
              <a:solidFill>
                <a:srgbClr val="F2C14E"/>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Each week: yes/no contracts whose prices are probabilities</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Mechanism 1"/>
          <p:cNvSpPr/>
          <p:nvPr/>
        </p:nvSpPr>
        <p:spPr>
          <a:xfrm>
            <a:off x="548640" y="1280160"/>
            <a:ext cx="3429000" cy="1783080"/>
          </a:xfrm>
          <a:prstGeom prst="roundRect">
            <a:avLst>
              <a:gd name="adj" fmla="val 5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500"/>
              </a:spcAft>
            </a:pPr>
            <a:r>
              <a:rPr sz="2000" b="1" i="0">
                <a:solidFill>
                  <a:srgbClr val="14283D"/>
                </a:solidFill>
                <a:latin typeface="Calibri"/>
              </a:rPr>
              <a:t>Weekly event</a:t>
            </a:r>
            <a:endParaRPr sz="2000" b="1" i="0">
              <a:solidFill>
                <a:srgbClr val="14283D"/>
              </a:solidFill>
              <a:latin typeface="Calibri"/>
            </a:endParaRPr>
          </a:p>
          <a:p>
            <a:pPr algn="l">
              <a:spcAft>
                <a:spcPts val="500"/>
              </a:spcAft>
            </a:pPr>
            <a:r>
              <a:rPr sz="1600" b="0" i="0">
                <a:solidFill>
                  <a:srgbClr val="1F2933"/>
                </a:solidFill>
                <a:latin typeface="Calibri"/>
              </a:rPr>
              <a:t>“Top US Netflix movie” on a given week</a:t>
            </a:r>
            <a:endParaRPr sz="1600" b="0" i="0">
              <a:solidFill>
                <a:srgbClr val="1F2933"/>
              </a:solidFill>
              <a:latin typeface="Calibri"/>
            </a:endParaRPr>
          </a:p>
          <a:p>
            <a:pPr algn="l">
              <a:spcAft>
                <a:spcPts val="500"/>
              </a:spcAft>
            </a:pPr>
            <a:r>
              <a:rPr sz="1400" b="0" i="0">
                <a:solidFill>
                  <a:srgbClr val="5F6B7A"/>
                </a:solidFill>
                <a:latin typeface="Calibri"/>
              </a:rPr>
              <a:t>94 events in the series; 90 usable weeks</a:t>
            </a:r>
            <a:endParaRPr sz="1400" b="0" i="0">
              <a:solidFill>
                <a:srgbClr val="5F6B7A"/>
              </a:solidFill>
              <a:latin typeface="Calibri"/>
            </a:endParaRPr>
          </a:p>
        </p:txBody>
      </p:sp>
      <p:sp>
        <p:nvSpPr>
          <p:cNvPr id="6" name="Right Arrow 5"/>
          <p:cNvSpPr/>
          <p:nvPr/>
        </p:nvSpPr>
        <p:spPr>
          <a:xfrm>
            <a:off x="4005072" y="2011680"/>
            <a:ext cx="310896" cy="365760"/>
          </a:xfrm>
          <a:prstGeom prst="rightArrow">
            <a:avLst/>
          </a:prstGeom>
          <a:solidFill>
            <a:srgbClr val="5F6B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Mechanism 2"/>
          <p:cNvSpPr/>
          <p:nvPr/>
        </p:nvSpPr>
        <p:spPr>
          <a:xfrm>
            <a:off x="4343400" y="1280160"/>
            <a:ext cx="3429000" cy="1783080"/>
          </a:xfrm>
          <a:prstGeom prst="roundRect">
            <a:avLst>
              <a:gd name="adj" fmla="val 5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500"/>
              </a:spcAft>
            </a:pPr>
            <a:r>
              <a:rPr sz="2000" b="1" i="0">
                <a:solidFill>
                  <a:srgbClr val="14283D"/>
                </a:solidFill>
                <a:latin typeface="Calibri"/>
              </a:rPr>
              <a:t>One contract per candidate</a:t>
            </a:r>
            <a:endParaRPr sz="2000" b="1" i="0">
              <a:solidFill>
                <a:srgbClr val="14283D"/>
              </a:solidFill>
              <a:latin typeface="Calibri"/>
            </a:endParaRPr>
          </a:p>
          <a:p>
            <a:pPr algn="l">
              <a:spcAft>
                <a:spcPts val="500"/>
              </a:spcAft>
            </a:pPr>
            <a:r>
              <a:rPr sz="1600" b="0" i="0">
                <a:solidFill>
                  <a:srgbClr val="1F2933"/>
                </a:solidFill>
                <a:latin typeface="Calibri"/>
              </a:rPr>
              <a:t>10–19 candidates listed at the 24h cutoff (median 12)</a:t>
            </a:r>
            <a:endParaRPr sz="1600" b="0" i="0">
              <a:solidFill>
                <a:srgbClr val="1F2933"/>
              </a:solidFill>
              <a:latin typeface="Calibri"/>
            </a:endParaRPr>
          </a:p>
          <a:p>
            <a:pPr algn="l">
              <a:spcAft>
                <a:spcPts val="500"/>
              </a:spcAft>
            </a:pPr>
            <a:r>
              <a:rPr sz="1400" b="0" i="0">
                <a:solidFill>
                  <a:srgbClr val="5F6B7A"/>
                </a:solidFill>
                <a:latin typeface="Calibri"/>
              </a:rPr>
              <a:t>Yes pays $1 if that title is #1; price $0–$1</a:t>
            </a:r>
            <a:endParaRPr sz="1400" b="0" i="0">
              <a:solidFill>
                <a:srgbClr val="5F6B7A"/>
              </a:solidFill>
              <a:latin typeface="Calibri"/>
            </a:endParaRPr>
          </a:p>
        </p:txBody>
      </p:sp>
      <p:sp>
        <p:nvSpPr>
          <p:cNvPr id="8" name="Right Arrow 7"/>
          <p:cNvSpPr/>
          <p:nvPr/>
        </p:nvSpPr>
        <p:spPr>
          <a:xfrm>
            <a:off x="7799831" y="2011680"/>
            <a:ext cx="310896" cy="365760"/>
          </a:xfrm>
          <a:prstGeom prst="rightArrow">
            <a:avLst/>
          </a:prstGeom>
          <a:solidFill>
            <a:srgbClr val="5F6B7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Mechanism 3"/>
          <p:cNvSpPr/>
          <p:nvPr/>
        </p:nvSpPr>
        <p:spPr>
          <a:xfrm>
            <a:off x="8138160" y="1280160"/>
            <a:ext cx="3429000" cy="1783080"/>
          </a:xfrm>
          <a:prstGeom prst="roundRect">
            <a:avLst>
              <a:gd name="adj" fmla="val 5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500"/>
              </a:spcAft>
            </a:pPr>
            <a:r>
              <a:rPr sz="2000" b="1" i="0">
                <a:solidFill>
                  <a:srgbClr val="14283D"/>
                </a:solidFill>
                <a:latin typeface="Calibri"/>
              </a:rPr>
              <a:t>Resolution</a:t>
            </a:r>
            <a:endParaRPr sz="2000" b="1" i="0">
              <a:solidFill>
                <a:srgbClr val="14283D"/>
              </a:solidFill>
              <a:latin typeface="Calibri"/>
            </a:endParaRPr>
          </a:p>
          <a:p>
            <a:pPr algn="l">
              <a:spcAft>
                <a:spcPts val="500"/>
              </a:spcAft>
            </a:pPr>
            <a:r>
              <a:rPr sz="1600" b="0" i="0">
                <a:solidFill>
                  <a:srgbClr val="1F2933"/>
                </a:solidFill>
                <a:latin typeface="Calibri"/>
              </a:rPr>
              <a:t>Netflix Top 10 US Movie chart on the date named in the rules</a:t>
            </a:r>
            <a:endParaRPr sz="1600" b="0" i="0">
              <a:solidFill>
                <a:srgbClr val="1F2933"/>
              </a:solidFill>
              <a:latin typeface="Calibri"/>
            </a:endParaRPr>
          </a:p>
          <a:p>
            <a:pPr algn="l">
              <a:spcAft>
                <a:spcPts val="500"/>
              </a:spcAft>
            </a:pPr>
            <a:r>
              <a:rPr sz="1400" b="0" i="0">
                <a:solidFill>
                  <a:srgbClr val="5F6B7A"/>
                </a:solidFill>
                <a:latin typeface="Calibri"/>
              </a:rPr>
              <a:t>Exactly one Yes per included week; the rest settle No</a:t>
            </a:r>
            <a:endParaRPr sz="1400" b="0" i="0">
              <a:solidFill>
                <a:srgbClr val="5F6B7A"/>
              </a:solidFill>
              <a:latin typeface="Calibri"/>
            </a:endParaRPr>
          </a:p>
        </p:txBody>
      </p:sp>
      <p:sp>
        <p:nvSpPr>
          <p:cNvPr id="10" name="TextBox 9"/>
          <p:cNvSpPr txBox="1"/>
          <p:nvPr/>
        </p:nvSpPr>
        <p:spPr>
          <a:xfrm>
            <a:off x="548640" y="3291840"/>
            <a:ext cx="5394960" cy="411480"/>
          </a:xfrm>
          <a:prstGeom prst="rect">
            <a:avLst/>
          </a:prstGeom>
          <a:noFill/>
        </p:spPr>
        <p:txBody>
          <a:bodyPr wrap="square" lIns="45720" tIns="27432" rIns="45720" bIns="27432" anchor="t">
            <a:spAutoFit/>
          </a:bodyPr>
          <a:lstStyle/>
          <a:p>
            <a:pPr algn="l">
              <a:spcAft>
                <a:spcPts val="400"/>
              </a:spcAft>
            </a:pPr>
            <a:r>
              <a:rPr sz="2200" b="1" i="0">
                <a:solidFill>
                  <a:srgbClr val="14283D"/>
                </a:solidFill>
                <a:latin typeface="Cambria"/>
              </a:rPr>
              <a:t>Targets and baseline</a:t>
            </a:r>
            <a:endParaRPr sz="2200" b="1" i="0">
              <a:solidFill>
                <a:srgbClr val="14283D"/>
              </a:solidFill>
              <a:latin typeface="Cambria"/>
            </a:endParaRPr>
          </a:p>
        </p:txBody>
      </p:sp>
      <p:sp>
        <p:nvSpPr>
          <p:cNvPr id="11" name="Targets and baseline"/>
          <p:cNvSpPr txBox="1"/>
          <p:nvPr/>
        </p:nvSpPr>
        <p:spPr>
          <a:xfrm>
            <a:off x="548640" y="3794760"/>
            <a:ext cx="5394960" cy="2011680"/>
          </a:xfrm>
          <a:prstGeom prst="rect">
            <a:avLst/>
          </a:prstGeom>
          <a:noFill/>
        </p:spPr>
        <p:txBody>
          <a:bodyPr wrap="square" lIns="45720" tIns="27432" rIns="45720" bIns="27432" anchor="t">
            <a:spAutoFit/>
          </a:bodyPr>
          <a:lstStyle/>
          <a:p>
            <a:pPr marL="182880" indent="-182880" algn="l">
              <a:spcAft>
                <a:spcPts val="1000"/>
              </a:spcAft>
              <a:buChar char="•"/>
            </a:pPr>
            <a:r>
              <a:rPr sz="1900" b="1" i="0">
                <a:solidFill>
                  <a:srgbClr val="1F2933"/>
                </a:solidFill>
                <a:latin typeface="Calibri"/>
              </a:rPr>
              <a:t>Target 1: </a:t>
            </a:r>
            <a:r>
              <a:rPr sz="1900" b="0" i="0">
                <a:solidFill>
                  <a:srgbClr val="1F2933"/>
                </a:solidFill>
                <a:latin typeface="Calibri"/>
              </a:rPr>
              <a:t>weekly top-1 accuracy</a:t>
            </a:r>
            <a:endParaRPr sz="1900" b="0" i="0">
              <a:solidFill>
                <a:srgbClr val="1F2933"/>
              </a:solidFill>
              <a:latin typeface="Calibri"/>
            </a:endParaRPr>
          </a:p>
          <a:p>
            <a:pPr marL="182880" indent="-182880" algn="l">
              <a:spcAft>
                <a:spcPts val="1000"/>
              </a:spcAft>
              <a:buChar char="•"/>
            </a:pPr>
            <a:r>
              <a:rPr sz="1900" b="1" i="0">
                <a:solidFill>
                  <a:srgbClr val="1F2933"/>
                </a:solidFill>
                <a:latin typeface="Calibri"/>
              </a:rPr>
              <a:t>Target 2: </a:t>
            </a:r>
            <a:r>
              <a:rPr sz="1900" b="0" i="0">
                <a:solidFill>
                  <a:srgbClr val="1F2933"/>
                </a:solidFill>
                <a:latin typeface="Calibri"/>
              </a:rPr>
              <a:t>candidate-level log loss and Brier score</a:t>
            </a:r>
            <a:endParaRPr sz="1900" b="0" i="0">
              <a:solidFill>
                <a:srgbClr val="1F2933"/>
              </a:solidFill>
              <a:latin typeface="Calibri"/>
            </a:endParaRPr>
          </a:p>
          <a:p>
            <a:pPr marL="182880" indent="-182880" algn="l">
              <a:spcAft>
                <a:spcPts val="1000"/>
              </a:spcAft>
              <a:buChar char="•"/>
            </a:pPr>
            <a:r>
              <a:rPr sz="1900" b="1" i="0">
                <a:solidFill>
                  <a:srgbClr val="1F2933"/>
                </a:solidFill>
                <a:latin typeface="Calibri"/>
              </a:rPr>
              <a:t>Baseline: </a:t>
            </a:r>
            <a:r>
              <a:rPr sz="1900" b="0" i="0">
                <a:solidFill>
                  <a:srgbClr val="1F2933"/>
                </a:solidFill>
                <a:latin typeface="Calibri"/>
              </a:rPr>
              <a:t>highest observed price; probability = the contract's own price</a:t>
            </a:r>
            <a:endParaRPr sz="1900" b="0" i="0">
              <a:solidFill>
                <a:srgbClr val="1F2933"/>
              </a:solidFill>
              <a:latin typeface="Calibri"/>
            </a:endParaRPr>
          </a:p>
        </p:txBody>
      </p:sp>
      <p:sp>
        <p:nvSpPr>
          <p:cNvPr id="12" name="Price caveat"/>
          <p:cNvSpPr txBox="1"/>
          <p:nvPr/>
        </p:nvSpPr>
        <p:spPr>
          <a:xfrm>
            <a:off x="548640" y="5852160"/>
            <a:ext cx="5394960" cy="548640"/>
          </a:xfrm>
          <a:prstGeom prst="rect">
            <a:avLst/>
          </a:prstGeom>
          <a:noFill/>
        </p:spPr>
        <p:txBody>
          <a:bodyPr wrap="square" lIns="45720" tIns="27432" rIns="45720" bIns="27432" anchor="t">
            <a:spAutoFit/>
          </a:bodyPr>
          <a:lstStyle/>
          <a:p>
            <a:pPr algn="l">
              <a:spcAft>
                <a:spcPts val="400"/>
              </a:spcAft>
            </a:pPr>
            <a:r>
              <a:rPr sz="1400" b="0" i="1">
                <a:solidFill>
                  <a:srgbClr val="5F6B7A"/>
                </a:solidFill>
                <a:latin typeface="Calibri"/>
              </a:rPr>
              <a:t>A price is an approximate market probability, but old trades can mislead when trading is thin.</a:t>
            </a:r>
            <a:endParaRPr sz="1400" b="0" i="1">
              <a:solidFill>
                <a:srgbClr val="5F6B7A"/>
              </a:solidFill>
              <a:latin typeface="Calibri"/>
            </a:endParaRPr>
          </a:p>
        </p:txBody>
      </p:sp>
      <p:sp>
        <p:nvSpPr>
          <p:cNvPr id="13" name="TextBox 12"/>
          <p:cNvSpPr txBox="1"/>
          <p:nvPr/>
        </p:nvSpPr>
        <p:spPr>
          <a:xfrm>
            <a:off x="6309360" y="3291840"/>
            <a:ext cx="5303520" cy="411480"/>
          </a:xfrm>
          <a:prstGeom prst="rect">
            <a:avLst/>
          </a:prstGeom>
          <a:noFill/>
        </p:spPr>
        <p:txBody>
          <a:bodyPr wrap="square" lIns="45720" tIns="27432" rIns="45720" bIns="27432" anchor="t">
            <a:spAutoFit/>
          </a:bodyPr>
          <a:lstStyle/>
          <a:p>
            <a:pPr algn="l">
              <a:spcAft>
                <a:spcPts val="400"/>
              </a:spcAft>
            </a:pPr>
            <a:r>
              <a:rPr sz="2200" b="1" i="0">
                <a:solidFill>
                  <a:srgbClr val="14283D"/>
                </a:solidFill>
                <a:latin typeface="Cambria"/>
              </a:rPr>
              <a:t>A real week: prices at the cutoff</a:t>
            </a:r>
            <a:endParaRPr sz="2200" b="1" i="0">
              <a:solidFill>
                <a:srgbClr val="14283D"/>
              </a:solidFill>
              <a:latin typeface="Cambria"/>
            </a:endParaRPr>
          </a:p>
        </p:txBody>
      </p:sp>
      <p:sp>
        <p:nvSpPr>
          <p:cNvPr id="14" name="TextBox 13"/>
          <p:cNvSpPr txBox="1"/>
          <p:nvPr/>
        </p:nvSpPr>
        <p:spPr>
          <a:xfrm>
            <a:off x="6309360" y="3730752"/>
            <a:ext cx="5303520" cy="274320"/>
          </a:xfrm>
          <a:prstGeom prst="rect">
            <a:avLst/>
          </a:prstGeom>
          <a:noFill/>
        </p:spPr>
        <p:txBody>
          <a:bodyPr wrap="square" lIns="45720" tIns="27432" rIns="45720" bIns="27432" anchor="t">
            <a:spAutoFit/>
          </a:bodyPr>
          <a:lstStyle/>
          <a:p>
            <a:pPr algn="l">
              <a:spcAft>
                <a:spcPts val="400"/>
              </a:spcAft>
            </a:pPr>
            <a:r>
              <a:rPr sz="1250" b="0" i="0">
                <a:solidFill>
                  <a:srgbClr val="5F6B7A"/>
                </a:solidFill>
                <a:latin typeface="Calibri"/>
              </a:rPr>
              <a:t>Latest test week, t = 2026-10-19 03:00 UTC; 10 candidates, top 6 shown</a:t>
            </a:r>
            <a:endParaRPr sz="1250" b="0" i="0">
              <a:solidFill>
                <a:srgbClr val="5F6B7A"/>
              </a:solidFill>
              <a:latin typeface="Calibri"/>
            </a:endParaRPr>
          </a:p>
        </p:txBody>
      </p:sp>
      <p:sp>
        <p:nvSpPr>
          <p:cNvPr id="15" name="TextBox 14"/>
          <p:cNvSpPr txBox="1"/>
          <p:nvPr/>
        </p:nvSpPr>
        <p:spPr>
          <a:xfrm>
            <a:off x="6309360" y="4069080"/>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Animals</a:t>
            </a:r>
            <a:endParaRPr sz="1400" b="0" i="0">
              <a:solidFill>
                <a:srgbClr val="1F2933"/>
              </a:solidFill>
              <a:latin typeface="Calibri"/>
            </a:endParaRPr>
          </a:p>
        </p:txBody>
      </p:sp>
      <p:sp>
        <p:nvSpPr>
          <p:cNvPr id="16" name="Price bar 1"/>
          <p:cNvSpPr/>
          <p:nvPr/>
        </p:nvSpPr>
        <p:spPr>
          <a:xfrm>
            <a:off x="8915400" y="4105656"/>
            <a:ext cx="1629460" cy="246888"/>
          </a:xfrm>
          <a:prstGeom prst="rect">
            <a:avLst/>
          </a:prstGeom>
          <a:solidFill>
            <a:srgbClr val="C236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10590580" y="4069080"/>
            <a:ext cx="1143000" cy="310896"/>
          </a:xfrm>
          <a:prstGeom prst="rect">
            <a:avLst/>
          </a:prstGeom>
          <a:noFill/>
        </p:spPr>
        <p:txBody>
          <a:bodyPr wrap="square" lIns="27432" tIns="27432" rIns="27432" bIns="27432" anchor="ctr">
            <a:spAutoFit/>
          </a:bodyPr>
          <a:lstStyle/>
          <a:p>
            <a:pPr algn="l">
              <a:spcAft>
                <a:spcPts val="400"/>
              </a:spcAft>
            </a:pPr>
            <a:r>
              <a:rPr sz="1400" b="1" i="0">
                <a:solidFill>
                  <a:srgbClr val="1F2933"/>
                </a:solidFill>
                <a:latin typeface="Calibri"/>
              </a:rPr>
              <a:t>$0.99  won</a:t>
            </a:r>
            <a:endParaRPr sz="1400" b="1" i="0">
              <a:solidFill>
                <a:srgbClr val="1F2933"/>
              </a:solidFill>
              <a:latin typeface="Calibri"/>
            </a:endParaRPr>
          </a:p>
        </p:txBody>
      </p:sp>
      <p:sp>
        <p:nvSpPr>
          <p:cNvPr id="18" name="TextBox 17"/>
          <p:cNvSpPr txBox="1"/>
          <p:nvPr/>
        </p:nvSpPr>
        <p:spPr>
          <a:xfrm>
            <a:off x="6309360" y="4453128"/>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Doing Life</a:t>
            </a:r>
            <a:endParaRPr sz="1400" b="0" i="0">
              <a:solidFill>
                <a:srgbClr val="1F2933"/>
              </a:solidFill>
              <a:latin typeface="Calibri"/>
            </a:endParaRPr>
          </a:p>
        </p:txBody>
      </p:sp>
      <p:sp>
        <p:nvSpPr>
          <p:cNvPr id="19" name="Price bar 2"/>
          <p:cNvSpPr/>
          <p:nvPr/>
        </p:nvSpPr>
        <p:spPr>
          <a:xfrm>
            <a:off x="8915400" y="4489704"/>
            <a:ext cx="36576" cy="246888"/>
          </a:xfrm>
          <a:prstGeom prst="rect">
            <a:avLst/>
          </a:prstGeom>
          <a:solidFill>
            <a:srgbClr val="8A97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997696" y="4453128"/>
            <a:ext cx="1143000" cy="310896"/>
          </a:xfrm>
          <a:prstGeom prst="rect">
            <a:avLst/>
          </a:prstGeom>
          <a:noFill/>
        </p:spPr>
        <p:txBody>
          <a:bodyPr wrap="square" lIns="27432" tIns="27432" rIns="27432" bIns="27432" anchor="ctr">
            <a:spAutoFit/>
          </a:bodyPr>
          <a:lstStyle/>
          <a:p>
            <a:pPr algn="l">
              <a:spcAft>
                <a:spcPts val="400"/>
              </a:spcAft>
            </a:pPr>
            <a:r>
              <a:rPr sz="1400" b="0" i="0">
                <a:solidFill>
                  <a:srgbClr val="1F2933"/>
                </a:solidFill>
                <a:latin typeface="Calibri"/>
              </a:rPr>
              <a:t>$0.01</a:t>
            </a:r>
            <a:endParaRPr sz="1400" b="0" i="0">
              <a:solidFill>
                <a:srgbClr val="1F2933"/>
              </a:solidFill>
              <a:latin typeface="Calibri"/>
            </a:endParaRPr>
          </a:p>
        </p:txBody>
      </p:sp>
      <p:sp>
        <p:nvSpPr>
          <p:cNvPr id="21" name="TextBox 20"/>
          <p:cNvSpPr txBox="1"/>
          <p:nvPr/>
        </p:nvSpPr>
        <p:spPr>
          <a:xfrm>
            <a:off x="6309360" y="4837176"/>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Ice Age</a:t>
            </a:r>
            <a:endParaRPr sz="1400" b="0" i="0">
              <a:solidFill>
                <a:srgbClr val="1F2933"/>
              </a:solidFill>
              <a:latin typeface="Calibri"/>
            </a:endParaRPr>
          </a:p>
        </p:txBody>
      </p:sp>
      <p:sp>
        <p:nvSpPr>
          <p:cNvPr id="22" name="Price bar 3"/>
          <p:cNvSpPr/>
          <p:nvPr/>
        </p:nvSpPr>
        <p:spPr>
          <a:xfrm>
            <a:off x="8915400" y="4873752"/>
            <a:ext cx="36576" cy="246888"/>
          </a:xfrm>
          <a:prstGeom prst="rect">
            <a:avLst/>
          </a:prstGeom>
          <a:solidFill>
            <a:srgbClr val="8A97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997696" y="4837176"/>
            <a:ext cx="1143000" cy="310896"/>
          </a:xfrm>
          <a:prstGeom prst="rect">
            <a:avLst/>
          </a:prstGeom>
          <a:noFill/>
        </p:spPr>
        <p:txBody>
          <a:bodyPr wrap="square" lIns="27432" tIns="27432" rIns="27432" bIns="27432" anchor="ctr">
            <a:spAutoFit/>
          </a:bodyPr>
          <a:lstStyle/>
          <a:p>
            <a:pPr algn="l">
              <a:spcAft>
                <a:spcPts val="400"/>
              </a:spcAft>
            </a:pPr>
            <a:r>
              <a:rPr sz="1400" b="0" i="0">
                <a:solidFill>
                  <a:srgbClr val="1F2933"/>
                </a:solidFill>
                <a:latin typeface="Calibri"/>
              </a:rPr>
              <a:t>$0.01</a:t>
            </a:r>
            <a:endParaRPr sz="1400" b="0" i="0">
              <a:solidFill>
                <a:srgbClr val="1F2933"/>
              </a:solidFill>
              <a:latin typeface="Calibri"/>
            </a:endParaRPr>
          </a:p>
        </p:txBody>
      </p:sp>
      <p:sp>
        <p:nvSpPr>
          <p:cNvPr id="24" name="TextBox 23"/>
          <p:cNvSpPr txBox="1"/>
          <p:nvPr/>
        </p:nvSpPr>
        <p:spPr>
          <a:xfrm>
            <a:off x="6309360" y="5221224"/>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Ice Age: Collision Course</a:t>
            </a:r>
            <a:endParaRPr sz="1400" b="0" i="0">
              <a:solidFill>
                <a:srgbClr val="1F2933"/>
              </a:solidFill>
              <a:latin typeface="Calibri"/>
            </a:endParaRPr>
          </a:p>
        </p:txBody>
      </p:sp>
      <p:sp>
        <p:nvSpPr>
          <p:cNvPr id="25" name="Price bar 4"/>
          <p:cNvSpPr/>
          <p:nvPr/>
        </p:nvSpPr>
        <p:spPr>
          <a:xfrm>
            <a:off x="8915400" y="5257800"/>
            <a:ext cx="36576" cy="246888"/>
          </a:xfrm>
          <a:prstGeom prst="rect">
            <a:avLst/>
          </a:prstGeom>
          <a:solidFill>
            <a:srgbClr val="8A97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997696" y="5221224"/>
            <a:ext cx="1143000" cy="310896"/>
          </a:xfrm>
          <a:prstGeom prst="rect">
            <a:avLst/>
          </a:prstGeom>
          <a:noFill/>
        </p:spPr>
        <p:txBody>
          <a:bodyPr wrap="square" lIns="27432" tIns="27432" rIns="27432" bIns="27432" anchor="ctr">
            <a:spAutoFit/>
          </a:bodyPr>
          <a:lstStyle/>
          <a:p>
            <a:pPr algn="l">
              <a:spcAft>
                <a:spcPts val="400"/>
              </a:spcAft>
            </a:pPr>
            <a:r>
              <a:rPr sz="1400" b="0" i="0">
                <a:solidFill>
                  <a:srgbClr val="1F2933"/>
                </a:solidFill>
                <a:latin typeface="Calibri"/>
              </a:rPr>
              <a:t>$0.01</a:t>
            </a:r>
            <a:endParaRPr sz="1400" b="0" i="0">
              <a:solidFill>
                <a:srgbClr val="1F2933"/>
              </a:solidFill>
              <a:latin typeface="Calibri"/>
            </a:endParaRPr>
          </a:p>
        </p:txBody>
      </p:sp>
      <p:sp>
        <p:nvSpPr>
          <p:cNvPr id="27" name="TextBox 26"/>
          <p:cNvSpPr txBox="1"/>
          <p:nvPr/>
        </p:nvSpPr>
        <p:spPr>
          <a:xfrm>
            <a:off x="6309360" y="5605272"/>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Ice Age: Dawn of the Dinos</a:t>
            </a:r>
            <a:endParaRPr sz="1400" b="0" i="0">
              <a:solidFill>
                <a:srgbClr val="1F2933"/>
              </a:solidFill>
              <a:latin typeface="Calibri"/>
            </a:endParaRPr>
          </a:p>
        </p:txBody>
      </p:sp>
      <p:sp>
        <p:nvSpPr>
          <p:cNvPr id="28" name="Price bar 5"/>
          <p:cNvSpPr/>
          <p:nvPr/>
        </p:nvSpPr>
        <p:spPr>
          <a:xfrm>
            <a:off x="8915400" y="5641848"/>
            <a:ext cx="36576" cy="246888"/>
          </a:xfrm>
          <a:prstGeom prst="rect">
            <a:avLst/>
          </a:prstGeom>
          <a:solidFill>
            <a:srgbClr val="8A97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997696" y="5605272"/>
            <a:ext cx="1143000" cy="310896"/>
          </a:xfrm>
          <a:prstGeom prst="rect">
            <a:avLst/>
          </a:prstGeom>
          <a:noFill/>
        </p:spPr>
        <p:txBody>
          <a:bodyPr wrap="square" lIns="27432" tIns="27432" rIns="27432" bIns="27432" anchor="ctr">
            <a:spAutoFit/>
          </a:bodyPr>
          <a:lstStyle/>
          <a:p>
            <a:pPr algn="l">
              <a:spcAft>
                <a:spcPts val="400"/>
              </a:spcAft>
            </a:pPr>
            <a:r>
              <a:rPr sz="1400" b="0" i="0">
                <a:solidFill>
                  <a:srgbClr val="1F2933"/>
                </a:solidFill>
                <a:latin typeface="Calibri"/>
              </a:rPr>
              <a:t>$0.01</a:t>
            </a:r>
            <a:endParaRPr sz="1400" b="0" i="0">
              <a:solidFill>
                <a:srgbClr val="1F2933"/>
              </a:solidFill>
              <a:latin typeface="Calibri"/>
            </a:endParaRPr>
          </a:p>
        </p:txBody>
      </p:sp>
      <p:sp>
        <p:nvSpPr>
          <p:cNvPr id="30" name="TextBox 29"/>
          <p:cNvSpPr txBox="1"/>
          <p:nvPr/>
        </p:nvSpPr>
        <p:spPr>
          <a:xfrm>
            <a:off x="6309360" y="5989320"/>
            <a:ext cx="2514600" cy="310896"/>
          </a:xfrm>
          <a:prstGeom prst="rect">
            <a:avLst/>
          </a:prstGeom>
          <a:noFill/>
        </p:spPr>
        <p:txBody>
          <a:bodyPr wrap="square" lIns="27432" tIns="27432" rIns="27432" bIns="27432" anchor="ctr">
            <a:spAutoFit/>
          </a:bodyPr>
          <a:lstStyle/>
          <a:p>
            <a:pPr algn="r">
              <a:spcAft>
                <a:spcPts val="400"/>
              </a:spcAft>
            </a:pPr>
            <a:r>
              <a:rPr sz="1400" b="0" i="0">
                <a:solidFill>
                  <a:srgbClr val="1F2933"/>
                </a:solidFill>
                <a:latin typeface="Calibri"/>
              </a:rPr>
              <a:t>Ice Age: The Meltdown</a:t>
            </a:r>
            <a:endParaRPr sz="1400" b="0" i="0">
              <a:solidFill>
                <a:srgbClr val="1F2933"/>
              </a:solidFill>
              <a:latin typeface="Calibri"/>
            </a:endParaRPr>
          </a:p>
        </p:txBody>
      </p:sp>
      <p:sp>
        <p:nvSpPr>
          <p:cNvPr id="31" name="Price bar 6"/>
          <p:cNvSpPr/>
          <p:nvPr/>
        </p:nvSpPr>
        <p:spPr>
          <a:xfrm>
            <a:off x="8915400" y="6025896"/>
            <a:ext cx="36576" cy="246888"/>
          </a:xfrm>
          <a:prstGeom prst="rect">
            <a:avLst/>
          </a:prstGeom>
          <a:solidFill>
            <a:srgbClr val="8A97A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997696" y="5989320"/>
            <a:ext cx="1143000" cy="310896"/>
          </a:xfrm>
          <a:prstGeom prst="rect">
            <a:avLst/>
          </a:prstGeom>
          <a:noFill/>
        </p:spPr>
        <p:txBody>
          <a:bodyPr wrap="square" lIns="27432" tIns="27432" rIns="27432" bIns="27432" anchor="ctr">
            <a:spAutoFit/>
          </a:bodyPr>
          <a:lstStyle/>
          <a:p>
            <a:pPr algn="l">
              <a:spcAft>
                <a:spcPts val="400"/>
              </a:spcAft>
            </a:pPr>
            <a:r>
              <a:rPr sz="1400" b="0" i="0">
                <a:solidFill>
                  <a:srgbClr val="1F2933"/>
                </a:solidFill>
                <a:latin typeface="Calibri"/>
              </a:rPr>
              <a:t>$0.01</a:t>
            </a:r>
            <a:endParaRPr sz="1400" b="0" i="0">
              <a:solidFill>
                <a:srgbClr val="1F2933"/>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Data: 90 completed weeks; long-shot prices and thin trading</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Funnel 1"/>
          <p:cNvSpPr/>
          <p:nvPr/>
        </p:nvSpPr>
        <p:spPr>
          <a:xfrm>
            <a:off x="548640" y="1280160"/>
            <a:ext cx="5029200" cy="548640"/>
          </a:xfrm>
          <a:prstGeom prst="roundRect">
            <a:avLst>
              <a:gd name="adj" fmla="val 12000"/>
            </a:avLst>
          </a:prstGeom>
          <a:solidFill>
            <a:srgbClr val="5F6B7A"/>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94 events  |  1,192 contracts</a:t>
            </a:r>
            <a:endParaRPr sz="1600" b="1" i="0">
              <a:solidFill>
                <a:srgbClr val="FFFFFF"/>
              </a:solidFill>
              <a:latin typeface="Calibri"/>
            </a:endParaRPr>
          </a:p>
        </p:txBody>
      </p:sp>
      <p:sp>
        <p:nvSpPr>
          <p:cNvPr id="6" name="Funnel 2"/>
          <p:cNvSpPr/>
          <p:nvPr/>
        </p:nvSpPr>
        <p:spPr>
          <a:xfrm>
            <a:off x="914399" y="1938528"/>
            <a:ext cx="4297680" cy="548640"/>
          </a:xfrm>
          <a:prstGeom prst="roundRect">
            <a:avLst>
              <a:gd name="adj" fmla="val 12000"/>
            </a:avLst>
          </a:prstGeom>
          <a:solidFill>
            <a:srgbClr val="486581"/>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90 included weeks</a:t>
            </a:r>
            <a:endParaRPr sz="1600" b="1" i="0">
              <a:solidFill>
                <a:srgbClr val="FFFFFF"/>
              </a:solidFill>
              <a:latin typeface="Calibri"/>
            </a:endParaRPr>
          </a:p>
        </p:txBody>
      </p:sp>
      <p:sp>
        <p:nvSpPr>
          <p:cNvPr id="7" name="Funnel 3"/>
          <p:cNvSpPr/>
          <p:nvPr/>
        </p:nvSpPr>
        <p:spPr>
          <a:xfrm>
            <a:off x="1280160" y="2596896"/>
            <a:ext cx="3566160" cy="548640"/>
          </a:xfrm>
          <a:prstGeom prst="roundRect">
            <a:avLst>
              <a:gd name="adj" fmla="val 12000"/>
            </a:avLst>
          </a:prstGeom>
          <a:solidFill>
            <a:srgbClr val="0B7285"/>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1,139 rows at 24h  |  1,131 at 72h</a:t>
            </a:r>
            <a:endParaRPr sz="1600" b="1" i="0">
              <a:solidFill>
                <a:srgbClr val="FFFFFF"/>
              </a:solidFill>
              <a:latin typeface="Calibri"/>
            </a:endParaRPr>
          </a:p>
        </p:txBody>
      </p:sp>
      <p:sp>
        <p:nvSpPr>
          <p:cNvPr id="8" name="Data notes"/>
          <p:cNvSpPr txBox="1"/>
          <p:nvPr/>
        </p:nvSpPr>
        <p:spPr>
          <a:xfrm>
            <a:off x="548640" y="3383280"/>
            <a:ext cx="5029200" cy="3017520"/>
          </a:xfrm>
          <a:prstGeom prst="rect">
            <a:avLst/>
          </a:prstGeom>
          <a:noFill/>
        </p:spPr>
        <p:txBody>
          <a:bodyPr wrap="square" lIns="45720" tIns="27432" rIns="45720" bIns="27432" anchor="t">
            <a:spAutoFit/>
          </a:bodyPr>
          <a:lstStyle/>
          <a:p>
            <a:pPr marL="182880" indent="-182880" algn="l">
              <a:spcAft>
                <a:spcPts val="700"/>
              </a:spcAft>
              <a:buChar char="•"/>
            </a:pPr>
            <a:r>
              <a:rPr sz="1500" b="1" i="0">
                <a:solidFill>
                  <a:srgbClr val="1F2933"/>
                </a:solidFill>
                <a:latin typeface="Calibri"/>
              </a:rPr>
              <a:t>Source: </a:t>
            </a:r>
            <a:r>
              <a:rPr sz="1500" b="0" i="0">
                <a:solidFill>
                  <a:srgbClr val="1F2933"/>
                </a:solidFill>
                <a:latin typeface="Calibri"/>
              </a:rPr>
              <a:t>Kalshi public API, hourly candles, snapshot 2026-10-23; no individual trades or order book.</a:t>
            </a:r>
            <a:endParaRPr sz="1500" b="0" i="0">
              <a:solidFill>
                <a:srgbClr val="1F2933"/>
              </a:solidFill>
              <a:latin typeface="Calibri"/>
            </a:endParaRPr>
          </a:p>
          <a:p>
            <a:pPr marL="182880" indent="-182880" algn="l">
              <a:spcAft>
                <a:spcPts val="700"/>
              </a:spcAft>
              <a:buChar char="•"/>
            </a:pPr>
            <a:r>
              <a:rPr sz="1500" b="1" i="0">
                <a:solidFill>
                  <a:srgbClr val="1F2933"/>
                </a:solidFill>
                <a:latin typeface="Calibri"/>
              </a:rPr>
              <a:t>Excluded: </a:t>
            </a:r>
            <a:r>
              <a:rPr sz="1500" b="0" i="0">
                <a:solidFill>
                  <a:srgbClr val="1F2933"/>
                </a:solidFill>
                <a:latin typeface="Calibri"/>
              </a:rPr>
              <a:t>1 week not fully settled; 3 weeks without exactly one Yes.</a:t>
            </a:r>
            <a:endParaRPr sz="1500" b="0" i="0">
              <a:solidFill>
                <a:srgbClr val="1F2933"/>
              </a:solidFill>
              <a:latin typeface="Calibri"/>
            </a:endParaRPr>
          </a:p>
          <a:p>
            <a:pPr marL="182880" indent="-182880" algn="l">
              <a:spcAft>
                <a:spcPts val="700"/>
              </a:spcAft>
              <a:buChar char="•"/>
            </a:pPr>
            <a:r>
              <a:rPr sz="1500" b="1" i="0">
                <a:solidFill>
                  <a:srgbClr val="1F2933"/>
                </a:solidFill>
                <a:latin typeface="Calibri"/>
              </a:rPr>
              <a:t>Winner not yet listed at the cutoff: </a:t>
            </a:r>
            <a:r>
              <a:rPr sz="1500" b="0" i="0">
                <a:solidFill>
                  <a:srgbClr val="1F2933"/>
                </a:solidFill>
                <a:latin typeface="Calibri"/>
              </a:rPr>
              <a:t>3 weeks at 24h, 5 at 72h (all training); kept in top-1 as misses.</a:t>
            </a:r>
            <a:endParaRPr sz="1500" b="0" i="0">
              <a:solidFill>
                <a:srgbClr val="1F2933"/>
              </a:solidFill>
              <a:latin typeface="Calibri"/>
            </a:endParaRPr>
          </a:p>
          <a:p>
            <a:pPr marL="182880" indent="-182880" algn="l">
              <a:spcAft>
                <a:spcPts val="700"/>
              </a:spcAft>
              <a:buChar char="•"/>
            </a:pPr>
            <a:r>
              <a:rPr sz="1500" b="1" i="0">
                <a:solidFill>
                  <a:srgbClr val="1F2933"/>
                </a:solidFill>
                <a:latin typeface="Calibri"/>
              </a:rPr>
              <a:t>No price: </a:t>
            </a:r>
            <a:r>
              <a:rPr sz="1500" b="0" i="0">
                <a:solidFill>
                  <a:srgbClr val="1F2933"/>
                </a:solidFill>
                <a:latin typeface="Calibri"/>
              </a:rPr>
              <a:t>240 rows (21.1%), all in training weeks; never replaced by 0.</a:t>
            </a:r>
            <a:endParaRPr sz="1500" b="0" i="0">
              <a:solidFill>
                <a:srgbClr val="1F2933"/>
              </a:solidFill>
              <a:latin typeface="Calibri"/>
            </a:endParaRPr>
          </a:p>
        </p:txBody>
      </p:sp>
      <p:pic>
        <p:nvPicPr>
          <p:cNvPr id="9" name="Market description figure" descr="Histogram of the last observed price of each candidate-week row at the 24h cutoff"/>
          <p:cNvPicPr>
            <a:picLocks noChangeAspect="1"/>
          </p:cNvPicPr>
          <p:nvPr/>
        </p:nvPicPr>
        <p:blipFill>
          <a:blip r:embed="rId1"/>
          <a:stretch>
            <a:fillRect/>
          </a:stretch>
        </p:blipFill>
        <p:spPr>
          <a:xfrm>
            <a:off x="6035040" y="1280160"/>
            <a:ext cx="5394960" cy="2988110"/>
          </a:xfrm>
          <a:prstGeom prst="rect">
            <a:avLst/>
          </a:prstGeom>
        </p:spPr>
      </p:pic>
      <p:sp>
        <p:nvSpPr>
          <p:cNvPr id="10" name="Callout 1"/>
          <p:cNvSpPr/>
          <p:nvPr/>
        </p:nvSpPr>
        <p:spPr>
          <a:xfrm>
            <a:off x="5852160" y="4377998"/>
            <a:ext cx="2834640" cy="94282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600" b="1" i="0">
                <a:solidFill>
                  <a:srgbClr val="14283D"/>
                </a:solidFill>
                <a:latin typeface="Calibri"/>
              </a:rPr>
              <a:t>85.7%</a:t>
            </a:r>
            <a:endParaRPr sz="2600" b="1" i="0">
              <a:solidFill>
                <a:srgbClr val="14283D"/>
              </a:solidFill>
              <a:latin typeface="Calibri"/>
            </a:endParaRPr>
          </a:p>
          <a:p>
            <a:pPr algn="ctr">
              <a:spcAft>
                <a:spcPts val="100"/>
              </a:spcAft>
            </a:pPr>
            <a:r>
              <a:rPr sz="1350" b="0" i="0">
                <a:solidFill>
                  <a:srgbClr val="1F2933"/>
                </a:solidFill>
                <a:latin typeface="Calibri"/>
              </a:rPr>
              <a:t>of rows priced under $0.10: middle bins are thin</a:t>
            </a:r>
            <a:endParaRPr sz="1350" b="0" i="0">
              <a:solidFill>
                <a:srgbClr val="1F2933"/>
              </a:solidFill>
              <a:latin typeface="Calibri"/>
            </a:endParaRPr>
          </a:p>
        </p:txBody>
      </p:sp>
      <p:sp>
        <p:nvSpPr>
          <p:cNvPr id="11" name="Callout 2"/>
          <p:cNvSpPr/>
          <p:nvPr/>
        </p:nvSpPr>
        <p:spPr>
          <a:xfrm>
            <a:off x="8778240" y="4377998"/>
            <a:ext cx="2834640" cy="94282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600" b="1" i="0">
                <a:solidFill>
                  <a:srgbClr val="14283D"/>
                </a:solidFill>
                <a:latin typeface="Calibri"/>
              </a:rPr>
              <a:t>48.1%</a:t>
            </a:r>
            <a:endParaRPr sz="2600" b="1" i="0">
              <a:solidFill>
                <a:srgbClr val="14283D"/>
              </a:solidFill>
              <a:latin typeface="Calibri"/>
            </a:endParaRPr>
          </a:p>
          <a:p>
            <a:pPr algn="ctr">
              <a:spcAft>
                <a:spcPts val="100"/>
              </a:spcAft>
            </a:pPr>
            <a:r>
              <a:rPr sz="1350" b="0" i="0">
                <a:solidFill>
                  <a:srgbClr val="1F2933"/>
                </a:solidFill>
                <a:latin typeface="Calibri"/>
              </a:rPr>
              <a:t>of rows had no trade in the last 24h: thin trading</a:t>
            </a:r>
            <a:endParaRPr sz="1350" b="0" i="0">
              <a:solidFill>
                <a:srgbClr val="1F2933"/>
              </a:solidFill>
              <a:latin typeface="Calibri"/>
            </a:endParaRPr>
          </a:p>
        </p:txBody>
      </p:sp>
      <p:sp>
        <p:nvSpPr>
          <p:cNvPr id="12" name="Callout 3"/>
          <p:cNvSpPr/>
          <p:nvPr/>
        </p:nvSpPr>
        <p:spPr>
          <a:xfrm>
            <a:off x="5852160" y="5412259"/>
            <a:ext cx="2834640" cy="94282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600" b="1" i="0">
                <a:solidFill>
                  <a:srgbClr val="14283D"/>
                </a:solidFill>
                <a:latin typeface="Calibri"/>
              </a:rPr>
              <a:t>26.5%</a:t>
            </a:r>
            <a:endParaRPr sz="2600" b="1" i="0">
              <a:solidFill>
                <a:srgbClr val="14283D"/>
              </a:solidFill>
              <a:latin typeface="Calibri"/>
            </a:endParaRPr>
          </a:p>
          <a:p>
            <a:pPr algn="ctr">
              <a:spcAft>
                <a:spcPts val="100"/>
              </a:spcAft>
            </a:pPr>
            <a:r>
              <a:rPr sz="1350" b="0" i="0">
                <a:solidFill>
                  <a:srgbClr val="1F2933"/>
                </a:solidFill>
                <a:latin typeface="Calibri"/>
              </a:rPr>
              <a:t>last price older than 24h (75 of 217 test rows): stale inputs can mislead</a:t>
            </a:r>
            <a:endParaRPr sz="1350" b="0" i="0">
              <a:solidFill>
                <a:srgbClr val="1F2933"/>
              </a:solidFill>
              <a:latin typeface="Calibri"/>
            </a:endParaRPr>
          </a:p>
        </p:txBody>
      </p:sp>
      <p:sp>
        <p:nvSpPr>
          <p:cNvPr id="13" name="Callout 4"/>
          <p:cNvSpPr/>
          <p:nvPr/>
        </p:nvSpPr>
        <p:spPr>
          <a:xfrm>
            <a:off x="8778240" y="5412259"/>
            <a:ext cx="2834640" cy="94282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600" b="1" i="0">
                <a:solidFill>
                  <a:srgbClr val="14283D"/>
                </a:solidFill>
                <a:latin typeface="Calibri"/>
              </a:rPr>
              <a:t>77/90</a:t>
            </a:r>
            <a:endParaRPr sz="2600" b="1" i="0">
              <a:solidFill>
                <a:srgbClr val="14283D"/>
              </a:solidFill>
              <a:latin typeface="Calibri"/>
            </a:endParaRPr>
          </a:p>
          <a:p>
            <a:pPr algn="ctr">
              <a:spcAft>
                <a:spcPts val="100"/>
              </a:spcAft>
            </a:pPr>
            <a:r>
              <a:rPr sz="1350" b="0" i="0">
                <a:solidFill>
                  <a:srgbClr val="1F2933"/>
                </a:solidFill>
                <a:latin typeface="Calibri"/>
              </a:rPr>
              <a:t>weeks won by the highest price (85.6%): strong, not perfect</a:t>
            </a:r>
            <a:endParaRPr sz="1350" b="0" i="0">
              <a:solidFill>
                <a:srgbClr val="1F2933"/>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Features use only what was known at prediction time</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TextBox 4"/>
          <p:cNvSpPr txBox="1"/>
          <p:nvPr/>
        </p:nvSpPr>
        <p:spPr>
          <a:xfrm>
            <a:off x="548640" y="1280160"/>
            <a:ext cx="5120640" cy="365760"/>
          </a:xfrm>
          <a:prstGeom prst="rect">
            <a:avLst/>
          </a:prstGeom>
          <a:noFill/>
        </p:spPr>
        <p:txBody>
          <a:bodyPr wrap="square" lIns="45720" tIns="27432" rIns="45720" bIns="27432" anchor="t">
            <a:spAutoFit/>
          </a:bodyPr>
          <a:lstStyle/>
          <a:p>
            <a:pPr algn="l">
              <a:spcAft>
                <a:spcPts val="400"/>
              </a:spcAft>
            </a:pPr>
            <a:r>
              <a:rPr sz="2000" b="1" i="0">
                <a:solidFill>
                  <a:srgbClr val="14283D"/>
                </a:solidFill>
                <a:latin typeface="Cambria"/>
              </a:rPr>
              <a:t>Prediction time t (UTC hour)</a:t>
            </a:r>
            <a:endParaRPr sz="2000" b="1" i="0">
              <a:solidFill>
                <a:srgbClr val="14283D"/>
              </a:solidFill>
              <a:latin typeface="Cambria"/>
            </a:endParaRPr>
          </a:p>
        </p:txBody>
      </p:sp>
      <p:sp>
        <p:nvSpPr>
          <p:cNvPr id="6" name="TextBox 5"/>
          <p:cNvSpPr txBox="1"/>
          <p:nvPr/>
        </p:nvSpPr>
        <p:spPr>
          <a:xfrm>
            <a:off x="548640" y="1691640"/>
            <a:ext cx="5120640" cy="1005840"/>
          </a:xfrm>
          <a:prstGeom prst="rect">
            <a:avLst/>
          </a:prstGeom>
          <a:noFill/>
        </p:spPr>
        <p:txBody>
          <a:bodyPr wrap="square" lIns="45720" tIns="27432" rIns="45720" bIns="27432" anchor="t">
            <a:spAutoFit/>
          </a:bodyPr>
          <a:lstStyle/>
          <a:p>
            <a:pPr marL="182880" indent="-182880" algn="l">
              <a:spcAft>
                <a:spcPts val="400"/>
              </a:spcAft>
              <a:buChar char="•"/>
            </a:pPr>
            <a:r>
              <a:rPr sz="1600" b="1" i="0">
                <a:solidFill>
                  <a:srgbClr val="1F2933"/>
                </a:solidFill>
                <a:latin typeface="Calibri"/>
              </a:rPr>
              <a:t>24h (main): </a:t>
            </a:r>
            <a:r>
              <a:rPr sz="1600" b="0" i="0">
                <a:solidFill>
                  <a:srgbClr val="1F2933"/>
                </a:solidFill>
                <a:latin typeface="Calibri"/>
              </a:rPr>
              <a:t>t = common close − 24h</a:t>
            </a:r>
            <a:endParaRPr sz="1600" b="0" i="0">
              <a:solidFill>
                <a:srgbClr val="1F2933"/>
              </a:solidFill>
              <a:latin typeface="Calibri"/>
            </a:endParaRPr>
          </a:p>
          <a:p>
            <a:pPr marL="182880" indent="-182880" algn="l">
              <a:spcAft>
                <a:spcPts val="400"/>
              </a:spcAft>
              <a:buChar char="•"/>
            </a:pPr>
            <a:r>
              <a:rPr sz="1600" b="1" i="0">
                <a:solidFill>
                  <a:srgbClr val="1F2933"/>
                </a:solidFill>
                <a:latin typeface="Calibri"/>
              </a:rPr>
              <a:t>72h (exploratory): </a:t>
            </a:r>
            <a:r>
              <a:rPr sz="1600" b="0" i="0">
                <a:solidFill>
                  <a:srgbClr val="1F2933"/>
                </a:solidFill>
                <a:latin typeface="Calibri"/>
              </a:rPr>
              <a:t>t = close − 72h; everything recomputed</a:t>
            </a:r>
            <a:endParaRPr sz="1600" b="0" i="0">
              <a:solidFill>
                <a:srgbClr val="1F2933"/>
              </a:solidFill>
              <a:latin typeface="Calibri"/>
            </a:endParaRPr>
          </a:p>
        </p:txBody>
      </p:sp>
      <p:sp>
        <p:nvSpPr>
          <p:cNvPr id="7" name="TextBox 6"/>
          <p:cNvSpPr txBox="1"/>
          <p:nvPr/>
        </p:nvSpPr>
        <p:spPr>
          <a:xfrm>
            <a:off x="548640" y="2788920"/>
            <a:ext cx="5120640" cy="365760"/>
          </a:xfrm>
          <a:prstGeom prst="rect">
            <a:avLst/>
          </a:prstGeom>
          <a:noFill/>
        </p:spPr>
        <p:txBody>
          <a:bodyPr wrap="square" lIns="45720" tIns="27432" rIns="45720" bIns="27432" anchor="t">
            <a:spAutoFit/>
          </a:bodyPr>
          <a:lstStyle/>
          <a:p>
            <a:pPr algn="l">
              <a:spcAft>
                <a:spcPts val="400"/>
              </a:spcAft>
            </a:pPr>
            <a:r>
              <a:rPr sz="2000" b="1" i="0">
                <a:solidFill>
                  <a:srgbClr val="14283D"/>
                </a:solidFill>
                <a:latin typeface="Cambria"/>
              </a:rPr>
              <a:t>Features (candles ending at or before t)</a:t>
            </a:r>
            <a:endParaRPr sz="2000" b="1" i="0">
              <a:solidFill>
                <a:srgbClr val="14283D"/>
              </a:solidFill>
              <a:latin typeface="Cambria"/>
            </a:endParaRPr>
          </a:p>
        </p:txBody>
      </p:sp>
      <p:sp>
        <p:nvSpPr>
          <p:cNvPr id="8" name="TextBox 7"/>
          <p:cNvSpPr txBox="1"/>
          <p:nvPr/>
        </p:nvSpPr>
        <p:spPr>
          <a:xfrm>
            <a:off x="548640" y="3200400"/>
            <a:ext cx="5120640" cy="3154680"/>
          </a:xfrm>
          <a:prstGeom prst="rect">
            <a:avLst/>
          </a:prstGeom>
          <a:noFill/>
        </p:spPr>
        <p:txBody>
          <a:bodyPr wrap="square" lIns="45720" tIns="27432" rIns="45720" bIns="27432" anchor="t">
            <a:spAutoFit/>
          </a:bodyPr>
          <a:lstStyle/>
          <a:p>
            <a:pPr marL="182880" indent="-182880" algn="l">
              <a:spcAft>
                <a:spcPts val="700"/>
              </a:spcAft>
              <a:buChar char="•"/>
            </a:pPr>
            <a:r>
              <a:rPr sz="1500" b="1" i="0">
                <a:solidFill>
                  <a:srgbClr val="1F2933"/>
                </a:solidFill>
                <a:latin typeface="Courier New" panose="02070409020205090404"/>
              </a:rPr>
              <a:t>price_now: </a:t>
            </a:r>
            <a:r>
              <a:rPr sz="1600" b="0" i="0">
                <a:solidFill>
                  <a:srgbClr val="1F2933"/>
                </a:solidFill>
                <a:latin typeface="Calibri"/>
              </a:rPr>
              <a:t>last observed price</a:t>
            </a:r>
            <a:endParaRPr sz="1600" b="0" i="0">
              <a:solidFill>
                <a:srgbClr val="1F2933"/>
              </a:solidFill>
              <a:latin typeface="Calibri"/>
            </a:endParaRPr>
          </a:p>
          <a:p>
            <a:pPr marL="182880" indent="-182880" algn="l">
              <a:spcAft>
                <a:spcPts val="700"/>
              </a:spcAft>
              <a:buChar char="•"/>
            </a:pPr>
            <a:r>
              <a:rPr sz="1500" b="1" i="0">
                <a:solidFill>
                  <a:srgbClr val="1F2933"/>
                </a:solidFill>
                <a:latin typeface="Courier New" panose="02070409020205090404"/>
              </a:rPr>
              <a:t>price_change_24h: </a:t>
            </a:r>
            <a:r>
              <a:rPr sz="1600" b="0" i="0">
                <a:solidFill>
                  <a:srgbClr val="1F2933"/>
                </a:solidFill>
                <a:latin typeface="Calibri"/>
              </a:rPr>
              <a:t>price_now minus last observed price at or before t − 24h</a:t>
            </a:r>
            <a:endParaRPr sz="1600" b="0" i="0">
              <a:solidFill>
                <a:srgbClr val="1F2933"/>
              </a:solidFill>
              <a:latin typeface="Calibri"/>
            </a:endParaRPr>
          </a:p>
          <a:p>
            <a:pPr marL="182880" indent="-182880" algn="l">
              <a:spcAft>
                <a:spcPts val="700"/>
              </a:spcAft>
              <a:buChar char="•"/>
            </a:pPr>
            <a:r>
              <a:rPr sz="1500" b="1" i="0">
                <a:solidFill>
                  <a:srgbClr val="1F2933"/>
                </a:solidFill>
                <a:latin typeface="Courier New" panose="02070409020205090404"/>
              </a:rPr>
              <a:t>log_volume_24h: </a:t>
            </a:r>
            <a:r>
              <a:rPr sz="1600" b="0" i="0">
                <a:solidFill>
                  <a:srgbClr val="1F2933"/>
                </a:solidFill>
                <a:latin typeface="Calibri"/>
              </a:rPr>
              <a:t>log(1 + contracts traded in (t − 24h, t])</a:t>
            </a:r>
            <a:endParaRPr sz="1600" b="0" i="0">
              <a:solidFill>
                <a:srgbClr val="1F2933"/>
              </a:solidFill>
              <a:latin typeface="Calibri"/>
            </a:endParaRPr>
          </a:p>
          <a:p>
            <a:pPr marL="182880" indent="-182880" algn="l">
              <a:spcAft>
                <a:spcPts val="700"/>
              </a:spcAft>
              <a:buChar char="•"/>
            </a:pPr>
            <a:r>
              <a:rPr sz="1600" b="1" i="0">
                <a:solidFill>
                  <a:srgbClr val="C2362E"/>
                </a:solidFill>
                <a:latin typeface="Calibri"/>
              </a:rPr>
              <a:t>Missing stays missing: </a:t>
            </a:r>
            <a:r>
              <a:rPr sz="1600" b="0" i="0">
                <a:solidFill>
                  <a:srgbClr val="1F2933"/>
                </a:solidFill>
                <a:latin typeface="Calibri"/>
              </a:rPr>
              <a:t>no price → not scored; no hourly row in the volume window → NaN; a returned window with zero trades → true 0</a:t>
            </a:r>
            <a:endParaRPr sz="1600" b="0" i="0">
              <a:solidFill>
                <a:srgbClr val="1F2933"/>
              </a:solidFill>
              <a:latin typeface="Calibri"/>
            </a:endParaRPr>
          </a:p>
        </p:txBody>
      </p:sp>
      <p:sp>
        <p:nvSpPr>
          <p:cNvPr id="9" name="TextBox 8"/>
          <p:cNvSpPr txBox="1"/>
          <p:nvPr/>
        </p:nvSpPr>
        <p:spPr>
          <a:xfrm>
            <a:off x="6172200" y="1280160"/>
            <a:ext cx="5394960" cy="320040"/>
          </a:xfrm>
          <a:prstGeom prst="rect">
            <a:avLst/>
          </a:prstGeom>
          <a:noFill/>
        </p:spPr>
        <p:txBody>
          <a:bodyPr wrap="square" lIns="45720" tIns="27432" rIns="45720" bIns="27432" anchor="t">
            <a:spAutoFit/>
          </a:bodyPr>
          <a:lstStyle/>
          <a:p>
            <a:pPr algn="l">
              <a:spcAft>
                <a:spcPts val="400"/>
              </a:spcAft>
            </a:pPr>
            <a:r>
              <a:rPr sz="1600" b="1" i="0">
                <a:solidFill>
                  <a:srgbClr val="14283D"/>
                </a:solidFill>
                <a:latin typeface="Calibri"/>
              </a:rPr>
              <a:t>Timeline before close (one week)</a:t>
            </a:r>
            <a:endParaRPr sz="1600" b="1" i="0">
              <a:solidFill>
                <a:srgbClr val="14283D"/>
              </a:solidFill>
              <a:latin typeface="Calibri"/>
            </a:endParaRPr>
          </a:p>
        </p:txBody>
      </p:sp>
      <p:cxnSp>
        <p:nvCxnSpPr>
          <p:cNvPr id="10" name="Connector 9"/>
          <p:cNvCxnSpPr/>
          <p:nvPr/>
        </p:nvCxnSpPr>
        <p:spPr>
          <a:xfrm>
            <a:off x="6172200" y="2743200"/>
            <a:ext cx="5394960" cy="0"/>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172200" y="2679191"/>
            <a:ext cx="0" cy="128017"/>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0" y="2834639"/>
            <a:ext cx="1005840" cy="256032"/>
          </a:xfrm>
          <a:prstGeom prst="rect">
            <a:avLst/>
          </a:prstGeom>
          <a:noFill/>
        </p:spPr>
        <p:txBody>
          <a:bodyPr wrap="square" lIns="45720" tIns="27432" rIns="45720" bIns="27432" anchor="t">
            <a:spAutoFit/>
          </a:bodyPr>
          <a:lstStyle/>
          <a:p>
            <a:pPr algn="ctr">
              <a:spcAft>
                <a:spcPts val="400"/>
              </a:spcAft>
            </a:pPr>
            <a:r>
              <a:rPr sz="1250" b="0" i="0">
                <a:solidFill>
                  <a:srgbClr val="5F6B7A"/>
                </a:solidFill>
                <a:latin typeface="Calibri"/>
              </a:rPr>
              <a:t>−96h</a:t>
            </a:r>
            <a:endParaRPr sz="1250" b="0" i="0">
              <a:solidFill>
                <a:srgbClr val="5F6B7A"/>
              </a:solidFill>
              <a:latin typeface="Calibri"/>
            </a:endParaRPr>
          </a:p>
        </p:txBody>
      </p:sp>
      <p:cxnSp>
        <p:nvCxnSpPr>
          <p:cNvPr id="13" name="Connector 12"/>
          <p:cNvCxnSpPr/>
          <p:nvPr/>
        </p:nvCxnSpPr>
        <p:spPr>
          <a:xfrm>
            <a:off x="7520940" y="2679191"/>
            <a:ext cx="0" cy="128017"/>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18020" y="2834639"/>
            <a:ext cx="1005840" cy="256032"/>
          </a:xfrm>
          <a:prstGeom prst="rect">
            <a:avLst/>
          </a:prstGeom>
          <a:noFill/>
        </p:spPr>
        <p:txBody>
          <a:bodyPr wrap="square" lIns="45720" tIns="27432" rIns="45720" bIns="27432" anchor="t">
            <a:spAutoFit/>
          </a:bodyPr>
          <a:lstStyle/>
          <a:p>
            <a:pPr algn="ctr">
              <a:spcAft>
                <a:spcPts val="400"/>
              </a:spcAft>
            </a:pPr>
            <a:r>
              <a:rPr sz="1250" b="0" i="0">
                <a:solidFill>
                  <a:srgbClr val="5F6B7A"/>
                </a:solidFill>
                <a:latin typeface="Calibri"/>
              </a:rPr>
              <a:t>−72h</a:t>
            </a:r>
            <a:endParaRPr sz="1250" b="0" i="0">
              <a:solidFill>
                <a:srgbClr val="5F6B7A"/>
              </a:solidFill>
              <a:latin typeface="Calibri"/>
            </a:endParaRPr>
          </a:p>
        </p:txBody>
      </p:sp>
      <p:cxnSp>
        <p:nvCxnSpPr>
          <p:cNvPr id="15" name="Connector 14"/>
          <p:cNvCxnSpPr/>
          <p:nvPr/>
        </p:nvCxnSpPr>
        <p:spPr>
          <a:xfrm>
            <a:off x="8869680" y="2679191"/>
            <a:ext cx="0" cy="128017"/>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366759" y="2834639"/>
            <a:ext cx="1005840" cy="256032"/>
          </a:xfrm>
          <a:prstGeom prst="rect">
            <a:avLst/>
          </a:prstGeom>
          <a:noFill/>
        </p:spPr>
        <p:txBody>
          <a:bodyPr wrap="square" lIns="45720" tIns="27432" rIns="45720" bIns="27432" anchor="t">
            <a:spAutoFit/>
          </a:bodyPr>
          <a:lstStyle/>
          <a:p>
            <a:pPr algn="ctr">
              <a:spcAft>
                <a:spcPts val="400"/>
              </a:spcAft>
            </a:pPr>
            <a:r>
              <a:rPr sz="1250" b="0" i="0">
                <a:solidFill>
                  <a:srgbClr val="5F6B7A"/>
                </a:solidFill>
                <a:latin typeface="Calibri"/>
              </a:rPr>
              <a:t>−48h</a:t>
            </a:r>
            <a:endParaRPr sz="1250" b="0" i="0">
              <a:solidFill>
                <a:srgbClr val="5F6B7A"/>
              </a:solidFill>
              <a:latin typeface="Calibri"/>
            </a:endParaRPr>
          </a:p>
        </p:txBody>
      </p:sp>
      <p:cxnSp>
        <p:nvCxnSpPr>
          <p:cNvPr id="17" name="Connector 16"/>
          <p:cNvCxnSpPr/>
          <p:nvPr/>
        </p:nvCxnSpPr>
        <p:spPr>
          <a:xfrm>
            <a:off x="10218420" y="2679191"/>
            <a:ext cx="0" cy="128017"/>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715500" y="2834639"/>
            <a:ext cx="1005840" cy="256032"/>
          </a:xfrm>
          <a:prstGeom prst="rect">
            <a:avLst/>
          </a:prstGeom>
          <a:noFill/>
        </p:spPr>
        <p:txBody>
          <a:bodyPr wrap="square" lIns="45720" tIns="27432" rIns="45720" bIns="27432" anchor="t">
            <a:spAutoFit/>
          </a:bodyPr>
          <a:lstStyle/>
          <a:p>
            <a:pPr algn="ctr">
              <a:spcAft>
                <a:spcPts val="400"/>
              </a:spcAft>
            </a:pPr>
            <a:r>
              <a:rPr sz="1250" b="0" i="0">
                <a:solidFill>
                  <a:srgbClr val="5F6B7A"/>
                </a:solidFill>
                <a:latin typeface="Calibri"/>
              </a:rPr>
              <a:t>−24h</a:t>
            </a:r>
            <a:endParaRPr sz="1250" b="0" i="0">
              <a:solidFill>
                <a:srgbClr val="5F6B7A"/>
              </a:solidFill>
              <a:latin typeface="Calibri"/>
            </a:endParaRPr>
          </a:p>
        </p:txBody>
      </p:sp>
      <p:cxnSp>
        <p:nvCxnSpPr>
          <p:cNvPr id="19" name="Connector 18"/>
          <p:cNvCxnSpPr/>
          <p:nvPr/>
        </p:nvCxnSpPr>
        <p:spPr>
          <a:xfrm>
            <a:off x="11567160" y="2679191"/>
            <a:ext cx="0" cy="128017"/>
          </a:xfrm>
          <a:prstGeom prst="line">
            <a:avLst/>
          </a:prstGeom>
          <a:ln w="19050">
            <a:solidFill>
              <a:srgbClr val="5F6B7A"/>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064240" y="2834639"/>
            <a:ext cx="1005840" cy="256032"/>
          </a:xfrm>
          <a:prstGeom prst="rect">
            <a:avLst/>
          </a:prstGeom>
          <a:noFill/>
        </p:spPr>
        <p:txBody>
          <a:bodyPr wrap="square" lIns="45720" tIns="27432" rIns="45720" bIns="27432" anchor="t">
            <a:spAutoFit/>
          </a:bodyPr>
          <a:lstStyle/>
          <a:p>
            <a:pPr algn="ctr">
              <a:spcAft>
                <a:spcPts val="400"/>
              </a:spcAft>
            </a:pPr>
            <a:r>
              <a:rPr sz="1250" b="0" i="0">
                <a:solidFill>
                  <a:srgbClr val="5F6B7A"/>
                </a:solidFill>
                <a:latin typeface="Calibri"/>
              </a:rPr>
              <a:t>close</a:t>
            </a:r>
            <a:endParaRPr sz="1250" b="0" i="0">
              <a:solidFill>
                <a:srgbClr val="5F6B7A"/>
              </a:solidFill>
              <a:latin typeface="Calibri"/>
            </a:endParaRPr>
          </a:p>
        </p:txBody>
      </p:sp>
      <p:sp>
        <p:nvSpPr>
          <p:cNvPr id="21" name="Window 24h"/>
          <p:cNvSpPr/>
          <p:nvPr/>
        </p:nvSpPr>
        <p:spPr>
          <a:xfrm>
            <a:off x="8869680" y="1801368"/>
            <a:ext cx="1348740" cy="365760"/>
          </a:xfrm>
          <a:prstGeom prst="rect">
            <a:avLst/>
          </a:prstGeom>
          <a:solidFill>
            <a:srgbClr val="486581"/>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200" b="1" i="0">
                <a:solidFill>
                  <a:srgbClr val="FFFFFF"/>
                </a:solidFill>
                <a:latin typeface="Calibri"/>
              </a:rPr>
              <a:t>24h window</a:t>
            </a:r>
            <a:endParaRPr sz="1200" b="1" i="0">
              <a:solidFill>
                <a:srgbClr val="FFFFFF"/>
              </a:solidFill>
              <a:latin typeface="Calibri"/>
            </a:endParaRPr>
          </a:p>
        </p:txBody>
      </p:sp>
      <p:cxnSp>
        <p:nvCxnSpPr>
          <p:cNvPr id="22" name="Connector 21"/>
          <p:cNvCxnSpPr/>
          <p:nvPr/>
        </p:nvCxnSpPr>
        <p:spPr>
          <a:xfrm>
            <a:off x="10218420" y="1764792"/>
            <a:ext cx="0" cy="438912"/>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273284" y="1847088"/>
            <a:ext cx="1554480" cy="274320"/>
          </a:xfrm>
          <a:prstGeom prst="rect">
            <a:avLst/>
          </a:prstGeom>
          <a:noFill/>
        </p:spPr>
        <p:txBody>
          <a:bodyPr wrap="square" lIns="45720" tIns="27432" rIns="45720" bIns="27432" anchor="t">
            <a:spAutoFit/>
          </a:bodyPr>
          <a:lstStyle/>
          <a:p>
            <a:pPr algn="l">
              <a:spcAft>
                <a:spcPts val="400"/>
              </a:spcAft>
            </a:pPr>
            <a:r>
              <a:rPr sz="1250" b="1" i="0">
                <a:solidFill>
                  <a:srgbClr val="1F2933"/>
                </a:solidFill>
                <a:latin typeface="Calibri"/>
              </a:rPr>
              <a:t>t, 24h cutoff</a:t>
            </a:r>
            <a:endParaRPr sz="1250" b="1" i="0">
              <a:solidFill>
                <a:srgbClr val="1F2933"/>
              </a:solidFill>
              <a:latin typeface="Calibri"/>
            </a:endParaRPr>
          </a:p>
        </p:txBody>
      </p:sp>
      <p:sp>
        <p:nvSpPr>
          <p:cNvPr id="24" name="Window 72h"/>
          <p:cNvSpPr/>
          <p:nvPr/>
        </p:nvSpPr>
        <p:spPr>
          <a:xfrm>
            <a:off x="6172200" y="2258568"/>
            <a:ext cx="1348740" cy="365760"/>
          </a:xfrm>
          <a:prstGeom prst="rect">
            <a:avLst/>
          </a:prstGeom>
          <a:solidFill>
            <a:srgbClr val="D9480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200" b="1" i="0">
                <a:solidFill>
                  <a:srgbClr val="FFFFFF"/>
                </a:solidFill>
                <a:latin typeface="Calibri"/>
              </a:rPr>
              <a:t>24h window</a:t>
            </a:r>
            <a:endParaRPr sz="1200" b="1" i="0">
              <a:solidFill>
                <a:srgbClr val="FFFFFF"/>
              </a:solidFill>
              <a:latin typeface="Calibri"/>
            </a:endParaRPr>
          </a:p>
        </p:txBody>
      </p:sp>
      <p:cxnSp>
        <p:nvCxnSpPr>
          <p:cNvPr id="25" name="Connector 24"/>
          <p:cNvCxnSpPr/>
          <p:nvPr/>
        </p:nvCxnSpPr>
        <p:spPr>
          <a:xfrm>
            <a:off x="7520940" y="2221991"/>
            <a:ext cx="0" cy="438912"/>
          </a:xfrm>
          <a:prstGeom prst="line">
            <a:avLst/>
          </a:prstGeom>
          <a:ln w="25400">
            <a:solidFill>
              <a:srgbClr val="1F293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75804" y="2304287"/>
            <a:ext cx="1554480" cy="274320"/>
          </a:xfrm>
          <a:prstGeom prst="rect">
            <a:avLst/>
          </a:prstGeom>
          <a:noFill/>
        </p:spPr>
        <p:txBody>
          <a:bodyPr wrap="square" lIns="45720" tIns="27432" rIns="45720" bIns="27432" anchor="t">
            <a:spAutoFit/>
          </a:bodyPr>
          <a:lstStyle/>
          <a:p>
            <a:pPr algn="l">
              <a:spcAft>
                <a:spcPts val="400"/>
              </a:spcAft>
            </a:pPr>
            <a:r>
              <a:rPr sz="1250" b="1" i="0">
                <a:solidFill>
                  <a:srgbClr val="1F2933"/>
                </a:solidFill>
                <a:latin typeface="Calibri"/>
              </a:rPr>
              <a:t>t, 72h cutoff</a:t>
            </a:r>
            <a:endParaRPr sz="1250" b="1" i="0">
              <a:solidFill>
                <a:srgbClr val="1F2933"/>
              </a:solidFill>
              <a:latin typeface="Calibri"/>
            </a:endParaRPr>
          </a:p>
        </p:txBody>
      </p:sp>
      <p:sp>
        <p:nvSpPr>
          <p:cNvPr id="27" name="TextBox 26"/>
          <p:cNvSpPr txBox="1"/>
          <p:nvPr/>
        </p:nvSpPr>
        <p:spPr>
          <a:xfrm>
            <a:off x="6172200" y="3108960"/>
            <a:ext cx="5394960" cy="502920"/>
          </a:xfrm>
          <a:prstGeom prst="rect">
            <a:avLst/>
          </a:prstGeom>
          <a:noFill/>
        </p:spPr>
        <p:txBody>
          <a:bodyPr wrap="square" lIns="45720" tIns="27432" rIns="45720" bIns="27432" anchor="t">
            <a:spAutoFit/>
          </a:bodyPr>
          <a:lstStyle/>
          <a:p>
            <a:pPr algn="l">
              <a:spcAft>
                <a:spcPts val="400"/>
              </a:spcAft>
            </a:pPr>
            <a:r>
              <a:rPr sz="1250" b="0" i="0">
                <a:solidFill>
                  <a:srgbClr val="5F6B7A"/>
                </a:solidFill>
                <a:latin typeface="Calibri"/>
              </a:rPr>
              <a:t>Box: volume window (t−24h, t]. Price change compares price_now with the last price at or before the box start.</a:t>
            </a:r>
            <a:endParaRPr sz="1250" b="0" i="0">
              <a:solidFill>
                <a:srgbClr val="5F6B7A"/>
              </a:solidFill>
              <a:latin typeface="Calibri"/>
            </a:endParaRPr>
          </a:p>
        </p:txBody>
      </p:sp>
      <p:sp>
        <p:nvSpPr>
          <p:cNvPr id="28" name="TextBox 27"/>
          <p:cNvSpPr txBox="1"/>
          <p:nvPr/>
        </p:nvSpPr>
        <p:spPr>
          <a:xfrm>
            <a:off x="6172200" y="3767328"/>
            <a:ext cx="5394960" cy="274320"/>
          </a:xfrm>
          <a:prstGeom prst="rect">
            <a:avLst/>
          </a:prstGeom>
          <a:noFill/>
        </p:spPr>
        <p:txBody>
          <a:bodyPr wrap="square" lIns="45720" tIns="27432" rIns="45720" bIns="27432" anchor="t">
            <a:spAutoFit/>
          </a:bodyPr>
          <a:lstStyle/>
          <a:p>
            <a:pPr algn="l">
              <a:spcAft>
                <a:spcPts val="400"/>
              </a:spcAft>
            </a:pPr>
            <a:r>
              <a:rPr sz="1400" b="1" i="0">
                <a:solidFill>
                  <a:srgbClr val="14283D"/>
                </a:solidFill>
                <a:latin typeface="Calibri"/>
              </a:rPr>
              <a:t>Real test week, t = 2026-09-28 03:00 UTC</a:t>
            </a:r>
            <a:endParaRPr sz="1400" b="1" i="0">
              <a:solidFill>
                <a:srgbClr val="14283D"/>
              </a:solidFill>
              <a:latin typeface="Calibri"/>
            </a:endParaRPr>
          </a:p>
        </p:txBody>
      </p:sp>
      <p:graphicFrame>
        <p:nvGraphicFramePr>
          <p:cNvPr id="29" name="Example week table"/>
          <p:cNvGraphicFramePr>
            <a:graphicFrameLocks noGrp="1"/>
          </p:cNvGraphicFramePr>
          <p:nvPr/>
        </p:nvGraphicFramePr>
        <p:xfrm>
          <a:off x="6172200" y="4069080"/>
          <a:ext cx="5394960" cy="1554480"/>
        </p:xfrm>
        <a:graphic>
          <a:graphicData uri="http://schemas.openxmlformats.org/drawingml/2006/table">
            <a:tbl>
              <a:tblPr firstRow="1">
                <a:tableStyleId>{5C22544A-7EE6-4342-B048-85BDC9FD1C3A}</a:tableStyleId>
              </a:tblPr>
              <a:tblGrid>
                <a:gridCol w="2103120"/>
                <a:gridCol w="1005840"/>
                <a:gridCol w="731520"/>
                <a:gridCol w="868680"/>
                <a:gridCol w="685800"/>
              </a:tblGrid>
              <a:tr h="310896">
                <a:tc>
                  <a:txBody>
                    <a:bodyPr wrap="square"/>
                    <a:lstStyle/>
                    <a:p>
                      <a:pPr algn="l"/>
                      <a:r>
                        <a:rPr sz="1350" b="1" i="0">
                          <a:solidFill>
                            <a:srgbClr val="FFFFFF"/>
                          </a:solidFill>
                          <a:latin typeface="Calibri"/>
                        </a:rPr>
                        <a:t>Contract (movie)</a:t>
                      </a:r>
                      <a:endParaRPr sz="1350" b="1" i="0">
                        <a:solidFill>
                          <a:srgbClr val="FFFFFF"/>
                        </a:solidFill>
                        <a:latin typeface="Calibri"/>
                      </a:endParaRPr>
                    </a:p>
                  </a:txBody>
                  <a:tcPr marL="64008" marR="64008" marT="22860" marB="22860" anchor="ctr">
                    <a:solidFill>
                      <a:srgbClr val="14283D"/>
                    </a:solidFill>
                  </a:tcPr>
                </a:tc>
                <a:tc>
                  <a:txBody>
                    <a:bodyPr wrap="square"/>
                    <a:lstStyle/>
                    <a:p>
                      <a:pPr algn="r"/>
                      <a:r>
                        <a:rPr sz="1350" b="1" i="0">
                          <a:solidFill>
                            <a:srgbClr val="FFFFFF"/>
                          </a:solidFill>
                          <a:latin typeface="Calibri"/>
                        </a:rPr>
                        <a:t>price_now</a:t>
                      </a:r>
                      <a:endParaRPr sz="1350" b="1" i="0">
                        <a:solidFill>
                          <a:srgbClr val="FFFFFF"/>
                        </a:solidFill>
                        <a:latin typeface="Calibri"/>
                      </a:endParaRPr>
                    </a:p>
                  </a:txBody>
                  <a:tcPr marL="64008" marR="64008" marT="22860" marB="22860" anchor="ctr">
                    <a:solidFill>
                      <a:srgbClr val="14283D"/>
                    </a:solidFill>
                  </a:tcPr>
                </a:tc>
                <a:tc>
                  <a:txBody>
                    <a:bodyPr wrap="square"/>
                    <a:lstStyle/>
                    <a:p>
                      <a:pPr algn="r"/>
                      <a:r>
                        <a:rPr sz="1350" b="1" i="0">
                          <a:solidFill>
                            <a:srgbClr val="FFFFFF"/>
                          </a:solidFill>
                          <a:latin typeface="Calibri"/>
                        </a:rPr>
                        <a:t>Δ 24h</a:t>
                      </a:r>
                      <a:endParaRPr sz="1350" b="1" i="0">
                        <a:solidFill>
                          <a:srgbClr val="FFFFFF"/>
                        </a:solidFill>
                        <a:latin typeface="Calibri"/>
                      </a:endParaRPr>
                    </a:p>
                  </a:txBody>
                  <a:tcPr marL="64008" marR="64008" marT="22860" marB="22860" anchor="ctr">
                    <a:solidFill>
                      <a:srgbClr val="14283D"/>
                    </a:solidFill>
                  </a:tcPr>
                </a:tc>
                <a:tc>
                  <a:txBody>
                    <a:bodyPr wrap="square"/>
                    <a:lstStyle/>
                    <a:p>
                      <a:pPr algn="r"/>
                      <a:r>
                        <a:rPr sz="1350" b="1" i="0">
                          <a:solidFill>
                            <a:srgbClr val="FFFFFF"/>
                          </a:solidFill>
                          <a:latin typeface="Calibri"/>
                        </a:rPr>
                        <a:t>log vol</a:t>
                      </a:r>
                      <a:endParaRPr sz="1350" b="1" i="0">
                        <a:solidFill>
                          <a:srgbClr val="FFFFFF"/>
                        </a:solidFill>
                        <a:latin typeface="Calibri"/>
                      </a:endParaRPr>
                    </a:p>
                  </a:txBody>
                  <a:tcPr marL="64008" marR="64008" marT="22860" marB="22860" anchor="ctr">
                    <a:solidFill>
                      <a:srgbClr val="14283D"/>
                    </a:solidFill>
                  </a:tcPr>
                </a:tc>
                <a:tc>
                  <a:txBody>
                    <a:bodyPr wrap="square"/>
                    <a:lstStyle/>
                    <a:p>
                      <a:pPr algn="ctr"/>
                      <a:r>
                        <a:rPr sz="1350" b="1" i="0">
                          <a:solidFill>
                            <a:srgbClr val="FFFFFF"/>
                          </a:solidFill>
                          <a:latin typeface="Calibri"/>
                        </a:rPr>
                        <a:t>Won</a:t>
                      </a:r>
                      <a:endParaRPr sz="1350" b="1" i="0">
                        <a:solidFill>
                          <a:srgbClr val="FFFFFF"/>
                        </a:solidFill>
                        <a:latin typeface="Calibri"/>
                      </a:endParaRPr>
                    </a:p>
                  </a:txBody>
                  <a:tcPr marL="64008" marR="64008" marT="22860" marB="22860" anchor="ctr">
                    <a:solidFill>
                      <a:srgbClr val="14283D"/>
                    </a:solidFill>
                  </a:tcPr>
                </a:tc>
              </a:tr>
              <a:tr h="310896">
                <a:tc>
                  <a:txBody>
                    <a:bodyPr wrap="square"/>
                    <a:lstStyle/>
                    <a:p>
                      <a:pPr algn="l"/>
                      <a:r>
                        <a:rPr sz="1350" b="0" i="0">
                          <a:solidFill>
                            <a:srgbClr val="1F2933"/>
                          </a:solidFill>
                          <a:latin typeface="Calibri"/>
                        </a:rPr>
                        <a:t>Unabomber</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0.95</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+0.05</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7.73</a:t>
                      </a:r>
                      <a:endParaRPr sz="1350" b="0" i="0">
                        <a:solidFill>
                          <a:srgbClr val="1F2933"/>
                        </a:solidFill>
                        <a:latin typeface="Calibri"/>
                      </a:endParaRPr>
                    </a:p>
                  </a:txBody>
                  <a:tcPr marL="64008" marR="64008" marT="22860" marB="22860" anchor="ctr">
                    <a:solidFill>
                      <a:srgbClr val="FFFFFF"/>
                    </a:solidFill>
                  </a:tcPr>
                </a:tc>
                <a:tc>
                  <a:txBody>
                    <a:bodyPr wrap="square"/>
                    <a:lstStyle/>
                    <a:p>
                      <a:pPr algn="ctr"/>
                      <a:r>
                        <a:rPr sz="1350" b="0" i="0">
                          <a:solidFill>
                            <a:srgbClr val="1F2933"/>
                          </a:solidFill>
                          <a:latin typeface="Calibri"/>
                        </a:rPr>
                        <a:t>yes</a:t>
                      </a:r>
                      <a:endParaRPr sz="1350" b="0" i="0">
                        <a:solidFill>
                          <a:srgbClr val="1F2933"/>
                        </a:solidFill>
                        <a:latin typeface="Calibri"/>
                      </a:endParaRPr>
                    </a:p>
                  </a:txBody>
                  <a:tcPr marL="64008" marR="64008" marT="22860" marB="22860" anchor="ctr">
                    <a:solidFill>
                      <a:srgbClr val="FFFFFF"/>
                    </a:solidFill>
                  </a:tcPr>
                </a:tc>
              </a:tr>
              <a:tr h="310896">
                <a:tc>
                  <a:txBody>
                    <a:bodyPr wrap="square"/>
                    <a:lstStyle/>
                    <a:p>
                      <a:pPr algn="l"/>
                      <a:r>
                        <a:rPr sz="1350" b="0" i="0">
                          <a:solidFill>
                            <a:srgbClr val="1F2933"/>
                          </a:solidFill>
                          <a:latin typeface="Calibri"/>
                        </a:rPr>
                        <a:t>The Ministry of Ungentl…</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0.05</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+0.00</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7.28</a:t>
                      </a:r>
                      <a:endParaRPr sz="1350" b="0" i="0">
                        <a:solidFill>
                          <a:srgbClr val="1F2933"/>
                        </a:solidFill>
                        <a:latin typeface="Calibri"/>
                      </a:endParaRPr>
                    </a:p>
                  </a:txBody>
                  <a:tcPr marL="64008" marR="64008" marT="22860" marB="22860" anchor="ctr">
                    <a:solidFill>
                      <a:srgbClr val="F1F4F7"/>
                    </a:solidFill>
                  </a:tcPr>
                </a:tc>
                <a:tc>
                  <a:txBody>
                    <a:bodyPr wrap="square"/>
                    <a:lstStyle/>
                    <a:p>
                      <a:pPr algn="ctr"/>
                      <a:r>
                        <a:rPr sz="1350" b="0" i="0">
                          <a:solidFill>
                            <a:srgbClr val="1F2933"/>
                          </a:solidFill>
                          <a:latin typeface="Calibri"/>
                        </a:rPr>
                        <a:t>no</a:t>
                      </a:r>
                      <a:endParaRPr sz="1350" b="0" i="0">
                        <a:solidFill>
                          <a:srgbClr val="1F2933"/>
                        </a:solidFill>
                        <a:latin typeface="Calibri"/>
                      </a:endParaRPr>
                    </a:p>
                  </a:txBody>
                  <a:tcPr marL="64008" marR="64008" marT="22860" marB="22860" anchor="ctr">
                    <a:solidFill>
                      <a:srgbClr val="F1F4F7"/>
                    </a:solidFill>
                  </a:tcPr>
                </a:tc>
              </a:tr>
              <a:tr h="310896">
                <a:tc>
                  <a:txBody>
                    <a:bodyPr wrap="square"/>
                    <a:lstStyle/>
                    <a:p>
                      <a:pPr algn="l"/>
                      <a:r>
                        <a:rPr sz="1350" b="0" i="0">
                          <a:solidFill>
                            <a:srgbClr val="1F2933"/>
                          </a:solidFill>
                          <a:latin typeface="Calibri"/>
                        </a:rPr>
                        <a:t>Best of the Best</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0.01</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+0.00</a:t>
                      </a:r>
                      <a:endParaRPr sz="1350" b="0" i="0">
                        <a:solidFill>
                          <a:srgbClr val="1F2933"/>
                        </a:solidFill>
                        <a:latin typeface="Calibri"/>
                      </a:endParaRPr>
                    </a:p>
                  </a:txBody>
                  <a:tcPr marL="64008" marR="64008" marT="22860" marB="22860" anchor="ctr">
                    <a:solidFill>
                      <a:srgbClr val="FFFFFF"/>
                    </a:solidFill>
                  </a:tcPr>
                </a:tc>
                <a:tc>
                  <a:txBody>
                    <a:bodyPr wrap="square"/>
                    <a:lstStyle/>
                    <a:p>
                      <a:pPr algn="r"/>
                      <a:r>
                        <a:rPr sz="1350" b="0" i="0">
                          <a:solidFill>
                            <a:srgbClr val="1F2933"/>
                          </a:solidFill>
                          <a:latin typeface="Calibri"/>
                        </a:rPr>
                        <a:t>0.00</a:t>
                      </a:r>
                      <a:endParaRPr sz="1350" b="0" i="0">
                        <a:solidFill>
                          <a:srgbClr val="1F2933"/>
                        </a:solidFill>
                        <a:latin typeface="Calibri"/>
                      </a:endParaRPr>
                    </a:p>
                  </a:txBody>
                  <a:tcPr marL="64008" marR="64008" marT="22860" marB="22860" anchor="ctr">
                    <a:solidFill>
                      <a:srgbClr val="FFFFFF"/>
                    </a:solidFill>
                  </a:tcPr>
                </a:tc>
                <a:tc>
                  <a:txBody>
                    <a:bodyPr wrap="square"/>
                    <a:lstStyle/>
                    <a:p>
                      <a:pPr algn="ctr"/>
                      <a:r>
                        <a:rPr sz="1350" b="0" i="0">
                          <a:solidFill>
                            <a:srgbClr val="1F2933"/>
                          </a:solidFill>
                          <a:latin typeface="Calibri"/>
                        </a:rPr>
                        <a:t>no</a:t>
                      </a:r>
                      <a:endParaRPr sz="1350" b="0" i="0">
                        <a:solidFill>
                          <a:srgbClr val="1F2933"/>
                        </a:solidFill>
                        <a:latin typeface="Calibri"/>
                      </a:endParaRPr>
                    </a:p>
                  </a:txBody>
                  <a:tcPr marL="64008" marR="64008" marT="22860" marB="22860" anchor="ctr">
                    <a:solidFill>
                      <a:srgbClr val="FFFFFF"/>
                    </a:solidFill>
                  </a:tcPr>
                </a:tc>
              </a:tr>
              <a:tr h="310896">
                <a:tc>
                  <a:txBody>
                    <a:bodyPr wrap="square"/>
                    <a:lstStyle/>
                    <a:p>
                      <a:pPr algn="l"/>
                      <a:r>
                        <a:rPr sz="1350" b="0" i="0">
                          <a:solidFill>
                            <a:srgbClr val="1F2933"/>
                          </a:solidFill>
                          <a:latin typeface="Calibri"/>
                        </a:rPr>
                        <a:t>Shark Tale</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0.01</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+0.00</a:t>
                      </a:r>
                      <a:endParaRPr sz="1350" b="0" i="0">
                        <a:solidFill>
                          <a:srgbClr val="1F2933"/>
                        </a:solidFill>
                        <a:latin typeface="Calibri"/>
                      </a:endParaRPr>
                    </a:p>
                  </a:txBody>
                  <a:tcPr marL="64008" marR="64008" marT="22860" marB="22860" anchor="ctr">
                    <a:solidFill>
                      <a:srgbClr val="F1F4F7"/>
                    </a:solidFill>
                  </a:tcPr>
                </a:tc>
                <a:tc>
                  <a:txBody>
                    <a:bodyPr wrap="square"/>
                    <a:lstStyle/>
                    <a:p>
                      <a:pPr algn="r"/>
                      <a:r>
                        <a:rPr sz="1350" b="0" i="0">
                          <a:solidFill>
                            <a:srgbClr val="1F2933"/>
                          </a:solidFill>
                          <a:latin typeface="Calibri"/>
                        </a:rPr>
                        <a:t>NaN</a:t>
                      </a:r>
                      <a:endParaRPr sz="1350" b="0" i="0">
                        <a:solidFill>
                          <a:srgbClr val="1F2933"/>
                        </a:solidFill>
                        <a:latin typeface="Calibri"/>
                      </a:endParaRPr>
                    </a:p>
                  </a:txBody>
                  <a:tcPr marL="64008" marR="64008" marT="22860" marB="22860" anchor="ctr">
                    <a:solidFill>
                      <a:srgbClr val="F1F4F7"/>
                    </a:solidFill>
                  </a:tcPr>
                </a:tc>
                <a:tc>
                  <a:txBody>
                    <a:bodyPr wrap="square"/>
                    <a:lstStyle/>
                    <a:p>
                      <a:pPr algn="ctr"/>
                      <a:r>
                        <a:rPr sz="1350" b="0" i="0">
                          <a:solidFill>
                            <a:srgbClr val="1F2933"/>
                          </a:solidFill>
                          <a:latin typeface="Calibri"/>
                        </a:rPr>
                        <a:t>no</a:t>
                      </a:r>
                      <a:endParaRPr sz="1350" b="0" i="0">
                        <a:solidFill>
                          <a:srgbClr val="1F2933"/>
                        </a:solidFill>
                        <a:latin typeface="Calibri"/>
                      </a:endParaRPr>
                    </a:p>
                  </a:txBody>
                  <a:tcPr marL="64008" marR="64008" marT="22860" marB="22860" anchor="ctr">
                    <a:solidFill>
                      <a:srgbClr val="F1F4F7"/>
                    </a:solidFill>
                  </a:tcPr>
                </a:tc>
              </a:tr>
            </a:tbl>
          </a:graphicData>
        </a:graphic>
      </p:graphicFrame>
      <p:sp>
        <p:nvSpPr>
          <p:cNvPr id="30" name="TextBox 29"/>
          <p:cNvSpPr txBox="1"/>
          <p:nvPr/>
        </p:nvSpPr>
        <p:spPr>
          <a:xfrm>
            <a:off x="6172200" y="5669280"/>
            <a:ext cx="5394960" cy="411480"/>
          </a:xfrm>
          <a:prstGeom prst="rect">
            <a:avLst/>
          </a:prstGeom>
          <a:noFill/>
        </p:spPr>
        <p:txBody>
          <a:bodyPr wrap="square" lIns="45720" tIns="27432" rIns="45720" bIns="27432" anchor="t">
            <a:spAutoFit/>
          </a:bodyPr>
          <a:lstStyle/>
          <a:p>
            <a:pPr algn="l">
              <a:spcAft>
                <a:spcPts val="400"/>
              </a:spcAft>
            </a:pPr>
            <a:r>
              <a:rPr sz="1200" b="0" i="0">
                <a:solidFill>
                  <a:srgbClr val="5F6B7A"/>
                </a:solidFill>
                <a:latin typeface="Calibri"/>
              </a:rPr>
              <a:t>NaN = no hourly row returned in the window (not 0); 0.00 = window returned with zero trades.</a:t>
            </a:r>
            <a:endParaRPr sz="1200" b="0" i="0">
              <a:solidFill>
                <a:srgbClr val="5F6B7A"/>
              </a:solidFill>
              <a:latin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Four systems isolate price change and volume</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Tuning table"/>
          <p:cNvGraphicFramePr>
            <a:graphicFrameLocks noGrp="1"/>
          </p:cNvGraphicFramePr>
          <p:nvPr/>
        </p:nvGraphicFramePr>
        <p:xfrm>
          <a:off x="548640" y="1280160"/>
          <a:ext cx="11064239" cy="2633472"/>
        </p:xfrm>
        <a:graphic>
          <a:graphicData uri="http://schemas.openxmlformats.org/drawingml/2006/table">
            <a:tbl>
              <a:tblPr firstRow="1">
                <a:tableStyleId>{5C22544A-7EE6-4342-B048-85BDC9FD1C3A}</a:tableStyleId>
              </a:tblPr>
              <a:tblGrid>
                <a:gridCol w="1783080"/>
                <a:gridCol w="1874519"/>
                <a:gridCol w="3200400"/>
                <a:gridCol w="2103120"/>
                <a:gridCol w="2103120"/>
              </a:tblGrid>
              <a:tr h="438912">
                <a:tc>
                  <a:txBody>
                    <a:bodyPr wrap="square"/>
                    <a:lstStyle/>
                    <a:p>
                      <a:pPr algn="l"/>
                      <a:r>
                        <a:rPr sz="1400" b="1" i="0">
                          <a:solidFill>
                            <a:srgbClr val="FFFFFF"/>
                          </a:solidFill>
                          <a:latin typeface="Calibri"/>
                        </a:rPr>
                        <a:t>System</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Inputs</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Searched on validation weeks</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Selected, 24h</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Selected, 72h</a:t>
                      </a:r>
                      <a:endParaRPr sz="1400" b="1" i="0">
                        <a:solidFill>
                          <a:srgbClr val="FFFFFF"/>
                        </a:solidFill>
                        <a:latin typeface="Calibri"/>
                      </a:endParaRPr>
                    </a:p>
                  </a:txBody>
                  <a:tcPr marL="64008" marR="64008" marT="22860" marB="22860" anchor="ctr">
                    <a:solidFill>
                      <a:srgbClr val="14283D"/>
                    </a:solidFill>
                  </a:tcPr>
                </a:tc>
              </a:tr>
              <a:tr h="438912">
                <a:tc>
                  <a:txBody>
                    <a:bodyPr wrap="square"/>
                    <a:lstStyle/>
                    <a:p>
                      <a:pPr algn="l"/>
                      <a:r>
                        <a:rPr sz="1400" b="1" i="0">
                          <a:solidFill>
                            <a:srgbClr val="1F2933"/>
                          </a:solidFill>
                          <a:latin typeface="Calibri"/>
                        </a:rPr>
                        <a:t>Market leader</a:t>
                      </a:r>
                      <a:endParaRPr sz="1400" b="1" i="0">
                        <a:solidFill>
                          <a:srgbClr val="1F2933"/>
                        </a:solidFill>
                        <a:latin typeface="Calibri"/>
                      </a:endParaRPr>
                    </a:p>
                  </a:txBody>
                  <a:tcPr marL="64008" marR="64008" marT="22860" marB="22860" anchor="ctr">
                    <a:solidFill>
                      <a:srgbClr val="EEF1F4"/>
                    </a:solidFill>
                  </a:tcPr>
                </a:tc>
                <a:tc>
                  <a:txBody>
                    <a:bodyPr wrap="square"/>
                    <a:lstStyle/>
                    <a:p>
                      <a:pPr algn="l"/>
                      <a:r>
                        <a:rPr sz="1400" b="0" i="0">
                          <a:solidFill>
                            <a:srgbClr val="1F2933"/>
                          </a:solidFill>
                          <a:latin typeface="Calibri"/>
                        </a:rPr>
                        <a:t>highest price</a:t>
                      </a:r>
                      <a:endParaRPr sz="1400" b="0" i="0">
                        <a:solidFill>
                          <a:srgbClr val="1F2933"/>
                        </a:solidFill>
                        <a:latin typeface="Calibri"/>
                      </a:endParaRPr>
                    </a:p>
                  </a:txBody>
                  <a:tcPr marL="64008" marR="64008" marT="22860" marB="22860" anchor="ctr">
                    <a:solidFill>
                      <a:srgbClr val="EEF1F4"/>
                    </a:solidFill>
                  </a:tcPr>
                </a:tc>
                <a:tc>
                  <a:txBody>
                    <a:bodyPr wrap="square"/>
                    <a:lstStyle/>
                    <a:p>
                      <a:pPr algn="l"/>
                      <a:r>
                        <a:rPr sz="1400" b="0" i="0">
                          <a:solidFill>
                            <a:srgbClr val="1F2933"/>
                          </a:solidFill>
                          <a:latin typeface="Calibri"/>
                        </a:rPr>
                        <a:t>no fitting</a:t>
                      </a:r>
                      <a:endParaRPr sz="1400" b="0" i="0">
                        <a:solidFill>
                          <a:srgbClr val="1F2933"/>
                        </a:solidFill>
                        <a:latin typeface="Calibri"/>
                      </a:endParaRPr>
                    </a:p>
                  </a:txBody>
                  <a:tcPr marL="64008" marR="64008" marT="22860" marB="22860" anchor="ctr">
                    <a:solidFill>
                      <a:srgbClr val="EEF1F4"/>
                    </a:solidFill>
                  </a:tcPr>
                </a:tc>
                <a:tc>
                  <a:txBody>
                    <a:bodyPr wrap="square"/>
                    <a:lstStyle/>
                    <a:p>
                      <a:pPr algn="l"/>
                      <a:r>
                        <a:rPr sz="1400" b="0" i="0">
                          <a:solidFill>
                            <a:srgbClr val="1F2933"/>
                          </a:solidFill>
                          <a:latin typeface="Calibri"/>
                        </a:rPr>
                        <a:t>–</a:t>
                      </a:r>
                      <a:endParaRPr sz="1400" b="0" i="0">
                        <a:solidFill>
                          <a:srgbClr val="1F2933"/>
                        </a:solidFill>
                        <a:latin typeface="Calibri"/>
                      </a:endParaRPr>
                    </a:p>
                  </a:txBody>
                  <a:tcPr marL="64008" marR="64008" marT="22860" marB="22860" anchor="ctr">
                    <a:solidFill>
                      <a:srgbClr val="EEF1F4"/>
                    </a:solidFill>
                  </a:tcPr>
                </a:tc>
                <a:tc>
                  <a:txBody>
                    <a:bodyPr wrap="square"/>
                    <a:lstStyle/>
                    <a:p>
                      <a:pPr algn="l"/>
                      <a:r>
                        <a:rPr sz="1400" b="0" i="0">
                          <a:solidFill>
                            <a:srgbClr val="1F2933"/>
                          </a:solidFill>
                          <a:latin typeface="Calibri"/>
                        </a:rPr>
                        <a:t>–</a:t>
                      </a:r>
                      <a:endParaRPr sz="1400" b="0" i="0">
                        <a:solidFill>
                          <a:srgbClr val="1F2933"/>
                        </a:solidFill>
                        <a:latin typeface="Calibri"/>
                      </a:endParaRPr>
                    </a:p>
                  </a:txBody>
                  <a:tcPr marL="64008" marR="64008" marT="22860" marB="22860" anchor="ctr">
                    <a:solidFill>
                      <a:srgbClr val="EEF1F4"/>
                    </a:solidFill>
                  </a:tcPr>
                </a:tc>
              </a:tr>
              <a:tr h="438912">
                <a:tc>
                  <a:txBody>
                    <a:bodyPr wrap="square"/>
                    <a:lstStyle/>
                    <a:p>
                      <a:pPr algn="l"/>
                      <a:r>
                        <a:rPr sz="1400" b="1" i="0">
                          <a:solidFill>
                            <a:srgbClr val="1F2933"/>
                          </a:solidFill>
                          <a:latin typeface="Calibri"/>
                        </a:rPr>
                        <a:t>A: logistic (L2)</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price_now</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C ∈ {0.001, 0.01, 0.1, 1, 10, 100}</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C = 10  (0.0521)</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C = 10  (0.0690)</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B: logistic</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A + price_change_24h</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same 6 values of C</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C = 100  (0.0444)</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C = 1  (0.0794)</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l"/>
                      <a:r>
                        <a:rPr sz="1400" b="1" i="0">
                          <a:solidFill>
                            <a:srgbClr val="1F2933"/>
                          </a:solidFill>
                          <a:latin typeface="Calibri"/>
                        </a:rPr>
                        <a:t>C: logistic</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B + log_volume_24h</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same 6 values of C</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C = 100  (0.0422)</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C = 100  (0.0718)</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RF (exploratory)</a:t>
                      </a:r>
                      <a:endParaRPr sz="1400" b="1"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all three features</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depth {2,3,5} × leaf {5,10,20}; 300 trees</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depth 3, leaf 5  (0.0334)</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depth 3, leaf 10  (0.0560)</a:t>
                      </a:r>
                      <a:endParaRPr sz="1400" b="0" i="0">
                        <a:solidFill>
                          <a:srgbClr val="1F2933"/>
                        </a:solidFill>
                        <a:latin typeface="Calibri"/>
                      </a:endParaRPr>
                    </a:p>
                  </a:txBody>
                  <a:tcPr marL="64008" marR="64008" marT="22860" marB="22860" anchor="ctr">
                    <a:solidFill>
                      <a:srgbClr val="FFF4D6"/>
                    </a:solidFill>
                  </a:tcPr>
                </a:tc>
              </a:tr>
            </a:tbl>
          </a:graphicData>
        </a:graphic>
      </p:graphicFrame>
      <p:sp>
        <p:nvSpPr>
          <p:cNvPr id="6" name="Tuning caution"/>
          <p:cNvSpPr txBox="1"/>
          <p:nvPr/>
        </p:nvSpPr>
        <p:spPr>
          <a:xfrm>
            <a:off x="548640" y="4023360"/>
            <a:ext cx="11064240" cy="685800"/>
          </a:xfrm>
          <a:prstGeom prst="rect">
            <a:avLst/>
          </a:prstGeom>
          <a:noFill/>
        </p:spPr>
        <p:txBody>
          <a:bodyPr wrap="square" lIns="45720" tIns="27432" rIns="45720" bIns="27432" anchor="t">
            <a:spAutoFit/>
          </a:bodyPr>
          <a:lstStyle/>
          <a:p>
            <a:pPr algn="l">
              <a:spcAft>
                <a:spcPts val="400"/>
              </a:spcAft>
            </a:pPr>
            <a:r>
              <a:rPr sz="1400" b="1" i="0">
                <a:solidFill>
                  <a:srgbClr val="14283D"/>
                </a:solidFill>
                <a:latin typeface="Calibri"/>
              </a:rPr>
              <a:t>B − A measures what price change adds; C − B what volume adds. </a:t>
            </a:r>
            <a:r>
              <a:rPr sz="1400" b="0" i="0">
                <a:solidFill>
                  <a:srgbClr val="1F2933"/>
                </a:solidFill>
                <a:latin typeface="Calibri"/>
              </a:rPr>
              <a:t>Each system is tuned separately, so these compare complete procedures. A is a learned price-only control, not the raw market baseline. In parentheses: validation log loss.</a:t>
            </a:r>
            <a:endParaRPr sz="1400" b="0" i="0">
              <a:solidFill>
                <a:srgbClr val="1F2933"/>
              </a:solidFill>
              <a:latin typeface="Calibri"/>
            </a:endParaRPr>
          </a:p>
        </p:txBody>
      </p:sp>
      <p:sp>
        <p:nvSpPr>
          <p:cNvPr id="7" name="Selection rule code"/>
          <p:cNvSpPr/>
          <p:nvPr/>
        </p:nvSpPr>
        <p:spPr>
          <a:xfrm>
            <a:off x="548640" y="4846320"/>
            <a:ext cx="7132320" cy="1030731"/>
          </a:xfrm>
          <a:prstGeom prst="roundRect">
            <a:avLst>
              <a:gd name="adj" fmla="val 4000"/>
            </a:avLst>
          </a:prstGeom>
          <a:solidFill>
            <a:srgbClr val="17222F"/>
          </a:solidFill>
          <a:ln>
            <a:noFill/>
          </a:ln>
          <a:effectLst/>
        </p:spPr>
        <p:style>
          <a:lnRef idx="1">
            <a:schemeClr val="accent1"/>
          </a:lnRef>
          <a:fillRef idx="3">
            <a:schemeClr val="accent1"/>
          </a:fillRef>
          <a:effectRef idx="0">
            <a:schemeClr val="accent1"/>
          </a:effectRef>
          <a:fontRef idx="minor">
            <a:schemeClr val="lt1"/>
          </a:fontRef>
        </p:style>
        <p:txBody>
          <a:bodyPr wrap="none" lIns="164592" tIns="54864" bIns="54864" rtlCol="0" anchor="ctr"/>
          <a:lstStyle/>
          <a:p>
            <a:pPr algn="l">
              <a:spcAft>
                <a:spcPts val="0"/>
              </a:spcAft>
            </a:pPr>
            <a:r>
              <a:rPr sz="1250" b="0" i="0">
                <a:solidFill>
                  <a:srgbClr val="E6EDF3"/>
                </a:solidFill>
                <a:latin typeface="Courier New" panose="02070409020205090404"/>
              </a:rPr>
              <a:t>def select_by_validation(rows):</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best_loss = min(r["val_log_loss"] for r in rows)</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tied = [r for r in rows if r["val_log_loss"] - best_loss &lt; TIE_TOL]</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return min(tied, key=lambda r: r["tie_key"])</a:t>
            </a:r>
            <a:endParaRPr sz="1250" b="0" i="0">
              <a:solidFill>
                <a:srgbClr val="E6EDF3"/>
              </a:solidFill>
              <a:latin typeface="Courier New" panose="02070409020205090404"/>
            </a:endParaRPr>
          </a:p>
        </p:txBody>
      </p:sp>
      <p:sp>
        <p:nvSpPr>
          <p:cNvPr id="8" name="TextBox 7"/>
          <p:cNvSpPr txBox="1"/>
          <p:nvPr/>
        </p:nvSpPr>
        <p:spPr>
          <a:xfrm>
            <a:off x="548640" y="5904484"/>
            <a:ext cx="7132320" cy="274320"/>
          </a:xfrm>
          <a:prstGeom prst="rect">
            <a:avLst/>
          </a:prstGeom>
          <a:noFill/>
        </p:spPr>
        <p:txBody>
          <a:bodyPr wrap="square" lIns="45720" tIns="27432" rIns="45720" bIns="27432" anchor="t">
            <a:spAutoFit/>
          </a:bodyPr>
          <a:lstStyle/>
          <a:p>
            <a:pPr algn="l">
              <a:spcAft>
                <a:spcPts val="400"/>
              </a:spcAft>
            </a:pPr>
            <a:r>
              <a:rPr sz="1200" b="0" i="1">
                <a:solidFill>
                  <a:srgbClr val="5F6B7A"/>
                </a:solidFill>
                <a:latin typeface="Calibri"/>
              </a:rPr>
              <a:t>The selection rule: netflix_midterm_v2.py lines 223–226, executed in this run</a:t>
            </a:r>
            <a:endParaRPr sz="1200" b="0" i="1">
              <a:solidFill>
                <a:srgbClr val="5F6B7A"/>
              </a:solidFill>
              <a:latin typeface="Calibri"/>
            </a:endParaRPr>
          </a:p>
        </p:txBody>
      </p:sp>
      <p:sp>
        <p:nvSpPr>
          <p:cNvPr id="9" name="TextBox 8"/>
          <p:cNvSpPr txBox="1"/>
          <p:nvPr/>
        </p:nvSpPr>
        <p:spPr>
          <a:xfrm>
            <a:off x="7863840" y="4754880"/>
            <a:ext cx="3749039" cy="320040"/>
          </a:xfrm>
          <a:prstGeom prst="rect">
            <a:avLst/>
          </a:prstGeom>
          <a:noFill/>
        </p:spPr>
        <p:txBody>
          <a:bodyPr wrap="square" lIns="45720" tIns="27432" rIns="45720" bIns="27432" anchor="t">
            <a:spAutoFit/>
          </a:bodyPr>
          <a:lstStyle/>
          <a:p>
            <a:pPr algn="l">
              <a:spcAft>
                <a:spcPts val="400"/>
              </a:spcAft>
            </a:pPr>
            <a:r>
              <a:rPr sz="1600" b="1" i="0">
                <a:solidFill>
                  <a:srgbClr val="14283D"/>
                </a:solidFill>
                <a:latin typeface="Calibri"/>
              </a:rPr>
              <a:t>Fixed before the search</a:t>
            </a:r>
            <a:endParaRPr sz="1600" b="1" i="0">
              <a:solidFill>
                <a:srgbClr val="14283D"/>
              </a:solidFill>
              <a:latin typeface="Calibri"/>
            </a:endParaRPr>
          </a:p>
        </p:txBody>
      </p:sp>
      <p:sp>
        <p:nvSpPr>
          <p:cNvPr id="10" name="TextBox 9"/>
          <p:cNvSpPr txBox="1"/>
          <p:nvPr/>
        </p:nvSpPr>
        <p:spPr>
          <a:xfrm>
            <a:off x="7863840" y="5074920"/>
            <a:ext cx="3749039" cy="1325880"/>
          </a:xfrm>
          <a:prstGeom prst="rect">
            <a:avLst/>
          </a:prstGeom>
          <a:noFill/>
        </p:spPr>
        <p:txBody>
          <a:bodyPr wrap="square" lIns="45720" tIns="27432" rIns="45720" bIns="27432" anchor="t">
            <a:spAutoFit/>
          </a:bodyPr>
          <a:lstStyle/>
          <a:p>
            <a:pPr marL="182880" indent="-182880" algn="l">
              <a:spcAft>
                <a:spcPts val="200"/>
              </a:spcAft>
              <a:buChar char="•"/>
            </a:pPr>
            <a:r>
              <a:rPr sz="1400" b="0" i="0">
                <a:solidFill>
                  <a:srgbClr val="1F2933"/>
                </a:solidFill>
                <a:latin typeface="Calibri"/>
              </a:rPr>
              <a:t>Metric: validation log loss, equal weight per week</a:t>
            </a:r>
            <a:endParaRPr sz="1400" b="0" i="0">
              <a:solidFill>
                <a:srgbClr val="1F2933"/>
              </a:solidFill>
              <a:latin typeface="Calibri"/>
            </a:endParaRPr>
          </a:p>
          <a:p>
            <a:pPr marL="182880" indent="-182880" algn="l">
              <a:spcAft>
                <a:spcPts val="200"/>
              </a:spcAft>
              <a:buChar char="•"/>
            </a:pPr>
            <a:r>
              <a:rPr sz="1400" b="0" i="0">
                <a:solidFill>
                  <a:srgbClr val="1F2933"/>
                </a:solidFill>
                <a:latin typeface="Calibri"/>
              </a:rPr>
              <a:t>Ties (&lt; 1e−6): more regularized setting</a:t>
            </a:r>
            <a:endParaRPr sz="1400" b="0" i="0">
              <a:solidFill>
                <a:srgbClr val="1F2933"/>
              </a:solidFill>
              <a:latin typeface="Calibri"/>
            </a:endParaRPr>
          </a:p>
          <a:p>
            <a:pPr marL="182880" indent="-182880" algn="l">
              <a:spcAft>
                <a:spcPts val="200"/>
              </a:spcAft>
              <a:buChar char="•"/>
            </a:pPr>
            <a:r>
              <a:rPr sz="1400" b="0" i="0">
                <a:solidFill>
                  <a:srgbClr val="1F2933"/>
                </a:solidFill>
                <a:latin typeface="Calibri"/>
              </a:rPr>
              <a:t>Fit on training weeks only; test weeks never choose settings</a:t>
            </a:r>
            <a:endParaRPr sz="1400" b="0" i="0">
              <a:solidFill>
                <a:srgbClr val="1F2933"/>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Whole-week time split; test weeks never choose settings</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Split train"/>
          <p:cNvSpPr/>
          <p:nvPr/>
        </p:nvSpPr>
        <p:spPr>
          <a:xfrm>
            <a:off x="548640" y="1280160"/>
            <a:ext cx="6583680" cy="1417320"/>
          </a:xfrm>
          <a:prstGeom prst="rect">
            <a:avLst/>
          </a:prstGeom>
          <a:solidFill>
            <a:srgbClr val="486581"/>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Train  |  54 weeks</a:t>
            </a:r>
            <a:endParaRPr sz="1600" b="1" i="0">
              <a:solidFill>
                <a:srgbClr val="FFFFFF"/>
              </a:solidFill>
              <a:latin typeface="Calibri"/>
            </a:endParaRPr>
          </a:p>
          <a:p>
            <a:pPr algn="ctr">
              <a:spcAft>
                <a:spcPts val="200"/>
              </a:spcAft>
            </a:pPr>
            <a:r>
              <a:rPr sz="1400" b="0" i="0">
                <a:solidFill>
                  <a:srgbClr val="FFFFFF"/>
                </a:solidFill>
                <a:latin typeface="Calibri"/>
              </a:rPr>
              <a:t>2025-01-13 to 2026-01-26</a:t>
            </a:r>
            <a:endParaRPr sz="1400" b="0" i="0">
              <a:solidFill>
                <a:srgbClr val="FFFFFF"/>
              </a:solidFill>
              <a:latin typeface="Calibri"/>
            </a:endParaRPr>
          </a:p>
          <a:p>
            <a:pPr algn="ctr">
              <a:spcAft>
                <a:spcPts val="200"/>
              </a:spcAft>
            </a:pPr>
            <a:r>
              <a:rPr sz="1400" b="0" i="1">
                <a:solidFill>
                  <a:srgbClr val="FFFFFF"/>
                </a:solidFill>
                <a:latin typeface="Calibri"/>
              </a:rPr>
              <a:t>fit models and preprocessing</a:t>
            </a:r>
            <a:endParaRPr sz="1400" b="0" i="1">
              <a:solidFill>
                <a:srgbClr val="FFFFFF"/>
              </a:solidFill>
              <a:latin typeface="Calibri"/>
            </a:endParaRPr>
          </a:p>
        </p:txBody>
      </p:sp>
      <p:sp>
        <p:nvSpPr>
          <p:cNvPr id="6" name="Split validation"/>
          <p:cNvSpPr/>
          <p:nvPr/>
        </p:nvSpPr>
        <p:spPr>
          <a:xfrm>
            <a:off x="7187183" y="1280160"/>
            <a:ext cx="2157984" cy="1417320"/>
          </a:xfrm>
          <a:prstGeom prst="rect">
            <a:avLst/>
          </a:prstGeom>
          <a:solidFill>
            <a:srgbClr val="E9A23B"/>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Validation  |  18 weeks</a:t>
            </a:r>
            <a:endParaRPr sz="1600" b="1" i="0">
              <a:solidFill>
                <a:srgbClr val="FFFFFF"/>
              </a:solidFill>
              <a:latin typeface="Calibri"/>
            </a:endParaRPr>
          </a:p>
          <a:p>
            <a:pPr algn="ctr">
              <a:spcAft>
                <a:spcPts val="200"/>
              </a:spcAft>
            </a:pPr>
            <a:r>
              <a:rPr sz="1400" b="0" i="0">
                <a:solidFill>
                  <a:srgbClr val="FFFFFF"/>
                </a:solidFill>
                <a:latin typeface="Calibri"/>
              </a:rPr>
              <a:t>2026-02-02 to 2026-06-01</a:t>
            </a:r>
            <a:endParaRPr sz="1400" b="0" i="0">
              <a:solidFill>
                <a:srgbClr val="FFFFFF"/>
              </a:solidFill>
              <a:latin typeface="Calibri"/>
            </a:endParaRPr>
          </a:p>
          <a:p>
            <a:pPr algn="ctr">
              <a:spcAft>
                <a:spcPts val="200"/>
              </a:spcAft>
            </a:pPr>
            <a:r>
              <a:rPr sz="1400" b="0" i="1">
                <a:solidFill>
                  <a:srgbClr val="FFFFFF"/>
                </a:solidFill>
                <a:latin typeface="Calibri"/>
              </a:rPr>
              <a:t>choose settings</a:t>
            </a:r>
            <a:endParaRPr sz="1400" b="0" i="1">
              <a:solidFill>
                <a:srgbClr val="FFFFFF"/>
              </a:solidFill>
              <a:latin typeface="Calibri"/>
            </a:endParaRPr>
          </a:p>
        </p:txBody>
      </p:sp>
      <p:sp>
        <p:nvSpPr>
          <p:cNvPr id="7" name="Split test"/>
          <p:cNvSpPr/>
          <p:nvPr/>
        </p:nvSpPr>
        <p:spPr>
          <a:xfrm>
            <a:off x="9400032" y="1280160"/>
            <a:ext cx="2157984" cy="1417320"/>
          </a:xfrm>
          <a:prstGeom prst="rect">
            <a:avLst/>
          </a:prstGeom>
          <a:solidFill>
            <a:srgbClr val="D9480F"/>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1600" b="1" i="0">
                <a:solidFill>
                  <a:srgbClr val="FFFFFF"/>
                </a:solidFill>
                <a:latin typeface="Calibri"/>
              </a:rPr>
              <a:t>Test  |  18 weeks</a:t>
            </a:r>
            <a:endParaRPr sz="1600" b="1" i="0">
              <a:solidFill>
                <a:srgbClr val="FFFFFF"/>
              </a:solidFill>
              <a:latin typeface="Calibri"/>
            </a:endParaRPr>
          </a:p>
          <a:p>
            <a:pPr algn="ctr">
              <a:spcAft>
                <a:spcPts val="200"/>
              </a:spcAft>
            </a:pPr>
            <a:r>
              <a:rPr sz="1400" b="0" i="0">
                <a:solidFill>
                  <a:srgbClr val="FFFFFF"/>
                </a:solidFill>
                <a:latin typeface="Calibri"/>
              </a:rPr>
              <a:t>2026-06-08 to 2026-10-19</a:t>
            </a:r>
            <a:endParaRPr sz="1400" b="0" i="0">
              <a:solidFill>
                <a:srgbClr val="FFFFFF"/>
              </a:solidFill>
              <a:latin typeface="Calibri"/>
            </a:endParaRPr>
          </a:p>
          <a:p>
            <a:pPr algn="ctr">
              <a:spcAft>
                <a:spcPts val="200"/>
              </a:spcAft>
            </a:pPr>
            <a:r>
              <a:rPr sz="1400" b="0" i="1">
                <a:solidFill>
                  <a:srgbClr val="FFFFFF"/>
                </a:solidFill>
                <a:latin typeface="Calibri"/>
              </a:rPr>
              <a:t>report only (seen before)</a:t>
            </a:r>
            <a:endParaRPr sz="1400" b="0" i="1">
              <a:solidFill>
                <a:srgbClr val="FFFFFF"/>
              </a:solidFill>
              <a:latin typeface="Calibri"/>
            </a:endParaRPr>
          </a:p>
        </p:txBody>
      </p:sp>
      <p:sp>
        <p:nvSpPr>
          <p:cNvPr id="8" name="TextBox 7"/>
          <p:cNvSpPr txBox="1"/>
          <p:nvPr/>
        </p:nvSpPr>
        <p:spPr>
          <a:xfrm>
            <a:off x="548640" y="2743200"/>
            <a:ext cx="11064240" cy="320040"/>
          </a:xfrm>
          <a:prstGeom prst="rect">
            <a:avLst/>
          </a:prstGeom>
          <a:noFill/>
        </p:spPr>
        <p:txBody>
          <a:bodyPr wrap="square" lIns="45720" tIns="27432" rIns="45720" bIns="27432" anchor="t">
            <a:spAutoFit/>
          </a:bodyPr>
          <a:lstStyle/>
          <a:p>
            <a:pPr algn="l">
              <a:spcAft>
                <a:spcPts val="400"/>
              </a:spcAft>
            </a:pPr>
            <a:r>
              <a:rPr sz="1300" b="0" i="0">
                <a:solidFill>
                  <a:srgbClr val="5F6B7A"/>
                </a:solidFill>
                <a:latin typeface="Calibri"/>
              </a:rPr>
              <a:t>24h prediction times, UTC. Same week assignment as the earlier version; the 72h cutoff reuses it. A week's candidates never cross sets.</a:t>
            </a:r>
            <a:endParaRPr sz="1300" b="0" i="0">
              <a:solidFill>
                <a:srgbClr val="5F6B7A"/>
              </a:solidFill>
              <a:latin typeface="Calibri"/>
            </a:endParaRPr>
          </a:p>
        </p:txBody>
      </p:sp>
      <p:sp>
        <p:nvSpPr>
          <p:cNvPr id="9" name="TextBox 8"/>
          <p:cNvSpPr txBox="1"/>
          <p:nvPr/>
        </p:nvSpPr>
        <p:spPr>
          <a:xfrm>
            <a:off x="548640" y="3291840"/>
            <a:ext cx="11064240" cy="411480"/>
          </a:xfrm>
          <a:prstGeom prst="rect">
            <a:avLst/>
          </a:prstGeom>
          <a:noFill/>
        </p:spPr>
        <p:txBody>
          <a:bodyPr wrap="square" lIns="45720" tIns="27432" rIns="45720" bIns="27432" anchor="t">
            <a:spAutoFit/>
          </a:bodyPr>
          <a:lstStyle/>
          <a:p>
            <a:pPr algn="l">
              <a:spcAft>
                <a:spcPts val="400"/>
              </a:spcAft>
            </a:pPr>
            <a:r>
              <a:rPr sz="2200" b="1" i="0">
                <a:solidFill>
                  <a:srgbClr val="14283D"/>
                </a:solidFill>
                <a:latin typeface="Cambria"/>
              </a:rPr>
              <a:t>How results are scored</a:t>
            </a:r>
            <a:endParaRPr sz="2200" b="1" i="0">
              <a:solidFill>
                <a:srgbClr val="14283D"/>
              </a:solidFill>
              <a:latin typeface="Cambria"/>
            </a:endParaRPr>
          </a:p>
        </p:txBody>
      </p:sp>
      <p:sp>
        <p:nvSpPr>
          <p:cNvPr id="10" name="Scoring summary"/>
          <p:cNvSpPr txBox="1"/>
          <p:nvPr/>
        </p:nvSpPr>
        <p:spPr>
          <a:xfrm>
            <a:off x="548640" y="3794760"/>
            <a:ext cx="11064240" cy="2606040"/>
          </a:xfrm>
          <a:prstGeom prst="rect">
            <a:avLst/>
          </a:prstGeom>
          <a:noFill/>
        </p:spPr>
        <p:txBody>
          <a:bodyPr wrap="square" lIns="45720" tIns="27432" rIns="45720" bIns="27432" anchor="t">
            <a:spAutoFit/>
          </a:bodyPr>
          <a:lstStyle/>
          <a:p>
            <a:pPr marL="182880" indent="-182880" algn="l">
              <a:spcAft>
                <a:spcPts val="1100"/>
              </a:spcAft>
              <a:buChar char="•"/>
            </a:pPr>
            <a:r>
              <a:rPr sz="1900" b="1" i="0">
                <a:solidFill>
                  <a:srgbClr val="1F2933"/>
                </a:solidFill>
                <a:latin typeface="Calibri"/>
              </a:rPr>
              <a:t>Top-1: </a:t>
            </a:r>
            <a:r>
              <a:rPr sz="1900" b="0" i="0">
                <a:solidFill>
                  <a:srgbClr val="1F2933"/>
                </a:solidFill>
                <a:latin typeface="Calibri"/>
              </a:rPr>
              <a:t>did the highest-scoring movie win? Counted as weeks correct / all weeks; an unlisted winner stays in as a miss.</a:t>
            </a:r>
            <a:endParaRPr sz="1900" b="0" i="0">
              <a:solidFill>
                <a:srgbClr val="1F2933"/>
              </a:solidFill>
              <a:latin typeface="Calibri"/>
            </a:endParaRPr>
          </a:p>
          <a:p>
            <a:pPr marL="182880" indent="-182880" algn="l">
              <a:spcAft>
                <a:spcPts val="1100"/>
              </a:spcAft>
              <a:buChar char="•"/>
            </a:pPr>
            <a:r>
              <a:rPr sz="1900" b="1" i="0">
                <a:solidFill>
                  <a:srgbClr val="1F2933"/>
                </a:solidFill>
                <a:latin typeface="Calibri"/>
              </a:rPr>
              <a:t>Log loss: </a:t>
            </a:r>
            <a:r>
              <a:rPr sz="1900" b="0" i="0">
                <a:solidFill>
                  <a:srgbClr val="1F2933"/>
                </a:solidFill>
                <a:latin typeface="Calibri"/>
              </a:rPr>
              <a:t>probability error, with a large penalty for confident mistakes. </a:t>
            </a:r>
            <a:r>
              <a:rPr sz="1900" b="1" i="0">
                <a:solidFill>
                  <a:srgbClr val="1F2933"/>
                </a:solidFill>
                <a:latin typeface="Calibri"/>
              </a:rPr>
              <a:t>Brier: </a:t>
            </a:r>
            <a:r>
              <a:rPr sz="1900" b="0" i="0">
                <a:solidFill>
                  <a:srgbClr val="1F2933"/>
                </a:solidFill>
                <a:latin typeface="Calibri"/>
              </a:rPr>
              <a:t>squared probability error.</a:t>
            </a:r>
            <a:endParaRPr sz="1900" b="0" i="0">
              <a:solidFill>
                <a:srgbClr val="1F2933"/>
              </a:solidFill>
              <a:latin typeface="Calibri"/>
            </a:endParaRPr>
          </a:p>
          <a:p>
            <a:pPr marL="182880" indent="-182880" algn="l">
              <a:spcAft>
                <a:spcPts val="1100"/>
              </a:spcAft>
              <a:buChar char="•"/>
            </a:pPr>
            <a:r>
              <a:rPr sz="1900" b="1" i="0">
                <a:solidFill>
                  <a:srgbClr val="1F2933"/>
                </a:solidFill>
                <a:latin typeface="Calibri"/>
              </a:rPr>
              <a:t>Both </a:t>
            </a:r>
            <a:r>
              <a:rPr sz="1900" b="0" i="0">
                <a:solidFill>
                  <a:srgbClr val="1F2933"/>
                </a:solidFill>
                <a:latin typeface="Calibri"/>
              </a:rPr>
              <a:t>are candidate-level with each week weighted equally; the market's probability is the contract's own price, not a 0/1 rule.</a:t>
            </a:r>
            <a:endParaRPr sz="1900" b="0" i="0">
              <a:solidFill>
                <a:srgbClr val="1F2933"/>
              </a:solidFill>
              <a:latin typeface="Calibri"/>
            </a:endParaRPr>
          </a:p>
          <a:p>
            <a:pPr marL="182880" indent="-182880" algn="l">
              <a:spcAft>
                <a:spcPts val="1100"/>
              </a:spcAft>
              <a:buChar char="•"/>
            </a:pPr>
            <a:r>
              <a:rPr sz="1900" b="1" i="0">
                <a:solidFill>
                  <a:srgbClr val="1F2933"/>
                </a:solidFill>
                <a:latin typeface="Calibri"/>
              </a:rPr>
              <a:t>Same rows for every method: </a:t>
            </a:r>
            <a:r>
              <a:rPr sz="1900" b="0" i="0">
                <a:solidFill>
                  <a:srgbClr val="1F2933"/>
                </a:solidFill>
                <a:latin typeface="Calibri"/>
              </a:rPr>
              <a:t>217/217 test rows at 24h, 214/217 at 72h (the rest have no price). Definitions: Appendix A1.</a:t>
            </a:r>
            <a:endParaRPr sz="1900" b="0" i="0">
              <a:solidFill>
                <a:srgbClr val="1F2933"/>
              </a:solidFill>
              <a:latin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24h top-1: no accuracy gain over the market price</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Takeaway banner"/>
          <p:cNvSpPr/>
          <p:nvPr/>
        </p:nvSpPr>
        <p:spPr>
          <a:xfrm>
            <a:off x="548640" y="1188720"/>
            <a:ext cx="11064240" cy="502920"/>
          </a:xfrm>
          <a:prstGeom prst="roundRect">
            <a:avLst>
              <a:gd name="adj" fmla="val 10000"/>
            </a:avLst>
          </a:prstGeom>
          <a:solidFill>
            <a:srgbClr val="14283D"/>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2000" b="1" i="0">
                <a:solidFill>
                  <a:srgbClr val="FFFFFF"/>
                </a:solidFill>
                <a:latin typeface="Calibri"/>
              </a:rPr>
              <a:t>Market and A: 18/18. B and C: 17/18. No accuracy gain from change or volume.</a:t>
            </a:r>
            <a:endParaRPr sz="2000" b="1" i="0">
              <a:solidFill>
                <a:srgbClr val="FFFFFF"/>
              </a:solidFill>
              <a:latin typeface="Calibri"/>
            </a:endParaRPr>
          </a:p>
        </p:txBody>
      </p:sp>
      <p:pic>
        <p:nvPicPr>
          <p:cNvPr id="6" name="Top-1 figure" descr="Test top-1 accuracy by method with Wilson intervals at the 24h cutoff"/>
          <p:cNvPicPr>
            <a:picLocks noChangeAspect="1"/>
          </p:cNvPicPr>
          <p:nvPr/>
        </p:nvPicPr>
        <p:blipFill>
          <a:blip r:embed="rId1"/>
          <a:stretch>
            <a:fillRect/>
          </a:stretch>
        </p:blipFill>
        <p:spPr>
          <a:xfrm>
            <a:off x="548640" y="1783080"/>
            <a:ext cx="5760720" cy="3480825"/>
          </a:xfrm>
          <a:prstGeom prst="rect">
            <a:avLst/>
          </a:prstGeom>
        </p:spPr>
      </p:pic>
      <p:sp>
        <p:nvSpPr>
          <p:cNvPr id="7" name="TextBox 6"/>
          <p:cNvSpPr txBox="1"/>
          <p:nvPr/>
        </p:nvSpPr>
        <p:spPr>
          <a:xfrm>
            <a:off x="6492240" y="1783080"/>
            <a:ext cx="5120640" cy="640080"/>
          </a:xfrm>
          <a:prstGeom prst="rect">
            <a:avLst/>
          </a:prstGeom>
          <a:noFill/>
        </p:spPr>
        <p:txBody>
          <a:bodyPr wrap="square" lIns="45720" tIns="27432" rIns="45720" bIns="27432" anchor="t">
            <a:spAutoFit/>
          </a:bodyPr>
          <a:lstStyle/>
          <a:p>
            <a:pPr algn="l">
              <a:spcAft>
                <a:spcPts val="400"/>
              </a:spcAft>
            </a:pPr>
            <a:r>
              <a:rPr sz="1600" b="1" i="0">
                <a:solidFill>
                  <a:srgbClr val="14283D"/>
                </a:solidFill>
                <a:latin typeface="Calibri"/>
              </a:rPr>
              <a:t>The one extra miss: week of Jul 6, 2026 (post hoc)</a:t>
            </a:r>
            <a:endParaRPr sz="1600" b="1" i="0">
              <a:solidFill>
                <a:srgbClr val="14283D"/>
              </a:solidFill>
              <a:latin typeface="Calibri"/>
            </a:endParaRPr>
          </a:p>
        </p:txBody>
      </p:sp>
      <p:graphicFrame>
        <p:nvGraphicFramePr>
          <p:cNvPr id="8" name="Extra miss table"/>
          <p:cNvGraphicFramePr>
            <a:graphicFrameLocks noGrp="1"/>
          </p:cNvGraphicFramePr>
          <p:nvPr/>
        </p:nvGraphicFramePr>
        <p:xfrm>
          <a:off x="6492240" y="2423160"/>
          <a:ext cx="4965192" cy="1097280"/>
        </p:xfrm>
        <a:graphic>
          <a:graphicData uri="http://schemas.openxmlformats.org/drawingml/2006/table">
            <a:tbl>
              <a:tblPr firstRow="1">
                <a:tableStyleId>{5C22544A-7EE6-4342-B048-85BDC9FD1C3A}</a:tableStyleId>
              </a:tblPr>
              <a:tblGrid>
                <a:gridCol w="1508760"/>
                <a:gridCol w="594360"/>
                <a:gridCol w="658368"/>
                <a:gridCol w="566928"/>
                <a:gridCol w="566928"/>
                <a:gridCol w="566928"/>
                <a:gridCol w="502920"/>
              </a:tblGrid>
              <a:tr h="365760">
                <a:tc>
                  <a:txBody>
                    <a:bodyPr wrap="square"/>
                    <a:lstStyle/>
                    <a:p>
                      <a:pPr algn="l"/>
                      <a:r>
                        <a:rPr sz="1300" b="1" i="0">
                          <a:solidFill>
                            <a:srgbClr val="FFFFFF"/>
                          </a:solidFill>
                          <a:latin typeface="Calibri"/>
                        </a:rPr>
                        <a:t>Movie</a:t>
                      </a:r>
                      <a:endParaRPr sz="1300" b="1" i="0">
                        <a:solidFill>
                          <a:srgbClr val="FFFFFF"/>
                        </a:solidFill>
                        <a:latin typeface="Calibri"/>
                      </a:endParaRPr>
                    </a:p>
                  </a:txBody>
                  <a:tcPr marL="64008" marR="64008" marT="22860" marB="22860" anchor="ctr">
                    <a:solidFill>
                      <a:srgbClr val="14283D"/>
                    </a:solidFill>
                  </a:tcPr>
                </a:tc>
                <a:tc>
                  <a:txBody>
                    <a:bodyPr wrap="square"/>
                    <a:lstStyle/>
                    <a:p>
                      <a:pPr algn="r"/>
                      <a:r>
                        <a:rPr sz="1300" b="1" i="0">
                          <a:solidFill>
                            <a:srgbClr val="FFFFFF"/>
                          </a:solidFill>
                          <a:latin typeface="Calibri"/>
                        </a:rPr>
                        <a:t>Price</a:t>
                      </a:r>
                      <a:endParaRPr sz="1300" b="1" i="0">
                        <a:solidFill>
                          <a:srgbClr val="FFFFFF"/>
                        </a:solidFill>
                        <a:latin typeface="Calibri"/>
                      </a:endParaRPr>
                    </a:p>
                  </a:txBody>
                  <a:tcPr marL="64008" marR="64008" marT="22860" marB="22860" anchor="ctr">
                    <a:solidFill>
                      <a:srgbClr val="14283D"/>
                    </a:solidFill>
                  </a:tcPr>
                </a:tc>
                <a:tc>
                  <a:txBody>
                    <a:bodyPr wrap="square"/>
                    <a:lstStyle/>
                    <a:p>
                      <a:pPr algn="r"/>
                      <a:r>
                        <a:rPr sz="1300" b="1" i="0">
                          <a:solidFill>
                            <a:srgbClr val="FFFFFF"/>
                          </a:solidFill>
                          <a:latin typeface="Calibri"/>
                        </a:rPr>
                        <a:t>Δ 24h</a:t>
                      </a:r>
                      <a:endParaRPr sz="1300" b="1" i="0">
                        <a:solidFill>
                          <a:srgbClr val="FFFFFF"/>
                        </a:solidFill>
                        <a:latin typeface="Calibri"/>
                      </a:endParaRPr>
                    </a:p>
                  </a:txBody>
                  <a:tcPr marL="64008" marR="64008" marT="22860" marB="22860" anchor="ctr">
                    <a:solidFill>
                      <a:srgbClr val="14283D"/>
                    </a:solidFill>
                  </a:tcPr>
                </a:tc>
                <a:tc>
                  <a:txBody>
                    <a:bodyPr wrap="square"/>
                    <a:lstStyle/>
                    <a:p>
                      <a:pPr algn="r"/>
                      <a:r>
                        <a:rPr sz="1300" b="1" i="0">
                          <a:solidFill>
                            <a:srgbClr val="FFFFFF"/>
                          </a:solidFill>
                          <a:latin typeface="Calibri"/>
                        </a:rPr>
                        <a:t>p(A)</a:t>
                      </a:r>
                      <a:endParaRPr sz="1300" b="1" i="0">
                        <a:solidFill>
                          <a:srgbClr val="FFFFFF"/>
                        </a:solidFill>
                        <a:latin typeface="Calibri"/>
                      </a:endParaRPr>
                    </a:p>
                  </a:txBody>
                  <a:tcPr marL="64008" marR="64008" marT="22860" marB="22860" anchor="ctr">
                    <a:solidFill>
                      <a:srgbClr val="14283D"/>
                    </a:solidFill>
                  </a:tcPr>
                </a:tc>
                <a:tc>
                  <a:txBody>
                    <a:bodyPr wrap="square"/>
                    <a:lstStyle/>
                    <a:p>
                      <a:pPr algn="r"/>
                      <a:r>
                        <a:rPr sz="1300" b="1" i="0">
                          <a:solidFill>
                            <a:srgbClr val="FFFFFF"/>
                          </a:solidFill>
                          <a:latin typeface="Calibri"/>
                        </a:rPr>
                        <a:t>p(B)</a:t>
                      </a:r>
                      <a:endParaRPr sz="1300" b="1" i="0">
                        <a:solidFill>
                          <a:srgbClr val="FFFFFF"/>
                        </a:solidFill>
                        <a:latin typeface="Calibri"/>
                      </a:endParaRPr>
                    </a:p>
                  </a:txBody>
                  <a:tcPr marL="64008" marR="64008" marT="22860" marB="22860" anchor="ctr">
                    <a:solidFill>
                      <a:srgbClr val="14283D"/>
                    </a:solidFill>
                  </a:tcPr>
                </a:tc>
                <a:tc>
                  <a:txBody>
                    <a:bodyPr wrap="square"/>
                    <a:lstStyle/>
                    <a:p>
                      <a:pPr algn="r"/>
                      <a:r>
                        <a:rPr sz="1300" b="1" i="0">
                          <a:solidFill>
                            <a:srgbClr val="FFFFFF"/>
                          </a:solidFill>
                          <a:latin typeface="Calibri"/>
                        </a:rPr>
                        <a:t>p(C)</a:t>
                      </a:r>
                      <a:endParaRPr sz="1300" b="1" i="0">
                        <a:solidFill>
                          <a:srgbClr val="FFFFFF"/>
                        </a:solidFill>
                        <a:latin typeface="Calibri"/>
                      </a:endParaRPr>
                    </a:p>
                  </a:txBody>
                  <a:tcPr marL="64008" marR="64008" marT="22860" marB="22860" anchor="ctr">
                    <a:solidFill>
                      <a:srgbClr val="14283D"/>
                    </a:solidFill>
                  </a:tcPr>
                </a:tc>
                <a:tc>
                  <a:txBody>
                    <a:bodyPr wrap="square"/>
                    <a:lstStyle/>
                    <a:p>
                      <a:pPr algn="ctr"/>
                      <a:r>
                        <a:rPr sz="1300" b="1" i="0">
                          <a:solidFill>
                            <a:srgbClr val="FFFFFF"/>
                          </a:solidFill>
                          <a:latin typeface="Calibri"/>
                        </a:rPr>
                        <a:t>Won</a:t>
                      </a:r>
                      <a:endParaRPr sz="1300" b="1" i="0">
                        <a:solidFill>
                          <a:srgbClr val="FFFFFF"/>
                        </a:solidFill>
                        <a:latin typeface="Calibri"/>
                      </a:endParaRPr>
                    </a:p>
                  </a:txBody>
                  <a:tcPr marL="64008" marR="64008" marT="22860" marB="22860" anchor="ctr">
                    <a:solidFill>
                      <a:srgbClr val="14283D"/>
                    </a:solidFill>
                  </a:tcPr>
                </a:tc>
              </a:tr>
              <a:tr h="365760">
                <a:tc>
                  <a:txBody>
                    <a:bodyPr wrap="square"/>
                    <a:lstStyle/>
                    <a:p>
                      <a:pPr algn="l"/>
                      <a:r>
                        <a:rPr sz="1300" b="0" i="0">
                          <a:solidFill>
                            <a:srgbClr val="1F2933"/>
                          </a:solidFill>
                          <a:latin typeface="Calibri"/>
                        </a:rPr>
                        <a:t>Little Brother</a:t>
                      </a:r>
                      <a:endParaRPr sz="1300" b="0" i="0">
                        <a:solidFill>
                          <a:srgbClr val="1F2933"/>
                        </a:solidFill>
                        <a:latin typeface="Calibri"/>
                      </a:endParaRPr>
                    </a:p>
                  </a:txBody>
                  <a:tcPr marL="64008" marR="64008" marT="22860" marB="22860" anchor="ctr">
                    <a:solidFill>
                      <a:srgbClr val="FFFFFF"/>
                    </a:solidFill>
                  </a:tcPr>
                </a:tc>
                <a:tc>
                  <a:txBody>
                    <a:bodyPr wrap="square"/>
                    <a:lstStyle/>
                    <a:p>
                      <a:pPr algn="r"/>
                      <a:r>
                        <a:rPr sz="1300" b="0" i="0">
                          <a:solidFill>
                            <a:srgbClr val="1F2933"/>
                          </a:solidFill>
                          <a:latin typeface="Calibri"/>
                        </a:rPr>
                        <a:t>0.67</a:t>
                      </a:r>
                      <a:endParaRPr sz="1300" b="0" i="0">
                        <a:solidFill>
                          <a:srgbClr val="1F2933"/>
                        </a:solidFill>
                        <a:latin typeface="Calibri"/>
                      </a:endParaRPr>
                    </a:p>
                  </a:txBody>
                  <a:tcPr marL="64008" marR="64008" marT="22860" marB="22860" anchor="ctr">
                    <a:solidFill>
                      <a:srgbClr val="FFFFFF"/>
                    </a:solidFill>
                  </a:tcPr>
                </a:tc>
                <a:tc>
                  <a:txBody>
                    <a:bodyPr wrap="square"/>
                    <a:lstStyle/>
                    <a:p>
                      <a:pPr algn="r"/>
                      <a:r>
                        <a:rPr sz="1300" b="0" i="0">
                          <a:solidFill>
                            <a:srgbClr val="1F2933"/>
                          </a:solidFill>
                          <a:latin typeface="Calibri"/>
                        </a:rPr>
                        <a:t>+0.54</a:t>
                      </a:r>
                      <a:endParaRPr sz="1300" b="0" i="0">
                        <a:solidFill>
                          <a:srgbClr val="1F2933"/>
                        </a:solidFill>
                        <a:latin typeface="Calibri"/>
                      </a:endParaRPr>
                    </a:p>
                  </a:txBody>
                  <a:tcPr marL="64008" marR="64008" marT="22860" marB="22860" anchor="ctr">
                    <a:solidFill>
                      <a:srgbClr val="FFFFFF"/>
                    </a:solidFill>
                  </a:tcPr>
                </a:tc>
                <a:tc>
                  <a:txBody>
                    <a:bodyPr wrap="square"/>
                    <a:lstStyle/>
                    <a:p>
                      <a:pPr algn="r"/>
                      <a:r>
                        <a:rPr sz="1300" b="0" i="0">
                          <a:solidFill>
                            <a:srgbClr val="1F2933"/>
                          </a:solidFill>
                          <a:latin typeface="Calibri"/>
                        </a:rPr>
                        <a:t>0.57</a:t>
                      </a:r>
                      <a:endParaRPr sz="1300" b="0" i="0">
                        <a:solidFill>
                          <a:srgbClr val="1F2933"/>
                        </a:solidFill>
                        <a:latin typeface="Calibri"/>
                      </a:endParaRPr>
                    </a:p>
                  </a:txBody>
                  <a:tcPr marL="64008" marR="64008" marT="22860" marB="22860" anchor="ctr">
                    <a:solidFill>
                      <a:srgbClr val="FFFFFF"/>
                    </a:solidFill>
                  </a:tcPr>
                </a:tc>
                <a:tc>
                  <a:txBody>
                    <a:bodyPr wrap="square"/>
                    <a:lstStyle/>
                    <a:p>
                      <a:pPr algn="r"/>
                      <a:r>
                        <a:rPr sz="1300" b="0" i="0">
                          <a:solidFill>
                            <a:srgbClr val="1F2933"/>
                          </a:solidFill>
                          <a:latin typeface="Calibri"/>
                        </a:rPr>
                        <a:t>0.29</a:t>
                      </a:r>
                      <a:endParaRPr sz="1300" b="0" i="0">
                        <a:solidFill>
                          <a:srgbClr val="1F2933"/>
                        </a:solidFill>
                        <a:latin typeface="Calibri"/>
                      </a:endParaRPr>
                    </a:p>
                  </a:txBody>
                  <a:tcPr marL="64008" marR="64008" marT="22860" marB="22860" anchor="ctr">
                    <a:solidFill>
                      <a:srgbClr val="FFFFFF"/>
                    </a:solidFill>
                  </a:tcPr>
                </a:tc>
                <a:tc>
                  <a:txBody>
                    <a:bodyPr wrap="square"/>
                    <a:lstStyle/>
                    <a:p>
                      <a:pPr algn="r"/>
                      <a:r>
                        <a:rPr sz="1300" b="0" i="0">
                          <a:solidFill>
                            <a:srgbClr val="1F2933"/>
                          </a:solidFill>
                          <a:latin typeface="Calibri"/>
                        </a:rPr>
                        <a:t>0.53</a:t>
                      </a:r>
                      <a:endParaRPr sz="1300" b="0" i="0">
                        <a:solidFill>
                          <a:srgbClr val="1F2933"/>
                        </a:solidFill>
                        <a:latin typeface="Calibri"/>
                      </a:endParaRPr>
                    </a:p>
                  </a:txBody>
                  <a:tcPr marL="64008" marR="64008" marT="22860" marB="22860" anchor="ctr">
                    <a:solidFill>
                      <a:srgbClr val="FFFFFF"/>
                    </a:solidFill>
                  </a:tcPr>
                </a:tc>
                <a:tc>
                  <a:txBody>
                    <a:bodyPr wrap="square"/>
                    <a:lstStyle/>
                    <a:p>
                      <a:pPr algn="ctr"/>
                      <a:r>
                        <a:rPr sz="1300" b="0" i="0">
                          <a:solidFill>
                            <a:srgbClr val="1F2933"/>
                          </a:solidFill>
                          <a:latin typeface="Calibri"/>
                        </a:rPr>
                        <a:t>yes</a:t>
                      </a:r>
                      <a:endParaRPr sz="1300" b="0" i="0">
                        <a:solidFill>
                          <a:srgbClr val="1F2933"/>
                        </a:solidFill>
                        <a:latin typeface="Calibri"/>
                      </a:endParaRPr>
                    </a:p>
                  </a:txBody>
                  <a:tcPr marL="64008" marR="64008" marT="22860" marB="22860" anchor="ctr">
                    <a:solidFill>
                      <a:srgbClr val="FFFFFF"/>
                    </a:solidFill>
                  </a:tcPr>
                </a:tc>
              </a:tr>
              <a:tr h="365760">
                <a:tc>
                  <a:txBody>
                    <a:bodyPr wrap="square"/>
                    <a:lstStyle/>
                    <a:p>
                      <a:pPr algn="l"/>
                      <a:r>
                        <a:rPr sz="1300" b="0" i="0">
                          <a:solidFill>
                            <a:srgbClr val="1F2933"/>
                          </a:solidFill>
                          <a:latin typeface="Calibri"/>
                        </a:rPr>
                        <a:t>Enola Holmes 3</a:t>
                      </a:r>
                      <a:endParaRPr sz="1300" b="0" i="0">
                        <a:solidFill>
                          <a:srgbClr val="1F2933"/>
                        </a:solidFill>
                        <a:latin typeface="Calibri"/>
                      </a:endParaRPr>
                    </a:p>
                  </a:txBody>
                  <a:tcPr marL="64008" marR="64008" marT="22860" marB="22860" anchor="ctr">
                    <a:solidFill>
                      <a:srgbClr val="F1F4F7"/>
                    </a:solidFill>
                  </a:tcPr>
                </a:tc>
                <a:tc>
                  <a:txBody>
                    <a:bodyPr wrap="square"/>
                    <a:lstStyle/>
                    <a:p>
                      <a:pPr algn="r"/>
                      <a:r>
                        <a:rPr sz="1300" b="0" i="0">
                          <a:solidFill>
                            <a:srgbClr val="1F2933"/>
                          </a:solidFill>
                          <a:latin typeface="Calibri"/>
                        </a:rPr>
                        <a:t>0.34</a:t>
                      </a:r>
                      <a:endParaRPr sz="1300" b="0" i="0">
                        <a:solidFill>
                          <a:srgbClr val="1F2933"/>
                        </a:solidFill>
                        <a:latin typeface="Calibri"/>
                      </a:endParaRPr>
                    </a:p>
                  </a:txBody>
                  <a:tcPr marL="64008" marR="64008" marT="22860" marB="22860" anchor="ctr">
                    <a:solidFill>
                      <a:srgbClr val="F1F4F7"/>
                    </a:solidFill>
                  </a:tcPr>
                </a:tc>
                <a:tc>
                  <a:txBody>
                    <a:bodyPr wrap="square"/>
                    <a:lstStyle/>
                    <a:p>
                      <a:pPr algn="r"/>
                      <a:r>
                        <a:rPr sz="1300" b="0" i="0">
                          <a:solidFill>
                            <a:srgbClr val="1F2933"/>
                          </a:solidFill>
                          <a:latin typeface="Calibri"/>
                        </a:rPr>
                        <a:t>−0.53</a:t>
                      </a:r>
                      <a:endParaRPr sz="1300" b="0" i="0">
                        <a:solidFill>
                          <a:srgbClr val="1F2933"/>
                        </a:solidFill>
                        <a:latin typeface="Calibri"/>
                      </a:endParaRPr>
                    </a:p>
                  </a:txBody>
                  <a:tcPr marL="64008" marR="64008" marT="22860" marB="22860" anchor="ctr">
                    <a:solidFill>
                      <a:srgbClr val="F1F4F7"/>
                    </a:solidFill>
                  </a:tcPr>
                </a:tc>
                <a:tc>
                  <a:txBody>
                    <a:bodyPr wrap="square"/>
                    <a:lstStyle/>
                    <a:p>
                      <a:pPr algn="r"/>
                      <a:r>
                        <a:rPr sz="1300" b="0" i="0">
                          <a:solidFill>
                            <a:srgbClr val="1F2933"/>
                          </a:solidFill>
                          <a:latin typeface="Calibri"/>
                        </a:rPr>
                        <a:t>0.11</a:t>
                      </a:r>
                      <a:endParaRPr sz="1300" b="0" i="0">
                        <a:solidFill>
                          <a:srgbClr val="1F2933"/>
                        </a:solidFill>
                        <a:latin typeface="Calibri"/>
                      </a:endParaRPr>
                    </a:p>
                  </a:txBody>
                  <a:tcPr marL="64008" marR="64008" marT="22860" marB="22860" anchor="ctr">
                    <a:solidFill>
                      <a:srgbClr val="F1F4F7"/>
                    </a:solidFill>
                  </a:tcPr>
                </a:tc>
                <a:tc>
                  <a:txBody>
                    <a:bodyPr wrap="square"/>
                    <a:lstStyle/>
                    <a:p>
                      <a:pPr algn="r"/>
                      <a:r>
                        <a:rPr sz="1300" b="0" i="0">
                          <a:solidFill>
                            <a:srgbClr val="1F2933"/>
                          </a:solidFill>
                          <a:latin typeface="Calibri"/>
                        </a:rPr>
                        <a:t>0.32</a:t>
                      </a:r>
                      <a:endParaRPr sz="1300" b="0" i="0">
                        <a:solidFill>
                          <a:srgbClr val="1F2933"/>
                        </a:solidFill>
                        <a:latin typeface="Calibri"/>
                      </a:endParaRPr>
                    </a:p>
                  </a:txBody>
                  <a:tcPr marL="64008" marR="64008" marT="22860" marB="22860" anchor="ctr">
                    <a:solidFill>
                      <a:srgbClr val="F1F4F7"/>
                    </a:solidFill>
                  </a:tcPr>
                </a:tc>
                <a:tc>
                  <a:txBody>
                    <a:bodyPr wrap="square"/>
                    <a:lstStyle/>
                    <a:p>
                      <a:pPr algn="r"/>
                      <a:r>
                        <a:rPr sz="1300" b="0" i="0">
                          <a:solidFill>
                            <a:srgbClr val="1F2933"/>
                          </a:solidFill>
                          <a:latin typeface="Calibri"/>
                        </a:rPr>
                        <a:t>0.58</a:t>
                      </a:r>
                      <a:endParaRPr sz="1300" b="0" i="0">
                        <a:solidFill>
                          <a:srgbClr val="1F2933"/>
                        </a:solidFill>
                        <a:latin typeface="Calibri"/>
                      </a:endParaRPr>
                    </a:p>
                  </a:txBody>
                  <a:tcPr marL="64008" marR="64008" marT="22860" marB="22860" anchor="ctr">
                    <a:solidFill>
                      <a:srgbClr val="F1F4F7"/>
                    </a:solidFill>
                  </a:tcPr>
                </a:tc>
                <a:tc>
                  <a:txBody>
                    <a:bodyPr wrap="square"/>
                    <a:lstStyle/>
                    <a:p>
                      <a:pPr algn="ctr"/>
                      <a:r>
                        <a:rPr sz="1300" b="0" i="0">
                          <a:solidFill>
                            <a:srgbClr val="1F2933"/>
                          </a:solidFill>
                          <a:latin typeface="Calibri"/>
                        </a:rPr>
                        <a:t>no</a:t>
                      </a:r>
                      <a:endParaRPr sz="1300" b="0" i="0">
                        <a:solidFill>
                          <a:srgbClr val="1F2933"/>
                        </a:solidFill>
                        <a:latin typeface="Calibri"/>
                      </a:endParaRPr>
                    </a:p>
                  </a:txBody>
                  <a:tcPr marL="64008" marR="64008" marT="22860" marB="22860" anchor="ctr">
                    <a:solidFill>
                      <a:srgbClr val="F1F4F7"/>
                    </a:solidFill>
                  </a:tcPr>
                </a:tc>
              </a:tr>
            </a:tbl>
          </a:graphicData>
        </a:graphic>
      </p:graphicFrame>
      <p:sp>
        <p:nvSpPr>
          <p:cNvPr id="9" name="TextBox 8"/>
          <p:cNvSpPr txBox="1"/>
          <p:nvPr/>
        </p:nvSpPr>
        <p:spPr>
          <a:xfrm>
            <a:off x="6492240" y="3611880"/>
            <a:ext cx="5120640" cy="1371600"/>
          </a:xfrm>
          <a:prstGeom prst="rect">
            <a:avLst/>
          </a:prstGeom>
          <a:noFill/>
        </p:spPr>
        <p:txBody>
          <a:bodyPr wrap="square" lIns="45720" tIns="27432" rIns="45720" bIns="27432" anchor="t">
            <a:spAutoFit/>
          </a:bodyPr>
          <a:lstStyle/>
          <a:p>
            <a:pPr algn="l">
              <a:spcAft>
                <a:spcPts val="500"/>
              </a:spcAft>
            </a:pPr>
            <a:r>
              <a:rPr sz="1500" b="0" i="0">
                <a:solidFill>
                  <a:srgbClr val="1F2933"/>
                </a:solidFill>
                <a:latin typeface="Calibri"/>
              </a:rPr>
              <a:t>Market, A, RF pick </a:t>
            </a:r>
            <a:r>
              <a:rPr sz="1500" b="1" i="0">
                <a:solidFill>
                  <a:srgbClr val="1F2933"/>
                </a:solidFill>
                <a:latin typeface="Calibri"/>
              </a:rPr>
              <a:t>Little Brother</a:t>
            </a:r>
            <a:r>
              <a:rPr sz="1500" b="0" i="0">
                <a:solidFill>
                  <a:srgbClr val="1F2933"/>
                </a:solidFill>
                <a:latin typeface="Calibri"/>
              </a:rPr>
              <a:t>: correct.</a:t>
            </a:r>
            <a:endParaRPr sz="1500" b="0" i="0">
              <a:solidFill>
                <a:srgbClr val="1F2933"/>
              </a:solidFill>
              <a:latin typeface="Calibri"/>
            </a:endParaRPr>
          </a:p>
          <a:p>
            <a:pPr algn="l">
              <a:spcAft>
                <a:spcPts val="500"/>
              </a:spcAft>
            </a:pPr>
            <a:r>
              <a:rPr sz="1500" b="0" i="0">
                <a:solidFill>
                  <a:srgbClr val="1F2933"/>
                </a:solidFill>
                <a:latin typeface="Calibri"/>
              </a:rPr>
              <a:t>B and C pick </a:t>
            </a:r>
            <a:r>
              <a:rPr sz="1500" b="1" i="0">
                <a:solidFill>
                  <a:srgbClr val="C2362E"/>
                </a:solidFill>
                <a:latin typeface="Calibri"/>
              </a:rPr>
              <a:t>Enola Holmes 3</a:t>
            </a:r>
            <a:r>
              <a:rPr sz="1500" b="0" i="0">
                <a:solidFill>
                  <a:srgbClr val="1F2933"/>
                </a:solidFill>
                <a:latin typeface="Calibri"/>
              </a:rPr>
              <a:t>: wrong.</a:t>
            </a:r>
            <a:endParaRPr sz="1500" b="0" i="0">
              <a:solidFill>
                <a:srgbClr val="1F2933"/>
              </a:solidFill>
              <a:latin typeface="Calibri"/>
            </a:endParaRPr>
          </a:p>
          <a:p>
            <a:pPr algn="l">
              <a:spcAft>
                <a:spcPts val="500"/>
              </a:spcAft>
            </a:pPr>
            <a:r>
              <a:rPr sz="1300" b="0" i="0">
                <a:solidFill>
                  <a:srgbClr val="5F6B7A"/>
                </a:solidFill>
                <a:latin typeface="Calibri"/>
              </a:rPr>
              <a:t>p( ) = model's yes probability. A description of one week, not evidence of a general mechanism.</a:t>
            </a:r>
            <a:endParaRPr sz="1300" b="0" i="0">
              <a:solidFill>
                <a:srgbClr val="5F6B7A"/>
              </a:solidFill>
              <a:latin typeface="Calibri"/>
            </a:endParaRPr>
          </a:p>
        </p:txBody>
      </p:sp>
      <p:sp>
        <p:nvSpPr>
          <p:cNvPr id="10" name="Top-1 notes"/>
          <p:cNvSpPr txBox="1"/>
          <p:nvPr/>
        </p:nvSpPr>
        <p:spPr>
          <a:xfrm>
            <a:off x="548640" y="5486400"/>
            <a:ext cx="11064240" cy="914400"/>
          </a:xfrm>
          <a:prstGeom prst="rect">
            <a:avLst/>
          </a:prstGeom>
          <a:noFill/>
        </p:spPr>
        <p:txBody>
          <a:bodyPr wrap="square" lIns="45720" tIns="27432" rIns="45720" bIns="27432" anchor="t">
            <a:spAutoFit/>
          </a:bodyPr>
          <a:lstStyle/>
          <a:p>
            <a:pPr marL="182880" indent="-182880" algn="l">
              <a:spcAft>
                <a:spcPts val="300"/>
              </a:spcAft>
              <a:buChar char="•"/>
            </a:pPr>
            <a:r>
              <a:rPr sz="1500" b="1" i="0">
                <a:solidFill>
                  <a:srgbClr val="1F2933"/>
                </a:solidFill>
                <a:latin typeface="Calibri"/>
              </a:rPr>
              <a:t>One week = 5.6 points. </a:t>
            </a:r>
            <a:r>
              <a:rPr sz="1500" b="0" i="0">
                <a:solidFill>
                  <a:srgbClr val="1F2933"/>
                </a:solidFill>
                <a:latin typeface="Calibri"/>
              </a:rPr>
              <a:t>Market 18/18: Wilson 95% interval 82.4%–100%.</a:t>
            </a:r>
            <a:endParaRPr sz="1500" b="0" i="0">
              <a:solidFill>
                <a:srgbClr val="1F2933"/>
              </a:solidFill>
              <a:latin typeface="Calibri"/>
            </a:endParaRPr>
          </a:p>
          <a:p>
            <a:pPr marL="182880" indent="-182880" algn="l">
              <a:spcAft>
                <a:spcPts val="300"/>
              </a:spcAft>
              <a:buChar char="•"/>
            </a:pPr>
            <a:r>
              <a:rPr sz="1500" b="0" i="0">
                <a:solidFill>
                  <a:srgbClr val="1F2933"/>
                </a:solidFill>
                <a:latin typeface="Calibri"/>
              </a:rPr>
              <a:t>B and C each miss the same one week; this is not statistically established harm.</a:t>
            </a:r>
            <a:endParaRPr sz="1500" b="0" i="0">
              <a:solidFill>
                <a:srgbClr val="1F2933"/>
              </a:solidFill>
              <a:latin typeface="Calibri"/>
            </a:endParaRPr>
          </a:p>
          <a:p>
            <a:pPr marL="182880" indent="-182880" algn="l">
              <a:spcAft>
                <a:spcPts val="300"/>
              </a:spcAft>
              <a:buChar char="•"/>
            </a:pPr>
            <a:r>
              <a:rPr sz="1500" b="0" i="0">
                <a:solidFill>
                  <a:srgbClr val="1F2933"/>
                </a:solidFill>
                <a:latin typeface="Calibri"/>
              </a:rPr>
              <a:t>RF is exploratory; it also gets 18/18. Top-1 cannot separate the methods.</a:t>
            </a:r>
            <a:endParaRPr sz="1500" b="0" i="0">
              <a:solidFill>
                <a:srgbClr val="1F2933"/>
              </a:solidFill>
              <a:latin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RF lowers log loss but not Brier; no method dominates</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Takeaway banner"/>
          <p:cNvSpPr/>
          <p:nvPr/>
        </p:nvSpPr>
        <p:spPr>
          <a:xfrm>
            <a:off x="548640" y="1188720"/>
            <a:ext cx="11064240" cy="502920"/>
          </a:xfrm>
          <a:prstGeom prst="roundRect">
            <a:avLst>
              <a:gd name="adj" fmla="val 10000"/>
            </a:avLst>
          </a:prstGeom>
          <a:solidFill>
            <a:srgbClr val="14283D"/>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200"/>
              </a:spcAft>
            </a:pPr>
            <a:r>
              <a:rPr sz="2000" b="1" i="0">
                <a:solidFill>
                  <a:srgbClr val="FFFFFF"/>
                </a:solidFill>
                <a:latin typeface="Calibri"/>
              </a:rPr>
              <a:t>Exploratory: RF lowers log loss, worsens Brier. Confirm on new weeks.</a:t>
            </a:r>
            <a:endParaRPr sz="2000" b="1" i="0">
              <a:solidFill>
                <a:srgbClr val="FFFFFF"/>
              </a:solidFill>
              <a:latin typeface="Calibri"/>
            </a:endParaRPr>
          </a:p>
        </p:txBody>
      </p:sp>
      <p:pic>
        <p:nvPicPr>
          <p:cNvPr id="6" name="Probability figure" descr="Test log loss and Brier score by method at the 24h cutoff"/>
          <p:cNvPicPr>
            <a:picLocks noChangeAspect="1"/>
          </p:cNvPicPr>
          <p:nvPr/>
        </p:nvPicPr>
        <p:blipFill>
          <a:blip r:embed="rId1"/>
          <a:stretch>
            <a:fillRect/>
          </a:stretch>
        </p:blipFill>
        <p:spPr>
          <a:xfrm>
            <a:off x="548640" y="1783080"/>
            <a:ext cx="6583680" cy="3378405"/>
          </a:xfrm>
          <a:prstGeom prst="rect">
            <a:avLst/>
          </a:prstGeom>
        </p:spPr>
      </p:pic>
      <p:sp>
        <p:nvSpPr>
          <p:cNvPr id="7" name="RF vs market box"/>
          <p:cNvSpPr/>
          <p:nvPr/>
        </p:nvSpPr>
        <p:spPr>
          <a:xfrm>
            <a:off x="7315200" y="1783080"/>
            <a:ext cx="4297680" cy="1783080"/>
          </a:xfrm>
          <a:prstGeom prst="roundRect">
            <a:avLst>
              <a:gd name="adj" fmla="val 5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100"/>
              </a:spcAft>
            </a:pPr>
            <a:r>
              <a:rPr sz="1450" b="1" i="0">
                <a:solidFill>
                  <a:srgbClr val="14283D"/>
                </a:solidFill>
                <a:latin typeface="Calibri"/>
              </a:rPr>
              <a:t>RF vs market (Δ = RF − market)</a:t>
            </a:r>
            <a:endParaRPr sz="1450" b="1" i="0">
              <a:solidFill>
                <a:srgbClr val="14283D"/>
              </a:solidFill>
              <a:latin typeface="Calibri"/>
            </a:endParaRPr>
          </a:p>
          <a:p>
            <a:pPr algn="l">
              <a:spcAft>
                <a:spcPts val="100"/>
              </a:spcAft>
            </a:pPr>
            <a:r>
              <a:rPr sz="1400" b="0" i="0">
                <a:solidFill>
                  <a:srgbClr val="1F2933"/>
                </a:solidFill>
                <a:latin typeface="Calibri"/>
              </a:rPr>
              <a:t>Log loss </a:t>
            </a:r>
            <a:r>
              <a:rPr sz="1400" b="0" i="0">
                <a:solidFill>
                  <a:srgbClr val="1F2933"/>
                </a:solidFill>
                <a:latin typeface="Calibri"/>
              </a:rPr>
              <a:t>0.0180 vs 0.0234</a:t>
            </a:r>
            <a:endParaRPr sz="1400" b="0" i="0">
              <a:solidFill>
                <a:srgbClr val="1F2933"/>
              </a:solidFill>
              <a:latin typeface="Calibri"/>
            </a:endParaRPr>
          </a:p>
          <a:p>
            <a:pPr algn="l">
              <a:spcAft>
                <a:spcPts val="100"/>
              </a:spcAft>
            </a:pPr>
            <a:r>
              <a:rPr sz="1400" b="1" i="0">
                <a:solidFill>
                  <a:srgbClr val="1F2933"/>
                </a:solidFill>
                <a:latin typeface="Calibri"/>
              </a:rPr>
              <a:t>Δ −0.0054 [−0.0084, −0.0017]</a:t>
            </a:r>
            <a:r>
              <a:rPr sz="1400" b="1" i="0">
                <a:solidFill>
                  <a:srgbClr val="0B7285"/>
                </a:solidFill>
                <a:latin typeface="Calibri"/>
              </a:rPr>
              <a:t>  → favors RF</a:t>
            </a:r>
            <a:endParaRPr sz="1400" b="1" i="0">
              <a:solidFill>
                <a:srgbClr val="0B7285"/>
              </a:solidFill>
              <a:latin typeface="Calibri"/>
            </a:endParaRPr>
          </a:p>
          <a:p>
            <a:pPr algn="l">
              <a:spcAft>
                <a:spcPts val="100"/>
              </a:spcAft>
            </a:pPr>
            <a:r>
              <a:rPr sz="1400" b="0" i="0">
                <a:solidFill>
                  <a:srgbClr val="1F2933"/>
                </a:solidFill>
                <a:latin typeface="Calibri"/>
              </a:rPr>
              <a:t>Brier </a:t>
            </a:r>
            <a:r>
              <a:rPr sz="1400" b="0" i="0">
                <a:solidFill>
                  <a:srgbClr val="1F2933"/>
                </a:solidFill>
                <a:latin typeface="Calibri"/>
              </a:rPr>
              <a:t>0.0047 vs 0.0037</a:t>
            </a:r>
            <a:endParaRPr sz="1400" b="0" i="0">
              <a:solidFill>
                <a:srgbClr val="1F2933"/>
              </a:solidFill>
              <a:latin typeface="Calibri"/>
            </a:endParaRPr>
          </a:p>
          <a:p>
            <a:pPr algn="l">
              <a:spcAft>
                <a:spcPts val="100"/>
              </a:spcAft>
            </a:pPr>
            <a:r>
              <a:rPr sz="1400" b="1" i="0">
                <a:solidFill>
                  <a:srgbClr val="1F2933"/>
                </a:solidFill>
                <a:latin typeface="Calibri"/>
              </a:rPr>
              <a:t>Δ +0.0010 [+0.0001, +0.0021]</a:t>
            </a:r>
            <a:r>
              <a:rPr sz="1400" b="1" i="0">
                <a:solidFill>
                  <a:srgbClr val="C2362E"/>
                </a:solidFill>
                <a:latin typeface="Calibri"/>
              </a:rPr>
              <a:t>  → favors market</a:t>
            </a:r>
            <a:endParaRPr sz="1400" b="1" i="0">
              <a:solidFill>
                <a:srgbClr val="C2362E"/>
              </a:solidFill>
              <a:latin typeface="Calibri"/>
            </a:endParaRPr>
          </a:p>
        </p:txBody>
      </p:sp>
      <p:sp>
        <p:nvSpPr>
          <p:cNvPr id="8" name="Logistic box"/>
          <p:cNvSpPr/>
          <p:nvPr/>
        </p:nvSpPr>
        <p:spPr>
          <a:xfrm>
            <a:off x="7315200" y="3657600"/>
            <a:ext cx="4297680" cy="1417320"/>
          </a:xfrm>
          <a:prstGeom prst="roundRect">
            <a:avLst>
              <a:gd name="adj" fmla="val 5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100"/>
              </a:spcAft>
            </a:pPr>
            <a:r>
              <a:rPr sz="1450" b="1" i="0">
                <a:solidFill>
                  <a:srgbClr val="14283D"/>
                </a:solidFill>
                <a:latin typeface="Calibri"/>
              </a:rPr>
              <a:t>Logistic, Δ log loss</a:t>
            </a:r>
            <a:endParaRPr sz="1450" b="1" i="0">
              <a:solidFill>
                <a:srgbClr val="14283D"/>
              </a:solidFill>
              <a:latin typeface="Calibri"/>
            </a:endParaRPr>
          </a:p>
          <a:p>
            <a:pPr algn="l">
              <a:spcAft>
                <a:spcPts val="100"/>
              </a:spcAft>
            </a:pPr>
            <a:r>
              <a:rPr sz="1350" b="0" i="0">
                <a:solidFill>
                  <a:srgbClr val="1F2933"/>
                </a:solidFill>
                <a:latin typeface="Calibri"/>
              </a:rPr>
              <a:t>24h change adds nothing: B − A +0.0064 (CI spans 0)</a:t>
            </a:r>
            <a:endParaRPr sz="1350" b="0" i="0">
              <a:solidFill>
                <a:srgbClr val="1F2933"/>
              </a:solidFill>
              <a:latin typeface="Calibri"/>
            </a:endParaRPr>
          </a:p>
          <a:p>
            <a:pPr algn="l">
              <a:spcAft>
                <a:spcPts val="100"/>
              </a:spcAft>
            </a:pPr>
            <a:r>
              <a:rPr sz="1350" b="0" i="0">
                <a:solidFill>
                  <a:srgbClr val="1F2933"/>
                </a:solidFill>
                <a:latin typeface="Calibri"/>
              </a:rPr>
              <a:t>Volume helps vs B: C − B −0.0061</a:t>
            </a:r>
            <a:endParaRPr sz="1350" b="0" i="0">
              <a:solidFill>
                <a:srgbClr val="1F2933"/>
              </a:solidFill>
              <a:latin typeface="Calibri"/>
            </a:endParaRPr>
          </a:p>
          <a:p>
            <a:pPr algn="l">
              <a:spcAft>
                <a:spcPts val="100"/>
              </a:spcAft>
            </a:pPr>
            <a:r>
              <a:rPr sz="1350" b="0" i="0">
                <a:solidFill>
                  <a:srgbClr val="1F2933"/>
                </a:solidFill>
                <a:latin typeface="Calibri"/>
              </a:rPr>
              <a:t>C is still worse than the market: +0.0095</a:t>
            </a:r>
            <a:endParaRPr sz="1350" b="0" i="0">
              <a:solidFill>
                <a:srgbClr val="1F2933"/>
              </a:solidFill>
              <a:latin typeface="Calibri"/>
            </a:endParaRPr>
          </a:p>
        </p:txBody>
      </p:sp>
      <p:sp>
        <p:nvSpPr>
          <p:cNvPr id="9" name="Probability cautions"/>
          <p:cNvSpPr txBox="1"/>
          <p:nvPr/>
        </p:nvSpPr>
        <p:spPr>
          <a:xfrm>
            <a:off x="548640" y="5257800"/>
            <a:ext cx="11064240" cy="1143000"/>
          </a:xfrm>
          <a:prstGeom prst="rect">
            <a:avLst/>
          </a:prstGeom>
          <a:noFill/>
        </p:spPr>
        <p:txBody>
          <a:bodyPr wrap="square" lIns="45720" tIns="27432" rIns="45720" bIns="27432" anchor="t">
            <a:spAutoFit/>
          </a:bodyPr>
          <a:lstStyle/>
          <a:p>
            <a:pPr marL="182880" indent="-182880" algn="l">
              <a:spcAft>
                <a:spcPts val="300"/>
              </a:spcAft>
              <a:buChar char="•"/>
            </a:pPr>
            <a:r>
              <a:rPr sz="1500" b="1" i="0">
                <a:solidFill>
                  <a:srgbClr val="C2362E"/>
                </a:solidFill>
                <a:latin typeface="Calibri"/>
              </a:rPr>
              <a:t>Read with care: </a:t>
            </a:r>
            <a:r>
              <a:rPr sz="1500" b="0" i="0">
                <a:solidFill>
                  <a:srgbClr val="1F2933"/>
                </a:solidFill>
                <a:latin typeface="Calibri"/>
              </a:rPr>
              <a:t>exploratory and hypothesis-generating; RF is outside the four-system design.</a:t>
            </a:r>
            <a:endParaRPr sz="1500" b="0" i="0">
              <a:solidFill>
                <a:srgbClr val="1F2933"/>
              </a:solidFill>
              <a:latin typeface="Calibri"/>
            </a:endParaRPr>
          </a:p>
          <a:p>
            <a:pPr marL="182880" indent="-182880" algn="l">
              <a:spcAft>
                <a:spcPts val="300"/>
              </a:spcAft>
              <a:buChar char="•"/>
            </a:pPr>
            <a:r>
              <a:rPr sz="1500" b="0" i="0">
                <a:solidFill>
                  <a:srgbClr val="1F2933"/>
                </a:solidFill>
                <a:latin typeface="Calibri"/>
              </a:rPr>
              <a:t>18 test weeks reused; no multiplicity adjustment; intervals are descriptive.</a:t>
            </a:r>
            <a:endParaRPr sz="1500" b="0" i="0">
              <a:solidFill>
                <a:srgbClr val="1F2933"/>
              </a:solidFill>
              <a:latin typeface="Calibri"/>
            </a:endParaRPr>
          </a:p>
          <a:p>
            <a:pPr marL="182880" indent="-182880" algn="l">
              <a:spcAft>
                <a:spcPts val="300"/>
              </a:spcAft>
              <a:buChar char="•"/>
            </a:pPr>
            <a:r>
              <a:rPr sz="1500" b="0" i="0">
                <a:solidFill>
                  <a:srgbClr val="1F2933"/>
                </a:solidFill>
                <a:latin typeface="Calibri"/>
              </a:rPr>
              <a:t>RF edge not seen on validation weeks (log-loss Δ −0.0111, CI spans 0).</a:t>
            </a:r>
            <a:endParaRPr sz="1500" b="0" i="0">
              <a:solidFill>
                <a:srgbClr val="1F2933"/>
              </a:solidFill>
              <a:latin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72h cutoff (exploratory): no clear gain</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Cutoff results table"/>
          <p:cNvGraphicFramePr>
            <a:graphicFrameLocks noGrp="1"/>
          </p:cNvGraphicFramePr>
          <p:nvPr/>
        </p:nvGraphicFramePr>
        <p:xfrm>
          <a:off x="548640" y="1280160"/>
          <a:ext cx="7452360" cy="3200400"/>
        </p:xfrm>
        <a:graphic>
          <a:graphicData uri="http://schemas.openxmlformats.org/drawingml/2006/table">
            <a:tbl>
              <a:tblPr firstRow="1">
                <a:tableStyleId>{5C22544A-7EE6-4342-B048-85BDC9FD1C3A}</a:tableStyleId>
              </a:tblPr>
              <a:tblGrid>
                <a:gridCol w="2697480"/>
                <a:gridCol w="731520"/>
                <a:gridCol w="868680"/>
                <a:gridCol w="777240"/>
                <a:gridCol w="731520"/>
                <a:gridCol w="868680"/>
                <a:gridCol w="777240"/>
              </a:tblGrid>
              <a:tr h="457200">
                <a:tc rowSpan="2">
                  <a:txBody>
                    <a:bodyPr wrap="square"/>
                    <a:lstStyle/>
                    <a:p>
                      <a:pPr algn="ctr"/>
                      <a:r>
                        <a:rPr sz="1400" b="1" i="0">
                          <a:solidFill>
                            <a:srgbClr val="FFFFFF"/>
                          </a:solidFill>
                          <a:latin typeface="Calibri"/>
                        </a:rPr>
                        <a:t>Test weeks (n = 18)</a:t>
                      </a:r>
                      <a:endParaRPr sz="1400" b="1" i="0">
                        <a:solidFill>
                          <a:srgbClr val="FFFFFF"/>
                        </a:solidFill>
                        <a:latin typeface="Calibri"/>
                      </a:endParaRPr>
                    </a:p>
                  </a:txBody>
                  <a:tcPr marL="64008" marR="64008" marT="22860" marB="22860" anchor="ctr">
                    <a:solidFill>
                      <a:srgbClr val="14283D"/>
                    </a:solidFill>
                  </a:tcPr>
                </a:tc>
                <a:tc gridSpan="3">
                  <a:txBody>
                    <a:bodyPr wrap="square"/>
                    <a:lstStyle/>
                    <a:p>
                      <a:pPr algn="ctr"/>
                      <a:r>
                        <a:rPr sz="1400" b="1" i="0">
                          <a:solidFill>
                            <a:srgbClr val="FFFFFF"/>
                          </a:solidFill>
                          <a:latin typeface="Calibri"/>
                        </a:rPr>
                        <a:t>24h cutoff</a:t>
                      </a:r>
                      <a:endParaRPr sz="1400" b="1" i="0">
                        <a:solidFill>
                          <a:srgbClr val="FFFFFF"/>
                        </a:solidFill>
                        <a:latin typeface="Calibri"/>
                      </a:endParaRPr>
                    </a:p>
                  </a:txBody>
                  <a:tcPr marL="64008" marR="64008" marT="22860" marB="22860" anchor="ctr">
                    <a:solidFill>
                      <a:srgbClr val="14283D"/>
                    </a:solidFill>
                  </a:tcPr>
                </a:tc>
                <a:tc hMerge="1">
                  <a:tcPr marL="64008" marR="64008" marT="22860" marB="22860" anchor="ctr">
                    <a:solidFill>
                      <a:srgbClr val="14283D"/>
                    </a:solidFill>
                  </a:tcPr>
                </a:tc>
                <a:tc hMerge="1">
                  <a:tcPr marL="64008" marR="64008" marT="22860" marB="22860" anchor="ctr">
                    <a:solidFill>
                      <a:srgbClr val="14283D"/>
                    </a:solidFill>
                  </a:tcPr>
                </a:tc>
                <a:tc gridSpan="3">
                  <a:txBody>
                    <a:bodyPr wrap="square"/>
                    <a:lstStyle/>
                    <a:p>
                      <a:pPr algn="ctr"/>
                      <a:r>
                        <a:rPr sz="1400" b="1" i="0">
                          <a:solidFill>
                            <a:srgbClr val="FFFFFF"/>
                          </a:solidFill>
                          <a:latin typeface="Calibri"/>
                        </a:rPr>
                        <a:t>72h cutoff</a:t>
                      </a:r>
                      <a:endParaRPr sz="1400" b="1" i="0">
                        <a:solidFill>
                          <a:srgbClr val="FFFFFF"/>
                        </a:solidFill>
                        <a:latin typeface="Calibri"/>
                      </a:endParaRPr>
                    </a:p>
                  </a:txBody>
                  <a:tcPr marL="64008" marR="64008" marT="22860" marB="22860" anchor="ctr">
                    <a:solidFill>
                      <a:srgbClr val="14283D"/>
                    </a:solidFill>
                  </a:tcPr>
                </a:tc>
                <a:tc hMerge="1">
                  <a:tcPr marL="64008" marR="64008" marT="22860" marB="22860" anchor="ctr">
                    <a:solidFill>
                      <a:srgbClr val="14283D"/>
                    </a:solidFill>
                  </a:tcPr>
                </a:tc>
                <a:tc hMerge="1">
                  <a:tcPr marL="64008" marR="64008" marT="22860" marB="22860" anchor="ctr">
                    <a:solidFill>
                      <a:srgbClr val="14283D"/>
                    </a:solidFill>
                  </a:tcPr>
                </a:tc>
              </a:tr>
              <a:tr h="457200">
                <a:tc vMerge="1">
                  <a:tcPr marL="64008" marR="64008" marT="22860" marB="22860" anchor="ctr">
                    <a:solidFill>
                      <a:srgbClr val="14283D"/>
                    </a:solidFill>
                  </a:tcPr>
                </a:tc>
                <a:tc>
                  <a:txBody>
                    <a:bodyPr wrap="square"/>
                    <a:lstStyle/>
                    <a:p>
                      <a:pPr algn="ctr"/>
                      <a:r>
                        <a:rPr sz="1400" b="1" i="0">
                          <a:solidFill>
                            <a:srgbClr val="FFFFFF"/>
                          </a:solidFill>
                          <a:latin typeface="Calibri"/>
                        </a:rPr>
                        <a:t>Top-1</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Log loss</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Brier</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Top-1</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Log loss</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Brier</a:t>
                      </a:r>
                      <a:endParaRPr sz="1400" b="1" i="0">
                        <a:solidFill>
                          <a:srgbClr val="FFFFFF"/>
                        </a:solidFill>
                        <a:latin typeface="Calibri"/>
                      </a:endParaRPr>
                    </a:p>
                  </a:txBody>
                  <a:tcPr marL="64008" marR="64008" marT="22860" marB="22860" anchor="ctr">
                    <a:solidFill>
                      <a:srgbClr val="14283D"/>
                    </a:solidFill>
                  </a:tcPr>
                </a:tc>
              </a:tr>
              <a:tr h="457200">
                <a:tc>
                  <a:txBody>
                    <a:bodyPr wrap="square"/>
                    <a:lstStyle/>
                    <a:p>
                      <a:pPr algn="l"/>
                      <a:r>
                        <a:rPr sz="1400" b="0" i="0">
                          <a:solidFill>
                            <a:srgbClr val="1F2933"/>
                          </a:solidFill>
                          <a:latin typeface="Calibri"/>
                        </a:rPr>
                        <a:t>Market leader (highest price)</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18/18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0.0234</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0.0037</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15/18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0.1002</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0.0271</a:t>
                      </a:r>
                      <a:endParaRPr sz="1400" b="0" i="0">
                        <a:solidFill>
                          <a:srgbClr val="1F2933"/>
                        </a:solidFill>
                        <a:latin typeface="Calibri"/>
                      </a:endParaRPr>
                    </a:p>
                  </a:txBody>
                  <a:tcPr marL="64008" marR="64008" marT="22860" marB="22860" anchor="ctr">
                    <a:solidFill>
                      <a:srgbClr val="FFFFFF"/>
                    </a:solidFill>
                  </a:tcPr>
                </a:tc>
              </a:tr>
              <a:tr h="457200">
                <a:tc>
                  <a:txBody>
                    <a:bodyPr wrap="square"/>
                    <a:lstStyle/>
                    <a:p>
                      <a:pPr algn="l"/>
                      <a:r>
                        <a:rPr sz="1400" b="0" i="0">
                          <a:solidFill>
                            <a:srgbClr val="1F2933"/>
                          </a:solidFill>
                          <a:latin typeface="Calibri"/>
                        </a:rPr>
                        <a:t>A: price</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18/18</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0.0325</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0.0053</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15/18</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0.1145</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0.0285</a:t>
                      </a:r>
                      <a:endParaRPr sz="1400" b="0" i="0">
                        <a:solidFill>
                          <a:srgbClr val="1F2933"/>
                        </a:solidFill>
                        <a:latin typeface="Calibri"/>
                      </a:endParaRPr>
                    </a:p>
                  </a:txBody>
                  <a:tcPr marL="64008" marR="64008" marT="22860" marB="22860" anchor="ctr">
                    <a:solidFill>
                      <a:srgbClr val="F1F4F7"/>
                    </a:solidFill>
                  </a:tcPr>
                </a:tc>
              </a:tr>
              <a:tr h="457200">
                <a:tc>
                  <a:txBody>
                    <a:bodyPr wrap="square"/>
                    <a:lstStyle/>
                    <a:p>
                      <a:pPr algn="l"/>
                      <a:r>
                        <a:rPr sz="1400" b="0" i="0">
                          <a:solidFill>
                            <a:srgbClr val="1F2933"/>
                          </a:solidFill>
                          <a:latin typeface="Calibri"/>
                        </a:rPr>
                        <a:t>B: + 24h change</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17/18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0.0390</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0.0083</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14/18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0.1153</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0.0295</a:t>
                      </a:r>
                      <a:endParaRPr sz="1400" b="0" i="0">
                        <a:solidFill>
                          <a:srgbClr val="1F2933"/>
                        </a:solidFill>
                        <a:latin typeface="Calibri"/>
                      </a:endParaRPr>
                    </a:p>
                  </a:txBody>
                  <a:tcPr marL="64008" marR="64008" marT="22860" marB="22860" anchor="ctr">
                    <a:solidFill>
                      <a:srgbClr val="FFFFFF"/>
                    </a:solidFill>
                  </a:tcPr>
                </a:tc>
              </a:tr>
              <a:tr h="457200">
                <a:tc>
                  <a:txBody>
                    <a:bodyPr wrap="square"/>
                    <a:lstStyle/>
                    <a:p>
                      <a:pPr algn="l"/>
                      <a:r>
                        <a:rPr sz="1400" b="0" i="0">
                          <a:solidFill>
                            <a:srgbClr val="1F2933"/>
                          </a:solidFill>
                          <a:latin typeface="Calibri"/>
                        </a:rPr>
                        <a:t>C: + log volume</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17/18</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0.0329</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0.0069</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14/18</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0.1069</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0.0280</a:t>
                      </a:r>
                      <a:endParaRPr sz="1400" b="0" i="0">
                        <a:solidFill>
                          <a:srgbClr val="1F2933"/>
                        </a:solidFill>
                        <a:latin typeface="Calibri"/>
                      </a:endParaRPr>
                    </a:p>
                  </a:txBody>
                  <a:tcPr marL="64008" marR="64008" marT="22860" marB="22860" anchor="ctr">
                    <a:solidFill>
                      <a:srgbClr val="F1F4F7"/>
                    </a:solidFill>
                  </a:tcPr>
                </a:tc>
              </a:tr>
              <a:tr h="457200">
                <a:tc>
                  <a:txBody>
                    <a:bodyPr wrap="square"/>
                    <a:lstStyle/>
                    <a:p>
                      <a:pPr algn="l"/>
                      <a:r>
                        <a:rPr sz="1400" b="0" i="0">
                          <a:solidFill>
                            <a:srgbClr val="1F2933"/>
                          </a:solidFill>
                          <a:latin typeface="Calibri"/>
                        </a:rPr>
                        <a:t>RF (exploratory)</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18/18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0.0180</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0.0047</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15/18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0.0973</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0.0273</a:t>
                      </a:r>
                      <a:endParaRPr sz="1400" b="0" i="0">
                        <a:solidFill>
                          <a:srgbClr val="1F2933"/>
                        </a:solidFill>
                        <a:latin typeface="Calibri"/>
                      </a:endParaRPr>
                    </a:p>
                  </a:txBody>
                  <a:tcPr marL="64008" marR="64008" marT="22860" marB="22860" anchor="ctr">
                    <a:solidFill>
                      <a:srgbClr val="FFFFFF"/>
                    </a:solidFill>
                  </a:tcPr>
                </a:tc>
              </a:tr>
            </a:tbl>
          </a:graphicData>
        </a:graphic>
      </p:graphicFrame>
      <p:sp>
        <p:nvSpPr>
          <p:cNvPr id="6" name="72h card 1"/>
          <p:cNvSpPr/>
          <p:nvPr/>
        </p:nvSpPr>
        <p:spPr>
          <a:xfrm>
            <a:off x="8229600" y="1280160"/>
            <a:ext cx="3383280" cy="100584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200" b="1" i="0">
                <a:solidFill>
                  <a:srgbClr val="14283D"/>
                </a:solidFill>
                <a:latin typeface="Calibri"/>
              </a:rPr>
              <a:t>67/90</a:t>
            </a:r>
            <a:endParaRPr sz="2200" b="1" i="0">
              <a:solidFill>
                <a:srgbClr val="14283D"/>
              </a:solidFill>
              <a:latin typeface="Calibri"/>
            </a:endParaRPr>
          </a:p>
          <a:p>
            <a:pPr algn="ctr">
              <a:spcAft>
                <a:spcPts val="100"/>
              </a:spcAft>
            </a:pPr>
            <a:r>
              <a:rPr sz="1300" b="0" i="0">
                <a:solidFill>
                  <a:srgbClr val="1F2933"/>
                </a:solidFill>
                <a:latin typeface="Calibri"/>
              </a:rPr>
              <a:t>weeks won by the highest price at 72h (77/90 at 24h)</a:t>
            </a:r>
            <a:endParaRPr sz="1300" b="0" i="0">
              <a:solidFill>
                <a:srgbClr val="1F2933"/>
              </a:solidFill>
              <a:latin typeface="Calibri"/>
            </a:endParaRPr>
          </a:p>
        </p:txBody>
      </p:sp>
      <p:sp>
        <p:nvSpPr>
          <p:cNvPr id="7" name="72h card 2"/>
          <p:cNvSpPr/>
          <p:nvPr/>
        </p:nvSpPr>
        <p:spPr>
          <a:xfrm>
            <a:off x="8229600" y="2377439"/>
            <a:ext cx="3383280" cy="100584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2200" b="1" i="0">
                <a:solidFill>
                  <a:srgbClr val="14283D"/>
                </a:solidFill>
                <a:latin typeface="Calibri"/>
              </a:rPr>
              <a:t>5 vs 3</a:t>
            </a:r>
            <a:endParaRPr sz="2200" b="1" i="0">
              <a:solidFill>
                <a:srgbClr val="14283D"/>
              </a:solidFill>
              <a:latin typeface="Calibri"/>
            </a:endParaRPr>
          </a:p>
          <a:p>
            <a:pPr algn="ctr">
              <a:spcAft>
                <a:spcPts val="100"/>
              </a:spcAft>
            </a:pPr>
            <a:r>
              <a:rPr sz="1300" b="0" i="0">
                <a:solidFill>
                  <a:srgbClr val="1F2933"/>
                </a:solidFill>
                <a:latin typeface="Calibri"/>
              </a:rPr>
              <a:t>weeks with the winner not yet listed (72h vs 24h); all training</a:t>
            </a:r>
            <a:endParaRPr sz="1300" b="0" i="0">
              <a:solidFill>
                <a:srgbClr val="1F2933"/>
              </a:solidFill>
              <a:latin typeface="Calibri"/>
            </a:endParaRPr>
          </a:p>
        </p:txBody>
      </p:sp>
      <p:sp>
        <p:nvSpPr>
          <p:cNvPr id="8" name="72h card 3"/>
          <p:cNvSpPr/>
          <p:nvPr/>
        </p:nvSpPr>
        <p:spPr>
          <a:xfrm>
            <a:off x="8229600" y="3474720"/>
            <a:ext cx="3383280" cy="1005840"/>
          </a:xfrm>
          <a:prstGeom prst="roundRect">
            <a:avLst>
              <a:gd name="adj" fmla="val 6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ctr">
              <a:spcAft>
                <a:spcPts val="100"/>
              </a:spcAft>
            </a:pPr>
            <a:r>
              <a:rPr sz="1700" b="1" i="0">
                <a:solidFill>
                  <a:srgbClr val="14283D"/>
                </a:solidFill>
                <a:latin typeface="Calibri"/>
              </a:rPr>
              <a:t>−0.0029 [−0.0177, +0.0098]</a:t>
            </a:r>
            <a:endParaRPr sz="1700" b="1" i="0">
              <a:solidFill>
                <a:srgbClr val="14283D"/>
              </a:solidFill>
              <a:latin typeface="Calibri"/>
            </a:endParaRPr>
          </a:p>
          <a:p>
            <a:pPr algn="ctr">
              <a:spcAft>
                <a:spcPts val="100"/>
              </a:spcAft>
            </a:pPr>
            <a:r>
              <a:rPr sz="1300" b="0" i="0">
                <a:solidFill>
                  <a:srgbClr val="1F2933"/>
                </a:solidFill>
                <a:latin typeface="Calibri"/>
              </a:rPr>
              <a:t>RF − market log loss at 72h: the interval spans 0</a:t>
            </a:r>
            <a:endParaRPr sz="1300" b="0" i="0">
              <a:solidFill>
                <a:srgbClr val="1F2933"/>
              </a:solidFill>
              <a:latin typeface="Calibri"/>
            </a:endParaRPr>
          </a:p>
        </p:txBody>
      </p:sp>
      <p:sp>
        <p:nvSpPr>
          <p:cNvPr id="9" name="72h takeaway"/>
          <p:cNvSpPr/>
          <p:nvPr/>
        </p:nvSpPr>
        <p:spPr>
          <a:xfrm>
            <a:off x="548640" y="4754880"/>
            <a:ext cx="11064240" cy="1554480"/>
          </a:xfrm>
          <a:prstGeom prst="roundRect">
            <a:avLst>
              <a:gd name="adj" fmla="val 5000"/>
            </a:avLst>
          </a:prstGeom>
          <a:solidFill>
            <a:srgbClr val="14283D"/>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300"/>
              </a:spcAft>
            </a:pPr>
            <a:r>
              <a:rPr sz="1900" b="1" i="0">
                <a:solidFill>
                  <a:srgbClr val="F2C14E"/>
                </a:solidFill>
                <a:latin typeface="Calibri"/>
              </a:rPr>
              <a:t>No top-1 gain: </a:t>
            </a:r>
            <a:r>
              <a:rPr sz="1800" b="0" i="0">
                <a:solidFill>
                  <a:srgbClr val="FFFFFF"/>
                </a:solidFill>
                <a:latin typeface="Calibri"/>
              </a:rPr>
              <a:t>RF and the market are both 15/18 (Wilson 95% interval 60.8%–94.2%). RF's log loss is slightly lower, but its interval spans 0. Exploratory, 18 previously viewed test weeks; calibration plots and the coverage table are in the appendix.</a:t>
            </a:r>
            <a:endParaRPr sz="1800" b="0" i="0">
              <a:solidFill>
                <a:srgbClr val="FFFFFF"/>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Conclusion: no consistent case for replacing the market price</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Answer banner"/>
          <p:cNvSpPr/>
          <p:nvPr/>
        </p:nvSpPr>
        <p:spPr>
          <a:xfrm>
            <a:off x="548640" y="1234440"/>
            <a:ext cx="11064240" cy="1280160"/>
          </a:xfrm>
          <a:prstGeom prst="roundRect">
            <a:avLst>
              <a:gd name="adj" fmla="val 5000"/>
            </a:avLst>
          </a:prstGeom>
          <a:solidFill>
            <a:srgbClr val="14283D"/>
          </a:solidFill>
          <a:ln>
            <a:noFill/>
          </a:ln>
          <a:effectLst/>
        </p:spPr>
        <p:style>
          <a:lnRef idx="1">
            <a:schemeClr val="accent1"/>
          </a:lnRef>
          <a:fillRef idx="3">
            <a:schemeClr val="accent1"/>
          </a:fillRef>
          <a:effectRef idx="0">
            <a:schemeClr val="accent1"/>
          </a:effectRef>
          <a:fontRef idx="minor">
            <a:schemeClr val="lt1"/>
          </a:fontRef>
        </p:style>
        <p:txBody>
          <a:bodyPr wrap="square" lIns="73152" tIns="36576" rIns="73152" bIns="36576" rtlCol="0" anchor="ctr"/>
          <a:lstStyle/>
          <a:p>
            <a:pPr algn="l">
              <a:spcAft>
                <a:spcPts val="500"/>
              </a:spcAft>
            </a:pPr>
            <a:r>
              <a:rPr sz="2200" b="1" i="0">
                <a:solidFill>
                  <a:srgbClr val="FFFFFF"/>
                </a:solidFill>
                <a:latin typeface="Calibri"/>
              </a:rPr>
              <a:t>No consistent evidence that 24h price change or volume improves on the market price.</a:t>
            </a:r>
            <a:endParaRPr sz="2200" b="1" i="0">
              <a:solidFill>
                <a:srgbClr val="FFFFFF"/>
              </a:solidFill>
              <a:latin typeface="Calibri"/>
            </a:endParaRPr>
          </a:p>
          <a:p>
            <a:pPr algn="l">
              <a:spcAft>
                <a:spcPts val="500"/>
              </a:spcAft>
            </a:pPr>
            <a:r>
              <a:rPr sz="1700" b="0" i="0">
                <a:solidFill>
                  <a:srgbClr val="DCE6F0"/>
                </a:solidFill>
                <a:latin typeface="Calibri"/>
              </a:rPr>
              <a:t>Primary: no accuracy gain at 24h. Exploratory: RF lowers log loss but worsens Brier; confirm on new weeks.</a:t>
            </a:r>
            <a:endParaRPr sz="1700" b="0" i="0">
              <a:solidFill>
                <a:srgbClr val="DCE6F0"/>
              </a:solidFill>
              <a:latin typeface="Calibri"/>
            </a:endParaRPr>
          </a:p>
        </p:txBody>
      </p:sp>
      <p:sp>
        <p:nvSpPr>
          <p:cNvPr id="6" name="Conclusion card 1"/>
          <p:cNvSpPr/>
          <p:nvPr/>
        </p:nvSpPr>
        <p:spPr>
          <a:xfrm>
            <a:off x="548640" y="2651760"/>
            <a:ext cx="3611880" cy="3200400"/>
          </a:xfrm>
          <a:prstGeom prst="roundRect">
            <a:avLst>
              <a:gd name="adj" fmla="val 3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685800" y="2743200"/>
            <a:ext cx="3337560" cy="411480"/>
          </a:xfrm>
          <a:prstGeom prst="rect">
            <a:avLst/>
          </a:prstGeom>
          <a:noFill/>
        </p:spPr>
        <p:txBody>
          <a:bodyPr wrap="square" lIns="45720" tIns="27432" rIns="45720" bIns="27432" anchor="t">
            <a:spAutoFit/>
          </a:bodyPr>
          <a:lstStyle/>
          <a:p>
            <a:pPr algn="l">
              <a:spcAft>
                <a:spcPts val="400"/>
              </a:spcAft>
            </a:pPr>
            <a:r>
              <a:rPr sz="2000" b="1" i="0">
                <a:solidFill>
                  <a:srgbClr val="14283D"/>
                </a:solidFill>
                <a:latin typeface="Cambria"/>
              </a:rPr>
              <a:t>Winner selection</a:t>
            </a:r>
            <a:endParaRPr sz="2000" b="1" i="0">
              <a:solidFill>
                <a:srgbClr val="14283D"/>
              </a:solidFill>
              <a:latin typeface="Cambria"/>
            </a:endParaRPr>
          </a:p>
        </p:txBody>
      </p:sp>
      <p:sp>
        <p:nvSpPr>
          <p:cNvPr id="8" name="TextBox 7"/>
          <p:cNvSpPr txBox="1"/>
          <p:nvPr/>
        </p:nvSpPr>
        <p:spPr>
          <a:xfrm>
            <a:off x="685800" y="3218688"/>
            <a:ext cx="3337560" cy="2606040"/>
          </a:xfrm>
          <a:prstGeom prst="rect">
            <a:avLst/>
          </a:prstGeom>
          <a:noFill/>
        </p:spPr>
        <p:txBody>
          <a:bodyPr wrap="square" lIns="45720" tIns="27432" rIns="45720" bIns="27432" anchor="t">
            <a:spAutoFit/>
          </a:bodyPr>
          <a:lstStyle/>
          <a:p>
            <a:pPr marL="182880" indent="-182880" algn="l">
              <a:spcAft>
                <a:spcPts val="900"/>
              </a:spcAft>
              <a:buChar char="•"/>
            </a:pPr>
            <a:r>
              <a:rPr sz="1700" b="0" i="0">
                <a:solidFill>
                  <a:srgbClr val="1F2933"/>
                </a:solidFill>
                <a:latin typeface="Calibri"/>
              </a:rPr>
              <a:t>Highest price: 18/18 on test, 77/90 over all 90 weeks</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No model beat it; B and C: 17/18</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Top-1 cannot separate the methods at 18/18</a:t>
            </a:r>
            <a:endParaRPr sz="1700" b="0" i="0">
              <a:solidFill>
                <a:srgbClr val="1F2933"/>
              </a:solidFill>
              <a:latin typeface="Calibri"/>
            </a:endParaRPr>
          </a:p>
        </p:txBody>
      </p:sp>
      <p:sp>
        <p:nvSpPr>
          <p:cNvPr id="9" name="Conclusion card 2"/>
          <p:cNvSpPr/>
          <p:nvPr/>
        </p:nvSpPr>
        <p:spPr>
          <a:xfrm>
            <a:off x="4270248" y="2651760"/>
            <a:ext cx="3611880" cy="3200400"/>
          </a:xfrm>
          <a:prstGeom prst="roundRect">
            <a:avLst>
              <a:gd name="adj" fmla="val 3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407408" y="2743200"/>
            <a:ext cx="3337560" cy="411480"/>
          </a:xfrm>
          <a:prstGeom prst="rect">
            <a:avLst/>
          </a:prstGeom>
          <a:noFill/>
        </p:spPr>
        <p:txBody>
          <a:bodyPr wrap="square" lIns="45720" tIns="27432" rIns="45720" bIns="27432" anchor="t">
            <a:spAutoFit/>
          </a:bodyPr>
          <a:lstStyle/>
          <a:p>
            <a:pPr algn="l">
              <a:spcAft>
                <a:spcPts val="400"/>
              </a:spcAft>
            </a:pPr>
            <a:r>
              <a:rPr sz="2000" b="1" i="0">
                <a:solidFill>
                  <a:srgbClr val="14283D"/>
                </a:solidFill>
                <a:latin typeface="Cambria"/>
              </a:rPr>
              <a:t>Probability prediction</a:t>
            </a:r>
            <a:endParaRPr sz="2000" b="1" i="0">
              <a:solidFill>
                <a:srgbClr val="14283D"/>
              </a:solidFill>
              <a:latin typeface="Cambria"/>
            </a:endParaRPr>
          </a:p>
        </p:txBody>
      </p:sp>
      <p:sp>
        <p:nvSpPr>
          <p:cNvPr id="11" name="TextBox 10"/>
          <p:cNvSpPr txBox="1"/>
          <p:nvPr/>
        </p:nvSpPr>
        <p:spPr>
          <a:xfrm>
            <a:off x="4407408" y="3218688"/>
            <a:ext cx="3337560" cy="2606040"/>
          </a:xfrm>
          <a:prstGeom prst="rect">
            <a:avLst/>
          </a:prstGeom>
          <a:noFill/>
        </p:spPr>
        <p:txBody>
          <a:bodyPr wrap="square" lIns="45720" tIns="27432" rIns="45720" bIns="27432" anchor="t">
            <a:spAutoFit/>
          </a:bodyPr>
          <a:lstStyle/>
          <a:p>
            <a:pPr marL="182880" indent="-182880" algn="l">
              <a:spcAft>
                <a:spcPts val="900"/>
              </a:spcAft>
              <a:buChar char="•"/>
            </a:pPr>
            <a:r>
              <a:rPr sz="1700" b="0" i="0">
                <a:solidFill>
                  <a:srgbClr val="1F2933"/>
                </a:solidFill>
                <a:latin typeface="Calibri"/>
              </a:rPr>
              <a:t>Logistic: 24h change adds nothing; volume helps vs B, but C stays worse than the market</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RF vs market: log loss −0.0054 (better), Brier +0.0010 (worse)</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Metrics disagree: no method dominates</a:t>
            </a:r>
            <a:endParaRPr sz="1700" b="0" i="0">
              <a:solidFill>
                <a:srgbClr val="1F2933"/>
              </a:solidFill>
              <a:latin typeface="Calibri"/>
            </a:endParaRPr>
          </a:p>
        </p:txBody>
      </p:sp>
      <p:sp>
        <p:nvSpPr>
          <p:cNvPr id="12" name="Conclusion card 3"/>
          <p:cNvSpPr/>
          <p:nvPr/>
        </p:nvSpPr>
        <p:spPr>
          <a:xfrm>
            <a:off x="7991856" y="2651760"/>
            <a:ext cx="3611880" cy="3200400"/>
          </a:xfrm>
          <a:prstGeom prst="roundRect">
            <a:avLst>
              <a:gd name="adj" fmla="val 3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8129016" y="2743200"/>
            <a:ext cx="3337560" cy="411480"/>
          </a:xfrm>
          <a:prstGeom prst="rect">
            <a:avLst/>
          </a:prstGeom>
          <a:noFill/>
        </p:spPr>
        <p:txBody>
          <a:bodyPr wrap="square" lIns="45720" tIns="27432" rIns="45720" bIns="27432" anchor="t">
            <a:spAutoFit/>
          </a:bodyPr>
          <a:lstStyle/>
          <a:p>
            <a:pPr algn="l">
              <a:spcAft>
                <a:spcPts val="400"/>
              </a:spcAft>
            </a:pPr>
            <a:r>
              <a:rPr sz="2000" b="1" i="0">
                <a:solidFill>
                  <a:srgbClr val="14283D"/>
                </a:solidFill>
                <a:latin typeface="Cambria"/>
              </a:rPr>
              <a:t>Robustness checks</a:t>
            </a:r>
            <a:endParaRPr sz="2000" b="1" i="0">
              <a:solidFill>
                <a:srgbClr val="14283D"/>
              </a:solidFill>
              <a:latin typeface="Cambria"/>
            </a:endParaRPr>
          </a:p>
        </p:txBody>
      </p:sp>
      <p:sp>
        <p:nvSpPr>
          <p:cNvPr id="14" name="TextBox 13"/>
          <p:cNvSpPr txBox="1"/>
          <p:nvPr/>
        </p:nvSpPr>
        <p:spPr>
          <a:xfrm>
            <a:off x="8129016" y="3218688"/>
            <a:ext cx="3337560" cy="2606040"/>
          </a:xfrm>
          <a:prstGeom prst="rect">
            <a:avLst/>
          </a:prstGeom>
          <a:noFill/>
        </p:spPr>
        <p:txBody>
          <a:bodyPr wrap="square" lIns="45720" tIns="27432" rIns="45720" bIns="27432" anchor="t">
            <a:spAutoFit/>
          </a:bodyPr>
          <a:lstStyle/>
          <a:p>
            <a:pPr marL="182880" indent="-182880" algn="l">
              <a:spcAft>
                <a:spcPts val="900"/>
              </a:spcAft>
              <a:buChar char="•"/>
            </a:pPr>
            <a:r>
              <a:rPr sz="1700" b="0" i="0">
                <a:solidFill>
                  <a:srgbClr val="1F2933"/>
                </a:solidFill>
                <a:latin typeface="Calibri"/>
              </a:rPr>
              <a:t>RF edge not seen on validation weeks (log-loss Δ −0.0111, CI spans 0)</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72h: no top-1 gain; intervals span 0</a:t>
            </a:r>
            <a:endParaRPr sz="1700" b="0" i="0">
              <a:solidFill>
                <a:srgbClr val="1F2933"/>
              </a:solidFill>
              <a:latin typeface="Calibri"/>
            </a:endParaRPr>
          </a:p>
          <a:p>
            <a:pPr marL="182880" indent="-182880" algn="l">
              <a:spcAft>
                <a:spcPts val="900"/>
              </a:spcAft>
              <a:buChar char="•"/>
            </a:pPr>
            <a:r>
              <a:rPr sz="1700" b="0" i="0">
                <a:solidFill>
                  <a:srgbClr val="1F2933"/>
                </a:solidFill>
                <a:latin typeface="Calibri"/>
              </a:rPr>
              <a:t>Calibration plots: diagnostic only</a:t>
            </a:r>
            <a:endParaRPr sz="1700" b="0" i="0">
              <a:solidFill>
                <a:srgbClr val="1F2933"/>
              </a:solidFill>
              <a:latin typeface="Calibri"/>
            </a:endParaRPr>
          </a:p>
        </p:txBody>
      </p:sp>
      <p:sp>
        <p:nvSpPr>
          <p:cNvPr id="15" name="Not claimed"/>
          <p:cNvSpPr txBox="1"/>
          <p:nvPr/>
        </p:nvSpPr>
        <p:spPr>
          <a:xfrm>
            <a:off x="548640" y="5897880"/>
            <a:ext cx="11064240" cy="502920"/>
          </a:xfrm>
          <a:prstGeom prst="rect">
            <a:avLst/>
          </a:prstGeom>
          <a:noFill/>
        </p:spPr>
        <p:txBody>
          <a:bodyPr wrap="square" lIns="45720" tIns="27432" rIns="45720" bIns="27432" anchor="t">
            <a:spAutoFit/>
          </a:bodyPr>
          <a:lstStyle/>
          <a:p>
            <a:pPr algn="l">
              <a:spcAft>
                <a:spcPts val="400"/>
              </a:spcAft>
            </a:pPr>
            <a:r>
              <a:rPr sz="1300" b="0" i="0">
                <a:solidFill>
                  <a:srgbClr val="5F6B7A"/>
                </a:solidFill>
                <a:latin typeface="Calibri"/>
              </a:rPr>
              <a:t>Not claimed: causes, trader identities or profit. Exploratory results are hypothesis-generating, not confirmatory.</a:t>
            </a:r>
            <a:endParaRPr sz="1300" b="0" i="0">
              <a:solidFill>
                <a:srgbClr val="5F6B7A"/>
              </a:solidFill>
              <a:latin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Limits, and one clean next step</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Limits card"/>
          <p:cNvSpPr/>
          <p:nvPr/>
        </p:nvSpPr>
        <p:spPr>
          <a:xfrm>
            <a:off x="548640" y="1280160"/>
            <a:ext cx="6949440" cy="4572000"/>
          </a:xfrm>
          <a:prstGeom prst="roundRect">
            <a:avLst>
              <a:gd name="adj" fmla="val 3000"/>
            </a:avLst>
          </a:prstGeom>
          <a:solidFill>
            <a:srgbClr val="F1F4F7"/>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731520" y="1371600"/>
            <a:ext cx="6583680" cy="411480"/>
          </a:xfrm>
          <a:prstGeom prst="rect">
            <a:avLst/>
          </a:prstGeom>
          <a:noFill/>
        </p:spPr>
        <p:txBody>
          <a:bodyPr wrap="square" lIns="45720" tIns="27432" rIns="45720" bIns="27432" anchor="t">
            <a:spAutoFit/>
          </a:bodyPr>
          <a:lstStyle/>
          <a:p>
            <a:pPr algn="l">
              <a:spcAft>
                <a:spcPts val="400"/>
              </a:spcAft>
            </a:pPr>
            <a:r>
              <a:rPr sz="2000" b="1" i="0">
                <a:solidFill>
                  <a:srgbClr val="C2362E"/>
                </a:solidFill>
                <a:latin typeface="Cambria"/>
              </a:rPr>
              <a:t>Limits</a:t>
            </a:r>
            <a:endParaRPr sz="2000" b="1" i="0">
              <a:solidFill>
                <a:srgbClr val="C2362E"/>
              </a:solidFill>
              <a:latin typeface="Cambria"/>
            </a:endParaRPr>
          </a:p>
        </p:txBody>
      </p:sp>
      <p:sp>
        <p:nvSpPr>
          <p:cNvPr id="7" name="Limits list"/>
          <p:cNvSpPr txBox="1"/>
          <p:nvPr/>
        </p:nvSpPr>
        <p:spPr>
          <a:xfrm>
            <a:off x="731520" y="1874519"/>
            <a:ext cx="6583680" cy="3931920"/>
          </a:xfrm>
          <a:prstGeom prst="rect">
            <a:avLst/>
          </a:prstGeom>
          <a:noFill/>
        </p:spPr>
        <p:txBody>
          <a:bodyPr wrap="square" lIns="45720" tIns="27432" rIns="45720" bIns="27432" anchor="t">
            <a:spAutoFit/>
          </a:bodyPr>
          <a:lstStyle/>
          <a:p>
            <a:pPr marL="182880" indent="-182880" algn="l">
              <a:spcAft>
                <a:spcPts val="1000"/>
              </a:spcAft>
              <a:buChar char="•"/>
            </a:pPr>
            <a:r>
              <a:rPr sz="1700" b="1" i="0">
                <a:solidFill>
                  <a:srgbClr val="1F2933"/>
                </a:solidFill>
                <a:latin typeface="Calibri"/>
              </a:rPr>
              <a:t>Reused test weeks: </a:t>
            </a:r>
            <a:r>
              <a:rPr sz="1700" b="0" i="0">
                <a:solidFill>
                  <a:srgbClr val="1F2933"/>
                </a:solidFill>
                <a:latin typeface="Calibri"/>
              </a:rPr>
              <a:t>the 18 test weeks were viewed in an earlier version.</a:t>
            </a:r>
            <a:endParaRPr sz="1700" b="0" i="0">
              <a:solidFill>
                <a:srgbClr val="1F2933"/>
              </a:solidFill>
              <a:latin typeface="Calibri"/>
            </a:endParaRPr>
          </a:p>
          <a:p>
            <a:pPr marL="182880" indent="-182880" algn="l">
              <a:spcAft>
                <a:spcPts val="1000"/>
              </a:spcAft>
              <a:buChar char="•"/>
            </a:pPr>
            <a:r>
              <a:rPr sz="1700" b="1" i="0">
                <a:solidFill>
                  <a:srgbClr val="1F2933"/>
                </a:solidFill>
                <a:latin typeface="Calibri"/>
              </a:rPr>
              <a:t>Stale prices: </a:t>
            </a:r>
            <a:r>
              <a:rPr sz="1700" b="0" i="0">
                <a:solidFill>
                  <a:srgbClr val="1F2933"/>
                </a:solidFill>
                <a:latin typeface="Calibri"/>
              </a:rPr>
              <a:t>for 26.5% of rows the last trade is over 24h old.</a:t>
            </a:r>
            <a:endParaRPr sz="1700" b="0" i="0">
              <a:solidFill>
                <a:srgbClr val="1F2933"/>
              </a:solidFill>
              <a:latin typeface="Calibri"/>
            </a:endParaRPr>
          </a:p>
          <a:p>
            <a:pPr marL="182880" indent="-182880" algn="l">
              <a:spcAft>
                <a:spcPts val="1000"/>
              </a:spcAft>
              <a:buChar char="•"/>
            </a:pPr>
            <a:r>
              <a:rPr sz="1700" b="1" i="0">
                <a:solidFill>
                  <a:srgbClr val="1F2933"/>
                </a:solidFill>
                <a:latin typeface="Calibri"/>
              </a:rPr>
              <a:t>Changing missingness: </a:t>
            </a:r>
            <a:r>
              <a:rPr sz="1700" b="0" i="0">
                <a:solidFill>
                  <a:srgbClr val="1F2933"/>
                </a:solidFill>
                <a:latin typeface="Calibri"/>
              </a:rPr>
              <a:t>all 240 rows without a price are training rows.</a:t>
            </a:r>
            <a:endParaRPr sz="1700" b="0" i="0">
              <a:solidFill>
                <a:srgbClr val="1F2933"/>
              </a:solidFill>
              <a:latin typeface="Calibri"/>
            </a:endParaRPr>
          </a:p>
          <a:p>
            <a:pPr marL="182880" indent="-182880" algn="l">
              <a:spcAft>
                <a:spcPts val="1000"/>
              </a:spcAft>
              <a:buChar char="•"/>
            </a:pPr>
            <a:r>
              <a:rPr sz="1700" b="1" i="0">
                <a:solidFill>
                  <a:srgbClr val="1F2933"/>
                </a:solidFill>
                <a:latin typeface="Calibri"/>
              </a:rPr>
              <a:t>Retrospective metadata: </a:t>
            </a:r>
            <a:r>
              <a:rPr sz="1700" b="0" i="0">
                <a:solidFill>
                  <a:srgbClr val="1F2933"/>
                </a:solidFill>
                <a:latin typeface="Calibri"/>
              </a:rPr>
              <a:t>candidates and settlement come from data downloaded 2026-10-23.</a:t>
            </a:r>
            <a:endParaRPr sz="1700" b="0" i="0">
              <a:solidFill>
                <a:srgbClr val="1F2933"/>
              </a:solidFill>
              <a:latin typeface="Calibri"/>
            </a:endParaRPr>
          </a:p>
          <a:p>
            <a:pPr marL="182880" indent="-182880" algn="l">
              <a:spcAft>
                <a:spcPts val="1000"/>
              </a:spcAft>
              <a:buChar char="•"/>
            </a:pPr>
            <a:r>
              <a:rPr sz="1700" b="1" i="0">
                <a:solidFill>
                  <a:srgbClr val="1F2933"/>
                </a:solidFill>
                <a:latin typeface="Calibri"/>
              </a:rPr>
              <a:t>Many comparisons: </a:t>
            </a:r>
            <a:r>
              <a:rPr sz="1700" b="0" i="0">
                <a:solidFill>
                  <a:srgbClr val="1F2933"/>
                </a:solidFill>
                <a:latin typeface="Calibri"/>
              </a:rPr>
              <a:t>5 methods × 2 cutoffs, no multiplicity adjustment.</a:t>
            </a:r>
            <a:endParaRPr sz="1700" b="0" i="0">
              <a:solidFill>
                <a:srgbClr val="1F2933"/>
              </a:solidFill>
              <a:latin typeface="Calibri"/>
            </a:endParaRPr>
          </a:p>
        </p:txBody>
      </p:sp>
      <p:sp>
        <p:nvSpPr>
          <p:cNvPr id="8" name="Next step card"/>
          <p:cNvSpPr/>
          <p:nvPr/>
        </p:nvSpPr>
        <p:spPr>
          <a:xfrm>
            <a:off x="7680960" y="1280160"/>
            <a:ext cx="3931920" cy="4572000"/>
          </a:xfrm>
          <a:prstGeom prst="roundRect">
            <a:avLst>
              <a:gd name="adj" fmla="val 3000"/>
            </a:avLst>
          </a:prstGeom>
          <a:solidFill>
            <a:srgbClr val="E8F3F5"/>
          </a:solidFill>
          <a:ln w="12700">
            <a:solidFill>
              <a:srgbClr val="D5DB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863840" y="1371600"/>
            <a:ext cx="3566160" cy="411480"/>
          </a:xfrm>
          <a:prstGeom prst="rect">
            <a:avLst/>
          </a:prstGeom>
          <a:noFill/>
        </p:spPr>
        <p:txBody>
          <a:bodyPr wrap="square" lIns="45720" tIns="27432" rIns="45720" bIns="27432" anchor="t">
            <a:spAutoFit/>
          </a:bodyPr>
          <a:lstStyle/>
          <a:p>
            <a:pPr algn="l">
              <a:spcAft>
                <a:spcPts val="400"/>
              </a:spcAft>
            </a:pPr>
            <a:r>
              <a:rPr sz="2000" b="1" i="0">
                <a:solidFill>
                  <a:srgbClr val="0B7285"/>
                </a:solidFill>
                <a:latin typeface="Cambria"/>
              </a:rPr>
              <a:t>Next step</a:t>
            </a:r>
            <a:endParaRPr sz="2000" b="1" i="0">
              <a:solidFill>
                <a:srgbClr val="0B7285"/>
              </a:solidFill>
              <a:latin typeface="Cambria"/>
            </a:endParaRPr>
          </a:p>
        </p:txBody>
      </p:sp>
      <p:sp>
        <p:nvSpPr>
          <p:cNvPr id="10" name="Next step list"/>
          <p:cNvSpPr txBox="1"/>
          <p:nvPr/>
        </p:nvSpPr>
        <p:spPr>
          <a:xfrm>
            <a:off x="7863840" y="1874519"/>
            <a:ext cx="3566160" cy="3931920"/>
          </a:xfrm>
          <a:prstGeom prst="rect">
            <a:avLst/>
          </a:prstGeom>
          <a:noFill/>
        </p:spPr>
        <p:txBody>
          <a:bodyPr wrap="square" lIns="45720" tIns="27432" rIns="45720" bIns="27432" anchor="t">
            <a:spAutoFit/>
          </a:bodyPr>
          <a:lstStyle/>
          <a:p>
            <a:pPr marL="182880" indent="-182880" algn="l">
              <a:spcAft>
                <a:spcPts val="1000"/>
              </a:spcAft>
              <a:buChar char="•"/>
            </a:pPr>
            <a:r>
              <a:rPr sz="1700" b="0" i="0">
                <a:solidFill>
                  <a:srgbClr val="1F2933"/>
                </a:solidFill>
                <a:latin typeface="Calibri"/>
              </a:rPr>
              <a:t>Confirm on new weeks</a:t>
            </a:r>
            <a:endParaRPr sz="1700" b="0" i="0">
              <a:solidFill>
                <a:srgbClr val="1F2933"/>
              </a:solidFill>
              <a:latin typeface="Calibri"/>
            </a:endParaRPr>
          </a:p>
          <a:p>
            <a:pPr marL="182880" indent="-182880" algn="l">
              <a:spcAft>
                <a:spcPts val="1000"/>
              </a:spcAft>
              <a:buChar char="•"/>
            </a:pPr>
            <a:r>
              <a:rPr sz="1700" b="0" i="0">
                <a:solidFill>
                  <a:srgbClr val="1F2933"/>
                </a:solidFill>
                <a:latin typeface="Calibri"/>
              </a:rPr>
              <a:t>One cutoff and one primary metric, fixed before the weeks resolve</a:t>
            </a:r>
            <a:endParaRPr sz="1700" b="0" i="0">
              <a:solidFill>
                <a:srgbClr val="1F2933"/>
              </a:solidFill>
              <a:latin typeface="Calibri"/>
            </a:endParaRPr>
          </a:p>
          <a:p>
            <a:pPr marL="182880" indent="-182880" algn="l">
              <a:spcAft>
                <a:spcPts val="1000"/>
              </a:spcAft>
              <a:buChar char="•"/>
            </a:pPr>
            <a:r>
              <a:rPr sz="1700" b="0" i="0">
                <a:solidFill>
                  <a:srgbClr val="1F2933"/>
                </a:solidFill>
                <a:latin typeface="Calibri"/>
              </a:rPr>
              <a:t>Same procedure, no re-tuning on the new weeks</a:t>
            </a:r>
            <a:endParaRPr sz="1700" b="0" i="0">
              <a:solidFill>
                <a:srgbClr val="1F2933"/>
              </a:solidFill>
              <a:latin typeface="Calibri"/>
            </a:endParaRPr>
          </a:p>
        </p:txBody>
      </p:sp>
      <p:sp>
        <p:nvSpPr>
          <p:cNvPr id="11" name="TextBox 10"/>
          <p:cNvSpPr txBox="1"/>
          <p:nvPr/>
        </p:nvSpPr>
        <p:spPr>
          <a:xfrm>
            <a:off x="548640" y="5989320"/>
            <a:ext cx="11064240" cy="411480"/>
          </a:xfrm>
          <a:prstGeom prst="rect">
            <a:avLst/>
          </a:prstGeom>
          <a:noFill/>
        </p:spPr>
        <p:txBody>
          <a:bodyPr wrap="square" lIns="45720" tIns="27432" rIns="45720" bIns="27432" anchor="t">
            <a:spAutoFit/>
          </a:bodyPr>
          <a:lstStyle/>
          <a:p>
            <a:pPr algn="l">
              <a:spcAft>
                <a:spcPts val="400"/>
              </a:spcAft>
            </a:pPr>
            <a:r>
              <a:rPr sz="1300" b="0" i="0">
                <a:solidFill>
                  <a:srgbClr val="5F6B7A"/>
                </a:solidFill>
                <a:latin typeface="Calibri"/>
              </a:rPr>
              <a:t>Nothing here is trading advice; wallet identities are not studied.</a:t>
            </a:r>
            <a:endParaRPr sz="1300" b="0" i="0">
              <a:solidFill>
                <a:srgbClr val="5F6B7A"/>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guide</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Appendix guide table"/>
          <p:cNvGraphicFramePr>
            <a:graphicFrameLocks noGrp="1"/>
          </p:cNvGraphicFramePr>
          <p:nvPr/>
        </p:nvGraphicFramePr>
        <p:xfrm>
          <a:off x="548640" y="1280160"/>
          <a:ext cx="11064240" cy="4626864"/>
        </p:xfrm>
        <a:graphic>
          <a:graphicData uri="http://schemas.openxmlformats.org/drawingml/2006/table">
            <a:tbl>
              <a:tblPr firstRow="1">
                <a:tableStyleId>{5C22544A-7EE6-4342-B048-85BDC9FD1C3A}</a:tableStyleId>
              </a:tblPr>
              <a:tblGrid>
                <a:gridCol w="822960"/>
                <a:gridCol w="3291840"/>
                <a:gridCol w="6949440"/>
              </a:tblGrid>
              <a:tr h="420624">
                <a:tc>
                  <a:txBody>
                    <a:bodyPr wrap="square"/>
                    <a:lstStyle/>
                    <a:p>
                      <a:pPr algn="l"/>
                      <a:r>
                        <a:rPr sz="1500" b="1" i="0">
                          <a:solidFill>
                            <a:srgbClr val="FFFFFF"/>
                          </a:solidFill>
                          <a:latin typeface="Calibri"/>
                        </a:rPr>
                        <a:t>Slide</a:t>
                      </a:r>
                      <a:endParaRPr sz="1500" b="1" i="0">
                        <a:solidFill>
                          <a:srgbClr val="FFFFFF"/>
                        </a:solidFill>
                        <a:latin typeface="Calibri"/>
                      </a:endParaRPr>
                    </a:p>
                  </a:txBody>
                  <a:tcPr marL="64008" marR="64008" marT="22860" marB="22860" anchor="ctr">
                    <a:solidFill>
                      <a:srgbClr val="14283D"/>
                    </a:solidFill>
                  </a:tcPr>
                </a:tc>
                <a:tc>
                  <a:txBody>
                    <a:bodyPr wrap="square"/>
                    <a:lstStyle/>
                    <a:p>
                      <a:pPr algn="l"/>
                      <a:r>
                        <a:rPr sz="1500" b="1" i="0">
                          <a:solidFill>
                            <a:srgbClr val="FFFFFF"/>
                          </a:solidFill>
                          <a:latin typeface="Calibri"/>
                        </a:rPr>
                        <a:t>Topic</a:t>
                      </a:r>
                      <a:endParaRPr sz="1500" b="1" i="0">
                        <a:solidFill>
                          <a:srgbClr val="FFFFFF"/>
                        </a:solidFill>
                        <a:latin typeface="Calibri"/>
                      </a:endParaRPr>
                    </a:p>
                  </a:txBody>
                  <a:tcPr marL="64008" marR="64008" marT="22860" marB="22860" anchor="ctr">
                    <a:solidFill>
                      <a:srgbClr val="14283D"/>
                    </a:solidFill>
                  </a:tcPr>
                </a:tc>
                <a:tc>
                  <a:txBody>
                    <a:bodyPr wrap="square"/>
                    <a:lstStyle/>
                    <a:p>
                      <a:pPr algn="l"/>
                      <a:r>
                        <a:rPr sz="1500" b="1" i="0">
                          <a:solidFill>
                            <a:srgbClr val="FFFFFF"/>
                          </a:solidFill>
                          <a:latin typeface="Calibri"/>
                        </a:rPr>
                        <a:t>Use</a:t>
                      </a:r>
                      <a:endParaRPr sz="1500" b="1" i="0">
                        <a:solidFill>
                          <a:srgbClr val="FFFFFF"/>
                        </a:solidFill>
                        <a:latin typeface="Calibri"/>
                      </a:endParaRPr>
                    </a:p>
                  </a:txBody>
                  <a:tcPr marL="64008" marR="64008" marT="22860" marB="22860" anchor="ctr">
                    <a:solidFill>
                      <a:srgbClr val="14283D"/>
                    </a:solidFill>
                  </a:tcPr>
                </a:tc>
              </a:tr>
              <a:tr h="420624">
                <a:tc>
                  <a:txBody>
                    <a:bodyPr wrap="square"/>
                    <a:lstStyle/>
                    <a:p>
                      <a:pPr algn="l"/>
                      <a:r>
                        <a:rPr sz="1500" b="1" i="0">
                          <a:solidFill>
                            <a:srgbClr val="1F2933"/>
                          </a:solidFill>
                          <a:latin typeface="Calibri"/>
                        </a:rPr>
                        <a:t>A1</a:t>
                      </a:r>
                      <a:endParaRPr sz="1500" b="1"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Metric definitions</a:t>
                      </a:r>
                      <a:endParaRPr sz="1500" b="0"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How top-1, log loss and Brier are defined and weighted</a:t>
                      </a:r>
                      <a:endParaRPr sz="1500" b="0" i="0">
                        <a:solidFill>
                          <a:srgbClr val="1F2933"/>
                        </a:solidFill>
                        <a:latin typeface="Calibri"/>
                      </a:endParaRPr>
                    </a:p>
                  </a:txBody>
                  <a:tcPr marL="64008" marR="64008" marT="22860" marB="22860" anchor="ctr">
                    <a:solidFill>
                      <a:srgbClr val="FFFFFF"/>
                    </a:solidFill>
                  </a:tcPr>
                </a:tc>
              </a:tr>
              <a:tr h="420624">
                <a:tc>
                  <a:txBody>
                    <a:bodyPr wrap="square"/>
                    <a:lstStyle/>
                    <a:p>
                      <a:pPr algn="l"/>
                      <a:r>
                        <a:rPr sz="1500" b="1" i="0">
                          <a:solidFill>
                            <a:srgbClr val="1F2933"/>
                          </a:solidFill>
                          <a:latin typeface="Calibri"/>
                        </a:rPr>
                        <a:t>A2</a:t>
                      </a:r>
                      <a:endParaRPr sz="1500" b="1"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Validation tuning, 24h</a:t>
                      </a:r>
                      <a:endParaRPr sz="1500" b="0"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All settings searched and the one selected</a:t>
                      </a:r>
                      <a:endParaRPr sz="1500" b="0" i="0">
                        <a:solidFill>
                          <a:srgbClr val="1F2933"/>
                        </a:solidFill>
                        <a:latin typeface="Calibri"/>
                      </a:endParaRPr>
                    </a:p>
                  </a:txBody>
                  <a:tcPr marL="64008" marR="64008" marT="22860" marB="22860" anchor="ctr">
                    <a:solidFill>
                      <a:srgbClr val="F1F4F7"/>
                    </a:solidFill>
                  </a:tcPr>
                </a:tc>
              </a:tr>
              <a:tr h="420624">
                <a:tc>
                  <a:txBody>
                    <a:bodyPr wrap="square"/>
                    <a:lstStyle/>
                    <a:p>
                      <a:pPr algn="l"/>
                      <a:r>
                        <a:rPr sz="1500" b="1" i="0">
                          <a:solidFill>
                            <a:srgbClr val="1F2933"/>
                          </a:solidFill>
                          <a:latin typeface="Calibri"/>
                        </a:rPr>
                        <a:t>A3</a:t>
                      </a:r>
                      <a:endParaRPr sz="1500" b="1"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Validation tuning, 72h</a:t>
                      </a:r>
                      <a:endParaRPr sz="1500" b="0"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Same grids for the exploratory cutoff</a:t>
                      </a:r>
                      <a:endParaRPr sz="1500" b="0" i="0">
                        <a:solidFill>
                          <a:srgbClr val="1F2933"/>
                        </a:solidFill>
                        <a:latin typeface="Calibri"/>
                      </a:endParaRPr>
                    </a:p>
                  </a:txBody>
                  <a:tcPr marL="64008" marR="64008" marT="22860" marB="22860" anchor="ctr">
                    <a:solidFill>
                      <a:srgbClr val="FFFFFF"/>
                    </a:solidFill>
                  </a:tcPr>
                </a:tc>
              </a:tr>
              <a:tr h="420624">
                <a:tc>
                  <a:txBody>
                    <a:bodyPr wrap="square"/>
                    <a:lstStyle/>
                    <a:p>
                      <a:pPr algn="l"/>
                      <a:r>
                        <a:rPr sz="1500" b="1" i="0">
                          <a:solidFill>
                            <a:srgbClr val="1F2933"/>
                          </a:solidFill>
                          <a:latin typeface="Calibri"/>
                        </a:rPr>
                        <a:t>A4</a:t>
                      </a:r>
                      <a:endParaRPr sz="1500" b="1"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Paired week bootstrap</a:t>
                      </a:r>
                      <a:endParaRPr sz="1500" b="0"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Differences with 95% intervals, market rows highlighted</a:t>
                      </a:r>
                      <a:endParaRPr sz="1500" b="0" i="0">
                        <a:solidFill>
                          <a:srgbClr val="1F2933"/>
                        </a:solidFill>
                        <a:latin typeface="Calibri"/>
                      </a:endParaRPr>
                    </a:p>
                  </a:txBody>
                  <a:tcPr marL="64008" marR="64008" marT="22860" marB="22860" anchor="ctr">
                    <a:solidFill>
                      <a:srgbClr val="F1F4F7"/>
                    </a:solidFill>
                  </a:tcPr>
                </a:tc>
              </a:tr>
              <a:tr h="420624">
                <a:tc>
                  <a:txBody>
                    <a:bodyPr wrap="square"/>
                    <a:lstStyle/>
                    <a:p>
                      <a:pPr algn="l"/>
                      <a:r>
                        <a:rPr sz="1500" b="1" i="0">
                          <a:solidFill>
                            <a:srgbClr val="1F2933"/>
                          </a:solidFill>
                          <a:latin typeface="Calibri"/>
                        </a:rPr>
                        <a:t>A5</a:t>
                      </a:r>
                      <a:endParaRPr sz="1500" b="1"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Calibration, 24h</a:t>
                      </a:r>
                      <a:endParaRPr sz="1500" b="0"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Descriptive: sparse bins, 18 test weeks</a:t>
                      </a:r>
                      <a:endParaRPr sz="1500" b="0" i="0">
                        <a:solidFill>
                          <a:srgbClr val="1F2933"/>
                        </a:solidFill>
                        <a:latin typeface="Calibri"/>
                      </a:endParaRPr>
                    </a:p>
                  </a:txBody>
                  <a:tcPr marL="64008" marR="64008" marT="22860" marB="22860" anchor="ctr">
                    <a:solidFill>
                      <a:srgbClr val="FFFFFF"/>
                    </a:solidFill>
                  </a:tcPr>
                </a:tc>
              </a:tr>
              <a:tr h="420624">
                <a:tc>
                  <a:txBody>
                    <a:bodyPr wrap="square"/>
                    <a:lstStyle/>
                    <a:p>
                      <a:pPr algn="l"/>
                      <a:r>
                        <a:rPr sz="1500" b="1" i="0">
                          <a:solidFill>
                            <a:srgbClr val="1F2933"/>
                          </a:solidFill>
                          <a:latin typeface="Calibri"/>
                        </a:rPr>
                        <a:t>A6</a:t>
                      </a:r>
                      <a:endParaRPr sz="1500" b="1"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Calibration, 72h</a:t>
                      </a:r>
                      <a:endParaRPr sz="1500" b="0"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Same diagnostic at the exploratory cutoff</a:t>
                      </a:r>
                      <a:endParaRPr sz="1500" b="0" i="0">
                        <a:solidFill>
                          <a:srgbClr val="1F2933"/>
                        </a:solidFill>
                        <a:latin typeface="Calibri"/>
                      </a:endParaRPr>
                    </a:p>
                  </a:txBody>
                  <a:tcPr marL="64008" marR="64008" marT="22860" marB="22860" anchor="ctr">
                    <a:solidFill>
                      <a:srgbClr val="F1F4F7"/>
                    </a:solidFill>
                  </a:tcPr>
                </a:tc>
              </a:tr>
              <a:tr h="420624">
                <a:tc>
                  <a:txBody>
                    <a:bodyPr wrap="square"/>
                    <a:lstStyle/>
                    <a:p>
                      <a:pPr algn="l"/>
                      <a:r>
                        <a:rPr sz="1500" b="1" i="0">
                          <a:solidFill>
                            <a:srgbClr val="1F2933"/>
                          </a:solidFill>
                          <a:latin typeface="Calibri"/>
                        </a:rPr>
                        <a:t>A7</a:t>
                      </a:r>
                      <a:endParaRPr sz="1500" b="1"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Data quality and coverage</a:t>
                      </a:r>
                      <a:endParaRPr sz="1500" b="0"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Stale prices, missing volume, audit counts</a:t>
                      </a:r>
                      <a:endParaRPr sz="1500" b="0" i="0">
                        <a:solidFill>
                          <a:srgbClr val="1F2933"/>
                        </a:solidFill>
                        <a:latin typeface="Calibri"/>
                      </a:endParaRPr>
                    </a:p>
                  </a:txBody>
                  <a:tcPr marL="64008" marR="64008" marT="22860" marB="22860" anchor="ctr">
                    <a:solidFill>
                      <a:srgbClr val="FFFFFF"/>
                    </a:solidFill>
                  </a:tcPr>
                </a:tc>
              </a:tr>
              <a:tr h="420624">
                <a:tc>
                  <a:txBody>
                    <a:bodyPr wrap="square"/>
                    <a:lstStyle/>
                    <a:p>
                      <a:pPr algn="l"/>
                      <a:r>
                        <a:rPr sz="1500" b="1" i="0">
                          <a:solidFill>
                            <a:srgbClr val="1F2933"/>
                          </a:solidFill>
                          <a:latin typeface="Calibri"/>
                        </a:rPr>
                        <a:t>A8</a:t>
                      </a:r>
                      <a:endParaRPr sz="1500" b="1"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Key training code</a:t>
                      </a:r>
                      <a:endParaRPr sz="1500" b="0"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Executed excerpts: pipeline, weights, fitting</a:t>
                      </a:r>
                      <a:endParaRPr sz="1500" b="0" i="0">
                        <a:solidFill>
                          <a:srgbClr val="1F2933"/>
                        </a:solidFill>
                        <a:latin typeface="Calibri"/>
                      </a:endParaRPr>
                    </a:p>
                  </a:txBody>
                  <a:tcPr marL="64008" marR="64008" marT="22860" marB="22860" anchor="ctr">
                    <a:solidFill>
                      <a:srgbClr val="F1F4F7"/>
                    </a:solidFill>
                  </a:tcPr>
                </a:tc>
              </a:tr>
              <a:tr h="420624">
                <a:tc>
                  <a:txBody>
                    <a:bodyPr wrap="square"/>
                    <a:lstStyle/>
                    <a:p>
                      <a:pPr algn="l"/>
                      <a:r>
                        <a:rPr sz="1500" b="1" i="0">
                          <a:solidFill>
                            <a:srgbClr val="1F2933"/>
                          </a:solidFill>
                          <a:latin typeface="Calibri"/>
                        </a:rPr>
                        <a:t>A9</a:t>
                      </a:r>
                      <a:endParaRPr sz="1500" b="1"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Split and metric code</a:t>
                      </a:r>
                      <a:endParaRPr sz="1500" b="0" i="0">
                        <a:solidFill>
                          <a:srgbClr val="1F2933"/>
                        </a:solidFill>
                        <a:latin typeface="Calibri"/>
                      </a:endParaRPr>
                    </a:p>
                  </a:txBody>
                  <a:tcPr marL="64008" marR="64008" marT="22860" marB="22860" anchor="ctr">
                    <a:solidFill>
                      <a:srgbClr val="FFFFFF"/>
                    </a:solidFill>
                  </a:tcPr>
                </a:tc>
                <a:tc>
                  <a:txBody>
                    <a:bodyPr wrap="square"/>
                    <a:lstStyle/>
                    <a:p>
                      <a:pPr algn="l"/>
                      <a:r>
                        <a:rPr sz="1500" b="0" i="0">
                          <a:solidFill>
                            <a:srgbClr val="1F2933"/>
                          </a:solidFill>
                          <a:latin typeface="Calibri"/>
                        </a:rPr>
                        <a:t>Executed excerpts: split, clipping, week-equal mean</a:t>
                      </a:r>
                      <a:endParaRPr sz="1500" b="0" i="0">
                        <a:solidFill>
                          <a:srgbClr val="1F2933"/>
                        </a:solidFill>
                        <a:latin typeface="Calibri"/>
                      </a:endParaRPr>
                    </a:p>
                  </a:txBody>
                  <a:tcPr marL="64008" marR="64008" marT="22860" marB="22860" anchor="ctr">
                    <a:solidFill>
                      <a:srgbClr val="FFFFFF"/>
                    </a:solidFill>
                  </a:tcPr>
                </a:tc>
              </a:tr>
              <a:tr h="420624">
                <a:tc>
                  <a:txBody>
                    <a:bodyPr wrap="square"/>
                    <a:lstStyle/>
                    <a:p>
                      <a:pPr algn="l"/>
                      <a:r>
                        <a:rPr sz="1500" b="1" i="0">
                          <a:solidFill>
                            <a:srgbClr val="1F2933"/>
                          </a:solidFill>
                          <a:latin typeface="Calibri"/>
                        </a:rPr>
                        <a:t>A10</a:t>
                      </a:r>
                      <a:endParaRPr sz="1500" b="1"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Run record</a:t>
                      </a:r>
                      <a:endParaRPr sz="1500" b="0" i="0">
                        <a:solidFill>
                          <a:srgbClr val="1F2933"/>
                        </a:solidFill>
                        <a:latin typeface="Calibri"/>
                      </a:endParaRPr>
                    </a:p>
                  </a:txBody>
                  <a:tcPr marL="64008" marR="64008" marT="22860" marB="22860" anchor="ctr">
                    <a:solidFill>
                      <a:srgbClr val="F1F4F7"/>
                    </a:solidFill>
                  </a:tcPr>
                </a:tc>
                <a:tc>
                  <a:txBody>
                    <a:bodyPr wrap="square"/>
                    <a:lstStyle/>
                    <a:p>
                      <a:pPr algn="l"/>
                      <a:r>
                        <a:rPr sz="1500" b="0" i="0">
                          <a:solidFill>
                            <a:srgbClr val="1F2933"/>
                          </a:solidFill>
                          <a:latin typeface="Calibri"/>
                        </a:rPr>
                        <a:t>Seed, versions, hashes, how to reproduce</a:t>
                      </a:r>
                      <a:endParaRPr sz="1500" b="0" i="0">
                        <a:solidFill>
                          <a:srgbClr val="1F2933"/>
                        </a:solidFill>
                        <a:latin typeface="Calibri"/>
                      </a:endParaRPr>
                    </a:p>
                  </a:txBody>
                  <a:tcPr marL="64008" marR="64008" marT="22860" marB="22860" anchor="ctr">
                    <a:solidFill>
                      <a:srgbClr val="F1F4F7"/>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A1: metric definitions</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Metric definitions table"/>
          <p:cNvGraphicFramePr>
            <a:graphicFrameLocks noGrp="1"/>
          </p:cNvGraphicFramePr>
          <p:nvPr/>
        </p:nvGraphicFramePr>
        <p:xfrm>
          <a:off x="548640" y="1280160"/>
          <a:ext cx="11064240" cy="4059936"/>
        </p:xfrm>
        <a:graphic>
          <a:graphicData uri="http://schemas.openxmlformats.org/drawingml/2006/table">
            <a:tbl>
              <a:tblPr firstRow="1">
                <a:tableStyleId>{5C22544A-7EE6-4342-B048-85BDC9FD1C3A}</a:tableStyleId>
              </a:tblPr>
              <a:tblGrid>
                <a:gridCol w="1737360"/>
                <a:gridCol w="5120640"/>
                <a:gridCol w="4206240"/>
              </a:tblGrid>
              <a:tr h="676656">
                <a:tc>
                  <a:txBody>
                    <a:bodyPr wrap="square"/>
                    <a:lstStyle/>
                    <a:p>
                      <a:pPr algn="l"/>
                      <a:r>
                        <a:rPr sz="1450" b="1" i="0">
                          <a:solidFill>
                            <a:srgbClr val="FFFFFF"/>
                          </a:solidFill>
                          <a:latin typeface="Calibri"/>
                        </a:rPr>
                        <a:t>Metric</a:t>
                      </a:r>
                      <a:endParaRPr sz="1450" b="1" i="0">
                        <a:solidFill>
                          <a:srgbClr val="FFFFFF"/>
                        </a:solidFill>
                        <a:latin typeface="Calibri"/>
                      </a:endParaRPr>
                    </a:p>
                  </a:txBody>
                  <a:tcPr marL="64008" marR="64008" marT="22860" marB="22860" anchor="ctr">
                    <a:solidFill>
                      <a:srgbClr val="14283D"/>
                    </a:solidFill>
                  </a:tcPr>
                </a:tc>
                <a:tc>
                  <a:txBody>
                    <a:bodyPr wrap="square"/>
                    <a:lstStyle/>
                    <a:p>
                      <a:pPr algn="l"/>
                      <a:r>
                        <a:rPr sz="1450" b="1" i="0">
                          <a:solidFill>
                            <a:srgbClr val="FFFFFF"/>
                          </a:solidFill>
                          <a:latin typeface="Calibri"/>
                        </a:rPr>
                        <a:t>Definition used here</a:t>
                      </a:r>
                      <a:endParaRPr sz="1450" b="1" i="0">
                        <a:solidFill>
                          <a:srgbClr val="FFFFFF"/>
                        </a:solidFill>
                        <a:latin typeface="Calibri"/>
                      </a:endParaRPr>
                    </a:p>
                  </a:txBody>
                  <a:tcPr marL="64008" marR="64008" marT="22860" marB="22860" anchor="ctr">
                    <a:solidFill>
                      <a:srgbClr val="14283D"/>
                    </a:solidFill>
                  </a:tcPr>
                </a:tc>
                <a:tc>
                  <a:txBody>
                    <a:bodyPr wrap="square"/>
                    <a:lstStyle/>
                    <a:p>
                      <a:pPr algn="l"/>
                      <a:r>
                        <a:rPr sz="1450" b="1" i="0">
                          <a:solidFill>
                            <a:srgbClr val="FFFFFF"/>
                          </a:solidFill>
                          <a:latin typeface="Calibri"/>
                        </a:rPr>
                        <a:t>Weights and coverage</a:t>
                      </a:r>
                      <a:endParaRPr sz="1450" b="1" i="0">
                        <a:solidFill>
                          <a:srgbClr val="FFFFFF"/>
                        </a:solidFill>
                        <a:latin typeface="Calibri"/>
                      </a:endParaRPr>
                    </a:p>
                  </a:txBody>
                  <a:tcPr marL="64008" marR="64008" marT="22860" marB="22860" anchor="ctr">
                    <a:solidFill>
                      <a:srgbClr val="14283D"/>
                    </a:solidFill>
                  </a:tcPr>
                </a:tc>
              </a:tr>
              <a:tr h="676656">
                <a:tc>
                  <a:txBody>
                    <a:bodyPr wrap="square"/>
                    <a:lstStyle/>
                    <a:p>
                      <a:pPr algn="l"/>
                      <a:r>
                        <a:rPr sz="1450" b="1" i="0">
                          <a:solidFill>
                            <a:srgbClr val="1F2933"/>
                          </a:solidFill>
                          <a:latin typeface="Calibri"/>
                        </a:rPr>
                        <a:t>Weekly top-1</a:t>
                      </a:r>
                      <a:endParaRPr sz="1450" b="1"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Picked contract is the winner; shown as weeks correct / weeks</a:t>
                      </a:r>
                      <a:endParaRPr sz="1450" b="0"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All weeks kept, including weeks where the winner was not listed</a:t>
                      </a:r>
                      <a:endParaRPr sz="1450" b="0" i="0">
                        <a:solidFill>
                          <a:srgbClr val="1F2933"/>
                        </a:solidFill>
                        <a:latin typeface="Calibri"/>
                      </a:endParaRPr>
                    </a:p>
                  </a:txBody>
                  <a:tcPr marL="64008" marR="64008" marT="22860" marB="22860" anchor="ctr">
                    <a:solidFill>
                      <a:srgbClr val="FFFFFF"/>
                    </a:solidFill>
                  </a:tcPr>
                </a:tc>
              </a:tr>
              <a:tr h="676656">
                <a:tc>
                  <a:txBody>
                    <a:bodyPr wrap="square"/>
                    <a:lstStyle/>
                    <a:p>
                      <a:pPr algn="l"/>
                      <a:r>
                        <a:rPr sz="1450" b="1" i="0">
                          <a:solidFill>
                            <a:srgbClr val="1F2933"/>
                          </a:solidFill>
                          <a:latin typeface="Calibri"/>
                        </a:rPr>
                        <a:t>Binary log loss</a:t>
                      </a:r>
                      <a:endParaRPr sz="1450" b="1" i="0">
                        <a:solidFill>
                          <a:srgbClr val="1F2933"/>
                        </a:solidFill>
                        <a:latin typeface="Calibri"/>
                      </a:endParaRPr>
                    </a:p>
                  </a:txBody>
                  <a:tcPr marL="64008" marR="64008" marT="22860" marB="22860" anchor="ctr">
                    <a:solidFill>
                      <a:srgbClr val="F1F4F7"/>
                    </a:solidFill>
                  </a:tcPr>
                </a:tc>
                <a:tc>
                  <a:txBody>
                    <a:bodyPr wrap="square"/>
                    <a:lstStyle/>
                    <a:p>
                      <a:pPr algn="l"/>
                      <a:r>
                        <a:rPr sz="1450" b="0" i="0">
                          <a:solidFill>
                            <a:srgbClr val="1F2933"/>
                          </a:solidFill>
                          <a:latin typeface="Calibri"/>
                        </a:rPr>
                        <a:t>−[y log p + (1−y) log(1−p)], p clipped to [1e−6, 1−1e−6]</a:t>
                      </a:r>
                      <a:endParaRPr sz="1450" b="0" i="0">
                        <a:solidFill>
                          <a:srgbClr val="1F2933"/>
                        </a:solidFill>
                        <a:latin typeface="Calibri"/>
                      </a:endParaRPr>
                    </a:p>
                  </a:txBody>
                  <a:tcPr marL="64008" marR="64008" marT="22860" marB="22860" anchor="ctr">
                    <a:solidFill>
                      <a:srgbClr val="F1F4F7"/>
                    </a:solidFill>
                  </a:tcPr>
                </a:tc>
                <a:tc>
                  <a:txBody>
                    <a:bodyPr wrap="square"/>
                    <a:lstStyle/>
                    <a:p>
                      <a:pPr algn="l"/>
                      <a:r>
                        <a:rPr sz="1450" b="0" i="0">
                          <a:solidFill>
                            <a:srgbClr val="1F2933"/>
                          </a:solidFill>
                          <a:latin typeface="Calibri"/>
                        </a:rPr>
                        <a:t>Mean within a week, then mean over weeks</a:t>
                      </a:r>
                      <a:endParaRPr sz="1450" b="0" i="0">
                        <a:solidFill>
                          <a:srgbClr val="1F2933"/>
                        </a:solidFill>
                        <a:latin typeface="Calibri"/>
                      </a:endParaRPr>
                    </a:p>
                  </a:txBody>
                  <a:tcPr marL="64008" marR="64008" marT="22860" marB="22860" anchor="ctr">
                    <a:solidFill>
                      <a:srgbClr val="F1F4F7"/>
                    </a:solidFill>
                  </a:tcPr>
                </a:tc>
              </a:tr>
              <a:tr h="676656">
                <a:tc>
                  <a:txBody>
                    <a:bodyPr wrap="square"/>
                    <a:lstStyle/>
                    <a:p>
                      <a:pPr algn="l"/>
                      <a:r>
                        <a:rPr sz="1450" b="1" i="0">
                          <a:solidFill>
                            <a:srgbClr val="1F2933"/>
                          </a:solidFill>
                          <a:latin typeface="Calibri"/>
                        </a:rPr>
                        <a:t>Brier score</a:t>
                      </a:r>
                      <a:endParaRPr sz="1450" b="1"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(p − y)² per candidate-week</a:t>
                      </a:r>
                      <a:endParaRPr sz="1450" b="0"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Same weighting; lower is better</a:t>
                      </a:r>
                      <a:endParaRPr sz="1450" b="0" i="0">
                        <a:solidFill>
                          <a:srgbClr val="1F2933"/>
                        </a:solidFill>
                        <a:latin typeface="Calibri"/>
                      </a:endParaRPr>
                    </a:p>
                  </a:txBody>
                  <a:tcPr marL="64008" marR="64008" marT="22860" marB="22860" anchor="ctr">
                    <a:solidFill>
                      <a:srgbClr val="FFFFFF"/>
                    </a:solidFill>
                  </a:tcPr>
                </a:tc>
              </a:tr>
              <a:tr h="676656">
                <a:tc>
                  <a:txBody>
                    <a:bodyPr wrap="square"/>
                    <a:lstStyle/>
                    <a:p>
                      <a:pPr algn="l"/>
                      <a:r>
                        <a:rPr sz="1450" b="1" i="0">
                          <a:solidFill>
                            <a:srgbClr val="1F2933"/>
                          </a:solidFill>
                          <a:latin typeface="Calibri"/>
                        </a:rPr>
                        <a:t>Market p</a:t>
                      </a:r>
                      <a:endParaRPr sz="1450" b="1" i="0">
                        <a:solidFill>
                          <a:srgbClr val="1F2933"/>
                        </a:solidFill>
                        <a:latin typeface="Calibri"/>
                      </a:endParaRPr>
                    </a:p>
                  </a:txBody>
                  <a:tcPr marL="64008" marR="64008" marT="22860" marB="22860" anchor="ctr">
                    <a:solidFill>
                      <a:srgbClr val="F1F4F7"/>
                    </a:solidFill>
                  </a:tcPr>
                </a:tc>
                <a:tc>
                  <a:txBody>
                    <a:bodyPr wrap="square"/>
                    <a:lstStyle/>
                    <a:p>
                      <a:pPr algn="l"/>
                      <a:r>
                        <a:rPr sz="1450" b="0" i="0">
                          <a:solidFill>
                            <a:srgbClr val="1F2933"/>
                          </a:solidFill>
                          <a:latin typeface="Calibri"/>
                        </a:rPr>
                        <a:t>Contract's own observed price_now (not a 0/1 rule)</a:t>
                      </a:r>
                      <a:endParaRPr sz="1450" b="0" i="0">
                        <a:solidFill>
                          <a:srgbClr val="1F2933"/>
                        </a:solidFill>
                        <a:latin typeface="Calibri"/>
                      </a:endParaRPr>
                    </a:p>
                  </a:txBody>
                  <a:tcPr marL="64008" marR="64008" marT="22860" marB="22860" anchor="ctr">
                    <a:solidFill>
                      <a:srgbClr val="F1F4F7"/>
                    </a:solidFill>
                  </a:tcPr>
                </a:tc>
                <a:tc>
                  <a:txBody>
                    <a:bodyPr wrap="square"/>
                    <a:lstStyle/>
                    <a:p>
                      <a:pPr algn="l"/>
                      <a:r>
                        <a:rPr sz="1450" b="0" i="0">
                          <a:solidFill>
                            <a:srgbClr val="1F2933"/>
                          </a:solidFill>
                          <a:latin typeface="Calibri"/>
                        </a:rPr>
                        <a:t>Rows without a price are not scorable for any method</a:t>
                      </a:r>
                      <a:endParaRPr sz="1450" b="0" i="0">
                        <a:solidFill>
                          <a:srgbClr val="1F2933"/>
                        </a:solidFill>
                        <a:latin typeface="Calibri"/>
                      </a:endParaRPr>
                    </a:p>
                  </a:txBody>
                  <a:tcPr marL="64008" marR="64008" marT="22860" marB="22860" anchor="ctr">
                    <a:solidFill>
                      <a:srgbClr val="F1F4F7"/>
                    </a:solidFill>
                  </a:tcPr>
                </a:tc>
              </a:tr>
              <a:tr h="676656">
                <a:tc>
                  <a:txBody>
                    <a:bodyPr wrap="square"/>
                    <a:lstStyle/>
                    <a:p>
                      <a:pPr algn="l"/>
                      <a:r>
                        <a:rPr sz="1450" b="1" i="0">
                          <a:solidFill>
                            <a:srgbClr val="1F2933"/>
                          </a:solidFill>
                          <a:latin typeface="Calibri"/>
                        </a:rPr>
                        <a:t>Model p</a:t>
                      </a:r>
                      <a:endParaRPr sz="1450" b="1"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Candidate-level yes probability; not normalized within a week</a:t>
                      </a:r>
                      <a:endParaRPr sz="1450" b="0" i="0">
                        <a:solidFill>
                          <a:srgbClr val="1F2933"/>
                        </a:solidFill>
                        <a:latin typeface="Calibri"/>
                      </a:endParaRPr>
                    </a:p>
                  </a:txBody>
                  <a:tcPr marL="64008" marR="64008" marT="22860" marB="22860" anchor="ctr">
                    <a:solidFill>
                      <a:srgbClr val="FFFFFF"/>
                    </a:solidFill>
                  </a:tcPr>
                </a:tc>
                <a:tc>
                  <a:txBody>
                    <a:bodyPr wrap="square"/>
                    <a:lstStyle/>
                    <a:p>
                      <a:pPr algn="l"/>
                      <a:r>
                        <a:rPr sz="1450" b="0" i="0">
                          <a:solidFill>
                            <a:srgbClr val="1F2933"/>
                          </a:solidFill>
                          <a:latin typeface="Calibri"/>
                        </a:rPr>
                        <a:t>Test rows scored: 217/217 at 24h, 214/217 at 72h</a:t>
                      </a:r>
                      <a:endParaRPr sz="1450" b="0" i="0">
                        <a:solidFill>
                          <a:srgbClr val="1F2933"/>
                        </a:solidFill>
                        <a:latin typeface="Calibri"/>
                      </a:endParaRPr>
                    </a:p>
                  </a:txBody>
                  <a:tcPr marL="64008" marR="64008" marT="22860" marB="22860" anchor="ctr">
                    <a:solidFill>
                      <a:srgbClr val="FFFFFF"/>
                    </a:solidFill>
                  </a:tcPr>
                </a:tc>
              </a:tr>
            </a:tbl>
          </a:graphicData>
        </a:graphic>
      </p:graphicFrame>
      <p:sp>
        <p:nvSpPr>
          <p:cNvPr id="6" name="TextBox 5"/>
          <p:cNvSpPr txBox="1"/>
          <p:nvPr/>
        </p:nvSpPr>
        <p:spPr>
          <a:xfrm>
            <a:off x="548640" y="5577840"/>
            <a:ext cx="11064240" cy="777240"/>
          </a:xfrm>
          <a:prstGeom prst="rect">
            <a:avLst/>
          </a:prstGeom>
          <a:noFill/>
        </p:spPr>
        <p:txBody>
          <a:bodyPr wrap="square" lIns="45720" tIns="27432" rIns="45720" bIns="27432" anchor="t">
            <a:spAutoFit/>
          </a:bodyPr>
          <a:lstStyle/>
          <a:p>
            <a:pPr marL="182880" indent="-182880" algn="l">
              <a:spcAft>
                <a:spcPts val="300"/>
              </a:spcAft>
              <a:buChar char="•"/>
            </a:pPr>
            <a:r>
              <a:rPr sz="1450" b="0" i="0">
                <a:solidFill>
                  <a:srgbClr val="1F2933"/>
                </a:solidFill>
                <a:latin typeface="Calibri"/>
              </a:rPr>
              <a:t>Paired differences are first method minus second. Intervals: 10,000 week-level bootstrap resamples (seed 20261022); top-1 uses Wilson 95% intervals.</a:t>
            </a:r>
            <a:endParaRPr sz="1450" b="0" i="0">
              <a:solidFill>
                <a:srgbClr val="1F2933"/>
              </a:solidFill>
              <a:latin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A2: validation tuning, 24h cutoff</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pic>
        <p:nvPicPr>
          <p:cNvPr id="5" name="Tuning figure 24h" descr="Validation log loss for logistic C grid and random forest grid"/>
          <p:cNvPicPr>
            <a:picLocks noChangeAspect="1"/>
          </p:cNvPicPr>
          <p:nvPr/>
        </p:nvPicPr>
        <p:blipFill>
          <a:blip r:embed="rId1"/>
          <a:stretch>
            <a:fillRect/>
          </a:stretch>
        </p:blipFill>
        <p:spPr>
          <a:xfrm>
            <a:off x="548640" y="1234440"/>
            <a:ext cx="10241280" cy="3712775"/>
          </a:xfrm>
          <a:prstGeom prst="rect">
            <a:avLst/>
          </a:prstGeom>
        </p:spPr>
      </p:pic>
      <p:sp>
        <p:nvSpPr>
          <p:cNvPr id="6" name="TextBox 5"/>
          <p:cNvSpPr txBox="1"/>
          <p:nvPr/>
        </p:nvSpPr>
        <p:spPr>
          <a:xfrm>
            <a:off x="548640" y="5257800"/>
            <a:ext cx="11064240" cy="1188720"/>
          </a:xfrm>
          <a:prstGeom prst="rect">
            <a:avLst/>
          </a:prstGeom>
          <a:noFill/>
        </p:spPr>
        <p:txBody>
          <a:bodyPr wrap="square" lIns="45720" tIns="27432" rIns="45720" bIns="27432" anchor="t">
            <a:spAutoFit/>
          </a:bodyPr>
          <a:lstStyle/>
          <a:p>
            <a:pPr marL="182880" indent="-182880" algn="l">
              <a:spcAft>
                <a:spcPts val="400"/>
              </a:spcAft>
              <a:buChar char="•"/>
            </a:pPr>
            <a:r>
              <a:rPr sz="1450" b="0" i="0">
                <a:solidFill>
                  <a:srgbClr val="1F2933"/>
                </a:solidFill>
                <a:latin typeface="Calibri"/>
              </a:rPr>
              <a:t>Validation log loss is week-equal; a ring or star marks the setting chosen by the pre-stated rule. All settings: results/tuning_all_results.csv.</a:t>
            </a:r>
            <a:endParaRPr sz="1450" b="0" i="0">
              <a:solidFill>
                <a:srgbClr val="1F2933"/>
              </a:solidFill>
              <a:latin typeface="Calibri"/>
            </a:endParaRPr>
          </a:p>
          <a:p>
            <a:pPr marL="182880" indent="-182880" algn="l">
              <a:spcAft>
                <a:spcPts val="400"/>
              </a:spcAft>
              <a:buChar char="•"/>
            </a:pPr>
            <a:r>
              <a:rPr sz="1450" b="1" i="0">
                <a:solidFill>
                  <a:srgbClr val="1F2933"/>
                </a:solidFill>
                <a:latin typeface="Calibri"/>
              </a:rPr>
              <a:t>Grid edge: </a:t>
            </a:r>
            <a:r>
              <a:rPr sz="1450" b="0" i="0">
                <a:solidFill>
                  <a:srgbClr val="1F2933"/>
                </a:solidFill>
                <a:latin typeface="Calibri"/>
              </a:rPr>
              <a:t>C = 100 (LR-B and LR-C, 24h) is the top of the grid; validation loss is flat between C = 10 and 100, so the grid was not extended.</a:t>
            </a:r>
            <a:endParaRPr sz="1450" b="0" i="0">
              <a:solidFill>
                <a:srgbClr val="1F2933"/>
              </a:solidFill>
              <a:latin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A3: validation tuning, 72h cutoff (exploratory)</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72h logistic grid"/>
          <p:cNvGraphicFramePr>
            <a:graphicFrameLocks noGrp="1"/>
          </p:cNvGraphicFramePr>
          <p:nvPr/>
        </p:nvGraphicFramePr>
        <p:xfrm>
          <a:off x="548640" y="1325880"/>
          <a:ext cx="6675120" cy="3072384"/>
        </p:xfrm>
        <a:graphic>
          <a:graphicData uri="http://schemas.openxmlformats.org/drawingml/2006/table">
            <a:tbl>
              <a:tblPr firstRow="1">
                <a:tableStyleId>{5C22544A-7EE6-4342-B048-85BDC9FD1C3A}</a:tableStyleId>
              </a:tblPr>
              <a:tblGrid>
                <a:gridCol w="914400"/>
                <a:gridCol w="1920240"/>
                <a:gridCol w="1920240"/>
                <a:gridCol w="1920240"/>
              </a:tblGrid>
              <a:tr h="438912">
                <a:tc>
                  <a:txBody>
                    <a:bodyPr wrap="square"/>
                    <a:lstStyle/>
                    <a:p>
                      <a:pPr algn="ctr"/>
                      <a:r>
                        <a:rPr sz="1400" b="1" i="0">
                          <a:solidFill>
                            <a:srgbClr val="FFFFFF"/>
                          </a:solidFill>
                          <a:latin typeface="Calibri"/>
                        </a:rPr>
                        <a:t>C</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LR-A val. log loss</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LR-B val. log loss</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LR-C val. log loss</a:t>
                      </a:r>
                      <a:endParaRPr sz="1400" b="1" i="0">
                        <a:solidFill>
                          <a:srgbClr val="FFFFFF"/>
                        </a:solidFill>
                        <a:latin typeface="Calibri"/>
                      </a:endParaRPr>
                    </a:p>
                  </a:txBody>
                  <a:tcPr marL="64008" marR="64008" marT="22860" marB="22860" anchor="ctr">
                    <a:solidFill>
                      <a:srgbClr val="14283D"/>
                    </a:solidFill>
                  </a:tcPr>
                </a:tc>
              </a:tr>
              <a:tr h="438912">
                <a:tc>
                  <a:txBody>
                    <a:bodyPr wrap="square"/>
                    <a:lstStyle/>
                    <a:p>
                      <a:pPr algn="ctr"/>
                      <a:r>
                        <a:rPr sz="1400" b="0" i="0">
                          <a:solidFill>
                            <a:srgbClr val="1F2933"/>
                          </a:solidFill>
                          <a:latin typeface="Calibri"/>
                        </a:rPr>
                        <a:t>0.001</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0.2549</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0.2548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0.2498</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ctr"/>
                      <a:r>
                        <a:rPr sz="1400" b="0" i="0">
                          <a:solidFill>
                            <a:srgbClr val="1F2933"/>
                          </a:solidFill>
                          <a:latin typeface="Calibri"/>
                        </a:rPr>
                        <a:t>0.01</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0.1336</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0.1389</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0.1320</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ctr"/>
                      <a:r>
                        <a:rPr sz="1400" b="0" i="0">
                          <a:solidFill>
                            <a:srgbClr val="1F2933"/>
                          </a:solidFill>
                          <a:latin typeface="Calibri"/>
                        </a:rPr>
                        <a:t>0.1</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0.0762</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0.0846</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0.0787</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0.0692</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0.0794 *</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0.0720</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ctr"/>
                      <a:r>
                        <a:rPr sz="1400" b="0" i="0">
                          <a:solidFill>
                            <a:srgbClr val="1F2933"/>
                          </a:solidFill>
                          <a:latin typeface="Calibri"/>
                        </a:rPr>
                        <a:t>10</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0.0690 *</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0.0796</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0.0718</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ctr"/>
                      <a:r>
                        <a:rPr sz="1400" b="0" i="0">
                          <a:solidFill>
                            <a:srgbClr val="1F2933"/>
                          </a:solidFill>
                          <a:latin typeface="Calibri"/>
                        </a:rPr>
                        <a:t>100</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0.0690</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0.0796</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0.0718 *</a:t>
                      </a:r>
                      <a:endParaRPr sz="1400" b="0" i="0">
                        <a:solidFill>
                          <a:srgbClr val="1F2933"/>
                        </a:solidFill>
                        <a:latin typeface="Calibri"/>
                      </a:endParaRPr>
                    </a:p>
                  </a:txBody>
                  <a:tcPr marL="64008" marR="64008" marT="22860" marB="22860" anchor="ctr">
                    <a:solidFill>
                      <a:srgbClr val="F1F4F7"/>
                    </a:solidFill>
                  </a:tcPr>
                </a:tc>
              </a:tr>
            </a:tbl>
          </a:graphicData>
        </a:graphic>
      </p:graphicFrame>
      <p:sp>
        <p:nvSpPr>
          <p:cNvPr id="6" name="TextBox 5"/>
          <p:cNvSpPr txBox="1"/>
          <p:nvPr/>
        </p:nvSpPr>
        <p:spPr>
          <a:xfrm>
            <a:off x="7863840" y="1280160"/>
            <a:ext cx="3749039" cy="365760"/>
          </a:xfrm>
          <a:prstGeom prst="rect">
            <a:avLst/>
          </a:prstGeom>
          <a:noFill/>
        </p:spPr>
        <p:txBody>
          <a:bodyPr wrap="square" lIns="45720" tIns="27432" rIns="45720" bIns="27432" anchor="t">
            <a:spAutoFit/>
          </a:bodyPr>
          <a:lstStyle/>
          <a:p>
            <a:pPr algn="l">
              <a:spcAft>
                <a:spcPts val="400"/>
              </a:spcAft>
            </a:pPr>
            <a:r>
              <a:rPr sz="1600" b="1" i="0">
                <a:solidFill>
                  <a:srgbClr val="14283D"/>
                </a:solidFill>
                <a:latin typeface="Calibri"/>
              </a:rPr>
              <a:t>Random forest (300 trees)</a:t>
            </a:r>
            <a:endParaRPr sz="1600" b="1" i="0">
              <a:solidFill>
                <a:srgbClr val="14283D"/>
              </a:solidFill>
              <a:latin typeface="Calibri"/>
            </a:endParaRPr>
          </a:p>
        </p:txBody>
      </p:sp>
      <p:graphicFrame>
        <p:nvGraphicFramePr>
          <p:cNvPr id="7" name="72h forest grid"/>
          <p:cNvGraphicFramePr>
            <a:graphicFrameLocks noGrp="1"/>
          </p:cNvGraphicFramePr>
          <p:nvPr/>
        </p:nvGraphicFramePr>
        <p:xfrm>
          <a:off x="7863840" y="1691640"/>
          <a:ext cx="3840480" cy="1755648"/>
        </p:xfrm>
        <a:graphic>
          <a:graphicData uri="http://schemas.openxmlformats.org/drawingml/2006/table">
            <a:tbl>
              <a:tblPr firstRow="1">
                <a:tableStyleId>{5C22544A-7EE6-4342-B048-85BDC9FD1C3A}</a:tableStyleId>
              </a:tblPr>
              <a:tblGrid>
                <a:gridCol w="1097280"/>
                <a:gridCol w="914400"/>
                <a:gridCol w="914400"/>
                <a:gridCol w="914400"/>
              </a:tblGrid>
              <a:tr h="438912">
                <a:tc>
                  <a:txBody>
                    <a:bodyPr wrap="square"/>
                    <a:lstStyle/>
                    <a:p>
                      <a:pPr algn="ctr"/>
                      <a:r>
                        <a:rPr sz="1400" b="1" i="0">
                          <a:solidFill>
                            <a:srgbClr val="FFFFFF"/>
                          </a:solidFill>
                          <a:latin typeface="Calibri"/>
                        </a:rPr>
                        <a:t>max_depth</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leaf 5</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leaf 10</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leaf 20</a:t>
                      </a:r>
                      <a:endParaRPr sz="1400" b="1" i="0">
                        <a:solidFill>
                          <a:srgbClr val="FFFFFF"/>
                        </a:solidFill>
                        <a:latin typeface="Calibri"/>
                      </a:endParaRPr>
                    </a:p>
                  </a:txBody>
                  <a:tcPr marL="64008" marR="64008" marT="22860" marB="22860" anchor="ctr">
                    <a:solidFill>
                      <a:srgbClr val="14283D"/>
                    </a:solidFill>
                  </a:tcPr>
                </a:tc>
              </a:tr>
              <a:tr h="438912">
                <a:tc>
                  <a:txBody>
                    <a:bodyPr wrap="square"/>
                    <a:lstStyle/>
                    <a:p>
                      <a:pPr algn="ctr"/>
                      <a:r>
                        <a:rPr sz="1400" b="0" i="0">
                          <a:solidFill>
                            <a:srgbClr val="1F2933"/>
                          </a:solidFill>
                          <a:latin typeface="Calibri"/>
                        </a:rPr>
                        <a:t>2</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0.0624</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0.0598</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0.0623</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ctr"/>
                      <a:r>
                        <a:rPr sz="1400" b="0" i="0">
                          <a:solidFill>
                            <a:srgbClr val="1F2933"/>
                          </a:solidFill>
                          <a:latin typeface="Calibri"/>
                        </a:rPr>
                        <a:t>3</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0.0582</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0.0560 *</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0.0599</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ctr"/>
                      <a:r>
                        <a:rPr sz="1400" b="0" i="0">
                          <a:solidFill>
                            <a:srgbClr val="1F2933"/>
                          </a:solidFill>
                          <a:latin typeface="Calibri"/>
                        </a:rPr>
                        <a:t>5</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0.0609</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0.0562</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0.0598</a:t>
                      </a:r>
                      <a:endParaRPr sz="1400" b="0" i="0">
                        <a:solidFill>
                          <a:srgbClr val="1F2933"/>
                        </a:solidFill>
                        <a:latin typeface="Calibri"/>
                      </a:endParaRPr>
                    </a:p>
                  </a:txBody>
                  <a:tcPr marL="64008" marR="64008" marT="22860" marB="22860" anchor="ctr">
                    <a:solidFill>
                      <a:srgbClr val="FFFFFF"/>
                    </a:solidFill>
                  </a:tcPr>
                </a:tc>
              </a:tr>
            </a:tbl>
          </a:graphicData>
        </a:graphic>
      </p:graphicFrame>
      <p:sp>
        <p:nvSpPr>
          <p:cNvPr id="8" name="TextBox 7"/>
          <p:cNvSpPr txBox="1"/>
          <p:nvPr/>
        </p:nvSpPr>
        <p:spPr>
          <a:xfrm>
            <a:off x="548640" y="4846320"/>
            <a:ext cx="11064240" cy="1371600"/>
          </a:xfrm>
          <a:prstGeom prst="rect">
            <a:avLst/>
          </a:prstGeom>
          <a:noFill/>
        </p:spPr>
        <p:txBody>
          <a:bodyPr wrap="square" lIns="45720" tIns="27432" rIns="45720" bIns="27432" anchor="t">
            <a:spAutoFit/>
          </a:bodyPr>
          <a:lstStyle/>
          <a:p>
            <a:pPr marL="182880" indent="-182880" algn="l">
              <a:spcAft>
                <a:spcPts val="500"/>
              </a:spcAft>
              <a:buChar char="•"/>
            </a:pPr>
            <a:r>
              <a:rPr sz="1500" b="0" i="0">
                <a:solidFill>
                  <a:srgbClr val="1F2933"/>
                </a:solidFill>
                <a:latin typeface="Calibri"/>
              </a:rPr>
              <a:t>* = selected by lowest validation log loss (week-equal); ties would go to the more regularized setting.</a:t>
            </a:r>
            <a:endParaRPr sz="1500" b="0" i="0">
              <a:solidFill>
                <a:srgbClr val="1F2933"/>
              </a:solidFill>
              <a:latin typeface="Calibri"/>
            </a:endParaRPr>
          </a:p>
          <a:p>
            <a:pPr marL="182880" indent="-182880" algn="l">
              <a:spcAft>
                <a:spcPts val="500"/>
              </a:spcAft>
              <a:buChar char="•"/>
            </a:pPr>
            <a:r>
              <a:rPr sz="1500" b="0" i="0">
                <a:solidFill>
                  <a:srgbClr val="1F2933"/>
                </a:solidFill>
                <a:latin typeface="Calibri"/>
              </a:rPr>
              <a:t>Validation weeks are the same 18 weeks as at 24h, with features recomputed at 72h.</a:t>
            </a:r>
            <a:endParaRPr sz="1500" b="0" i="0">
              <a:solidFill>
                <a:srgbClr val="1F2933"/>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A4: paired week-bootstrap differences, test weeks</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Paired differences table"/>
          <p:cNvGraphicFramePr>
            <a:graphicFrameLocks noGrp="1"/>
          </p:cNvGraphicFramePr>
          <p:nvPr/>
        </p:nvGraphicFramePr>
        <p:xfrm>
          <a:off x="548640" y="1234440"/>
          <a:ext cx="11064240" cy="4224528"/>
        </p:xfrm>
        <a:graphic>
          <a:graphicData uri="http://schemas.openxmlformats.org/drawingml/2006/table">
            <a:tbl>
              <a:tblPr firstRow="1">
                <a:tableStyleId>{5C22544A-7EE6-4342-B048-85BDC9FD1C3A}</a:tableStyleId>
              </a:tblPr>
              <a:tblGrid>
                <a:gridCol w="822960"/>
                <a:gridCol w="2377440"/>
                <a:gridCol w="1645920"/>
                <a:gridCol w="3108960"/>
                <a:gridCol w="3108960"/>
              </a:tblGrid>
              <a:tr h="384048">
                <a:tc>
                  <a:txBody>
                    <a:bodyPr wrap="square"/>
                    <a:lstStyle/>
                    <a:p>
                      <a:pPr algn="ctr"/>
                      <a:r>
                        <a:rPr sz="1400" b="1" i="0">
                          <a:solidFill>
                            <a:srgbClr val="FFFFFF"/>
                          </a:solidFill>
                          <a:latin typeface="Calibri"/>
                        </a:rPr>
                        <a:t>Cutoff</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Comparison (first − second)</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Δ top-1 (weeks)</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Δ log loss [95% CI]</a:t>
                      </a:r>
                      <a:endParaRPr sz="1400" b="1" i="0">
                        <a:solidFill>
                          <a:srgbClr val="FFFFFF"/>
                        </a:solidFill>
                        <a:latin typeface="Calibri"/>
                      </a:endParaRPr>
                    </a:p>
                  </a:txBody>
                  <a:tcPr marL="64008" marR="64008" marT="22860" marB="22860" anchor="ctr">
                    <a:solidFill>
                      <a:srgbClr val="14283D"/>
                    </a:solidFill>
                  </a:tcPr>
                </a:tc>
                <a:tc>
                  <a:txBody>
                    <a:bodyPr wrap="square"/>
                    <a:lstStyle/>
                    <a:p>
                      <a:pPr algn="ctr"/>
                      <a:r>
                        <a:rPr sz="1400" b="1" i="0">
                          <a:solidFill>
                            <a:srgbClr val="FFFFFF"/>
                          </a:solidFill>
                          <a:latin typeface="Calibri"/>
                        </a:rPr>
                        <a:t>Δ Brier [95% CI]</a:t>
                      </a:r>
                      <a:endParaRPr sz="1400" b="1" i="0">
                        <a:solidFill>
                          <a:srgbClr val="FFFFFF"/>
                        </a:solidFill>
                        <a:latin typeface="Calibri"/>
                      </a:endParaRPr>
                    </a:p>
                  </a:txBody>
                  <a:tcPr marL="64008" marR="64008" marT="22860" marB="22860" anchor="ctr">
                    <a:solidFill>
                      <a:srgbClr val="14283D"/>
                    </a:solidFill>
                  </a:tcPr>
                </a:tc>
              </a:tr>
              <a:tr h="384048">
                <a:tc>
                  <a:txBody>
                    <a:bodyPr wrap="square"/>
                    <a:lstStyle/>
                    <a:p>
                      <a:pPr algn="ctr"/>
                      <a:r>
                        <a:rPr sz="1400" b="0" i="0">
                          <a:solidFill>
                            <a:srgbClr val="1F2933"/>
                          </a:solidFill>
                          <a:latin typeface="Calibri"/>
                        </a:rPr>
                        <a:t>24h</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LR-B − LR-A</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+0.0064 [−0.0014, +0.0187]</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+0.0029 [−0.0002, +0.0080]</a:t>
                      </a:r>
                      <a:endParaRPr sz="1400" b="0" i="0">
                        <a:solidFill>
                          <a:srgbClr val="1F2933"/>
                        </a:solidFill>
                        <a:latin typeface="Calibri"/>
                      </a:endParaRPr>
                    </a:p>
                  </a:txBody>
                  <a:tcPr marL="64008" marR="64008" marT="22860" marB="22860" anchor="ctr">
                    <a:solidFill>
                      <a:srgbClr val="FFFFFF"/>
                    </a:solidFill>
                  </a:tcPr>
                </a:tc>
              </a:tr>
              <a:tr h="384048">
                <a:tc>
                  <a:txBody>
                    <a:bodyPr wrap="square"/>
                    <a:lstStyle/>
                    <a:p>
                      <a:pPr algn="ctr"/>
                      <a:r>
                        <a:rPr sz="1400" b="0" i="0">
                          <a:solidFill>
                            <a:srgbClr val="1F2933"/>
                          </a:solidFill>
                          <a:latin typeface="Calibri"/>
                        </a:rPr>
                        <a:t>24h</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LR-C − LR-B</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−0.0061 [−0.0127, −0.0021]</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−0.0014 [−0.0032, −0.0002]</a:t>
                      </a:r>
                      <a:endParaRPr sz="1400" b="0" i="0">
                        <a:solidFill>
                          <a:srgbClr val="1F2933"/>
                        </a:solidFill>
                        <a:latin typeface="Calibri"/>
                      </a:endParaRPr>
                    </a:p>
                  </a:txBody>
                  <a:tcPr marL="64008" marR="64008" marT="22860" marB="22860" anchor="ctr">
                    <a:solidFill>
                      <a:srgbClr val="F1F4F7"/>
                    </a:solidFill>
                  </a:tcPr>
                </a:tc>
              </a:tr>
              <a:tr h="384048">
                <a:tc>
                  <a:txBody>
                    <a:bodyPr wrap="square"/>
                    <a:lstStyle/>
                    <a:p>
                      <a:pPr algn="ctr"/>
                      <a:r>
                        <a:rPr sz="1400" b="0" i="0">
                          <a:solidFill>
                            <a:srgbClr val="1F2933"/>
                          </a:solidFill>
                          <a:latin typeface="Calibri"/>
                        </a:rPr>
                        <a:t>24h</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LR-C − Market</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+0.0095 [+0.0014, +0.0193]</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+0.0032 [+0.0001, +0.0072]</a:t>
                      </a:r>
                      <a:endParaRPr sz="1400" b="0" i="0">
                        <a:solidFill>
                          <a:srgbClr val="1F2933"/>
                        </a:solidFill>
                        <a:latin typeface="Calibri"/>
                      </a:endParaRPr>
                    </a:p>
                  </a:txBody>
                  <a:tcPr marL="64008" marR="64008" marT="22860" marB="22860" anchor="ctr">
                    <a:solidFill>
                      <a:srgbClr val="FFF4D6"/>
                    </a:solidFill>
                  </a:tcPr>
                </a:tc>
              </a:tr>
              <a:tr h="384048">
                <a:tc>
                  <a:txBody>
                    <a:bodyPr wrap="square"/>
                    <a:lstStyle/>
                    <a:p>
                      <a:pPr algn="ctr"/>
                      <a:r>
                        <a:rPr sz="1400" b="0" i="0">
                          <a:solidFill>
                            <a:srgbClr val="1F2933"/>
                          </a:solidFill>
                          <a:latin typeface="Calibri"/>
                        </a:rPr>
                        <a:t>24h</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RF − Market</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−0.0054 [−0.0084, −0.0017]</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+0.0010 [+0.0001, +0.0021]</a:t>
                      </a:r>
                      <a:endParaRPr sz="1400" b="0" i="0">
                        <a:solidFill>
                          <a:srgbClr val="1F2933"/>
                        </a:solidFill>
                        <a:latin typeface="Calibri"/>
                      </a:endParaRPr>
                    </a:p>
                  </a:txBody>
                  <a:tcPr marL="64008" marR="64008" marT="22860" marB="22860" anchor="ctr">
                    <a:solidFill>
                      <a:srgbClr val="FFF4D6"/>
                    </a:solidFill>
                  </a:tcPr>
                </a:tc>
              </a:tr>
              <a:tr h="384048">
                <a:tc>
                  <a:txBody>
                    <a:bodyPr wrap="square"/>
                    <a:lstStyle/>
                    <a:p>
                      <a:pPr algn="ctr"/>
                      <a:r>
                        <a:rPr sz="1400" b="0" i="0">
                          <a:solidFill>
                            <a:srgbClr val="1F2933"/>
                          </a:solidFill>
                          <a:latin typeface="Calibri"/>
                        </a:rPr>
                        <a:t>24h</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RF − LR-C</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−0.0149 [−0.0217, −0.0093]</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−0.0022 [−0.0052, −0.0001]</a:t>
                      </a:r>
                      <a:endParaRPr sz="1400" b="0" i="0">
                        <a:solidFill>
                          <a:srgbClr val="1F2933"/>
                        </a:solidFill>
                        <a:latin typeface="Calibri"/>
                      </a:endParaRPr>
                    </a:p>
                  </a:txBody>
                  <a:tcPr marL="64008" marR="64008" marT="22860" marB="22860" anchor="ctr">
                    <a:solidFill>
                      <a:srgbClr val="FFFFFF"/>
                    </a:solidFill>
                  </a:tcPr>
                </a:tc>
              </a:tr>
              <a:tr h="384048">
                <a:tc>
                  <a:txBody>
                    <a:bodyPr wrap="square"/>
                    <a:lstStyle/>
                    <a:p>
                      <a:pPr algn="ctr"/>
                      <a:r>
                        <a:rPr sz="1400" b="0" i="0">
                          <a:solidFill>
                            <a:srgbClr val="1F2933"/>
                          </a:solidFill>
                          <a:latin typeface="Calibri"/>
                        </a:rPr>
                        <a:t>72h</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LR-B − LR-A</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+0.0008 [−0.0165, +0.0172]</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+0.0010 [−0.0054, +0.0073]</a:t>
                      </a:r>
                      <a:endParaRPr sz="1400" b="0" i="0">
                        <a:solidFill>
                          <a:srgbClr val="1F2933"/>
                        </a:solidFill>
                        <a:latin typeface="Calibri"/>
                      </a:endParaRPr>
                    </a:p>
                  </a:txBody>
                  <a:tcPr marL="64008" marR="64008" marT="22860" marB="22860" anchor="ctr">
                    <a:solidFill>
                      <a:srgbClr val="F1F4F7"/>
                    </a:solidFill>
                  </a:tcPr>
                </a:tc>
              </a:tr>
              <a:tr h="384048">
                <a:tc>
                  <a:txBody>
                    <a:bodyPr wrap="square"/>
                    <a:lstStyle/>
                    <a:p>
                      <a:pPr algn="ctr"/>
                      <a:r>
                        <a:rPr sz="1400" b="0" i="0">
                          <a:solidFill>
                            <a:srgbClr val="1F2933"/>
                          </a:solidFill>
                          <a:latin typeface="Calibri"/>
                        </a:rPr>
                        <a:t>72h</a:t>
                      </a:r>
                      <a:endParaRPr sz="1400" b="0"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LR-C − LR-B</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−0.0084 [−0.0162, −0.0025]</a:t>
                      </a:r>
                      <a:endParaRPr sz="1400" b="0" i="0">
                        <a:solidFill>
                          <a:srgbClr val="1F2933"/>
                        </a:solidFill>
                        <a:latin typeface="Calibri"/>
                      </a:endParaRPr>
                    </a:p>
                  </a:txBody>
                  <a:tcPr marL="64008" marR="64008" marT="22860" marB="22860" anchor="ctr">
                    <a:solidFill>
                      <a:srgbClr val="FFFFFF"/>
                    </a:solidFill>
                  </a:tcPr>
                </a:tc>
                <a:tc>
                  <a:txBody>
                    <a:bodyPr wrap="square"/>
                    <a:lstStyle/>
                    <a:p>
                      <a:pPr algn="ctr"/>
                      <a:r>
                        <a:rPr sz="1400" b="0" i="0">
                          <a:solidFill>
                            <a:srgbClr val="1F2933"/>
                          </a:solidFill>
                          <a:latin typeface="Calibri"/>
                        </a:rPr>
                        <a:t>−0.0015 [−0.0034, −0.0003]</a:t>
                      </a:r>
                      <a:endParaRPr sz="1400" b="0" i="0">
                        <a:solidFill>
                          <a:srgbClr val="1F2933"/>
                        </a:solidFill>
                        <a:latin typeface="Calibri"/>
                      </a:endParaRPr>
                    </a:p>
                  </a:txBody>
                  <a:tcPr marL="64008" marR="64008" marT="22860" marB="22860" anchor="ctr">
                    <a:solidFill>
                      <a:srgbClr val="FFFFFF"/>
                    </a:solidFill>
                  </a:tcPr>
                </a:tc>
              </a:tr>
              <a:tr h="384048">
                <a:tc>
                  <a:txBody>
                    <a:bodyPr wrap="square"/>
                    <a:lstStyle/>
                    <a:p>
                      <a:pPr algn="ctr"/>
                      <a:r>
                        <a:rPr sz="1400" b="0" i="0">
                          <a:solidFill>
                            <a:srgbClr val="1F2933"/>
                          </a:solidFill>
                          <a:latin typeface="Calibri"/>
                        </a:rPr>
                        <a:t>72h</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LR-C − Market</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+0.0066 [−0.0054, +0.0186]</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+0.0009 [−0.0043, +0.0062]</a:t>
                      </a:r>
                      <a:endParaRPr sz="1400" b="0" i="0">
                        <a:solidFill>
                          <a:srgbClr val="1F2933"/>
                        </a:solidFill>
                        <a:latin typeface="Calibri"/>
                      </a:endParaRPr>
                    </a:p>
                  </a:txBody>
                  <a:tcPr marL="64008" marR="64008" marT="22860" marB="22860" anchor="ctr">
                    <a:solidFill>
                      <a:srgbClr val="FFF4D6"/>
                    </a:solidFill>
                  </a:tcPr>
                </a:tc>
              </a:tr>
              <a:tr h="384048">
                <a:tc>
                  <a:txBody>
                    <a:bodyPr wrap="square"/>
                    <a:lstStyle/>
                    <a:p>
                      <a:pPr algn="ctr"/>
                      <a:r>
                        <a:rPr sz="1400" b="0" i="0">
                          <a:solidFill>
                            <a:srgbClr val="1F2933"/>
                          </a:solidFill>
                          <a:latin typeface="Calibri"/>
                        </a:rPr>
                        <a:t>72h</a:t>
                      </a:r>
                      <a:endParaRPr sz="1400" b="0" i="0">
                        <a:solidFill>
                          <a:srgbClr val="1F2933"/>
                        </a:solidFill>
                        <a:latin typeface="Calibri"/>
                      </a:endParaRPr>
                    </a:p>
                  </a:txBody>
                  <a:tcPr marL="64008" marR="64008" marT="22860" marB="22860" anchor="ctr">
                    <a:solidFill>
                      <a:srgbClr val="FFF4D6"/>
                    </a:solidFill>
                  </a:tcPr>
                </a:tc>
                <a:tc>
                  <a:txBody>
                    <a:bodyPr wrap="square"/>
                    <a:lstStyle/>
                    <a:p>
                      <a:pPr algn="l"/>
                      <a:r>
                        <a:rPr sz="1400" b="0" i="0">
                          <a:solidFill>
                            <a:srgbClr val="1F2933"/>
                          </a:solidFill>
                          <a:latin typeface="Calibri"/>
                        </a:rPr>
                        <a:t>RF − Market</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−0.0029 [−0.0177, +0.0098]</a:t>
                      </a:r>
                      <a:endParaRPr sz="1400" b="0" i="0">
                        <a:solidFill>
                          <a:srgbClr val="1F2933"/>
                        </a:solidFill>
                        <a:latin typeface="Calibri"/>
                      </a:endParaRPr>
                    </a:p>
                  </a:txBody>
                  <a:tcPr marL="64008" marR="64008" marT="22860" marB="22860" anchor="ctr">
                    <a:solidFill>
                      <a:srgbClr val="FFF4D6"/>
                    </a:solidFill>
                  </a:tcPr>
                </a:tc>
                <a:tc>
                  <a:txBody>
                    <a:bodyPr wrap="square"/>
                    <a:lstStyle/>
                    <a:p>
                      <a:pPr algn="ctr"/>
                      <a:r>
                        <a:rPr sz="1400" b="0" i="0">
                          <a:solidFill>
                            <a:srgbClr val="1F2933"/>
                          </a:solidFill>
                          <a:latin typeface="Calibri"/>
                        </a:rPr>
                        <a:t>+0.0003 [−0.0042, +0.0044]</a:t>
                      </a:r>
                      <a:endParaRPr sz="1400" b="0" i="0">
                        <a:solidFill>
                          <a:srgbClr val="1F2933"/>
                        </a:solidFill>
                        <a:latin typeface="Calibri"/>
                      </a:endParaRPr>
                    </a:p>
                  </a:txBody>
                  <a:tcPr marL="64008" marR="64008" marT="22860" marB="22860" anchor="ctr">
                    <a:solidFill>
                      <a:srgbClr val="FFF4D6"/>
                    </a:solidFill>
                  </a:tcPr>
                </a:tc>
              </a:tr>
              <a:tr h="384048">
                <a:tc>
                  <a:txBody>
                    <a:bodyPr wrap="square"/>
                    <a:lstStyle/>
                    <a:p>
                      <a:pPr algn="ctr"/>
                      <a:r>
                        <a:rPr sz="1400" b="0" i="0">
                          <a:solidFill>
                            <a:srgbClr val="1F2933"/>
                          </a:solidFill>
                          <a:latin typeface="Calibri"/>
                        </a:rPr>
                        <a:t>72h</a:t>
                      </a:r>
                      <a:endParaRPr sz="1400" b="0"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RF − LR-C</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+1</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−0.0095 [−0.0227, +0.0028]</a:t>
                      </a:r>
                      <a:endParaRPr sz="1400" b="0" i="0">
                        <a:solidFill>
                          <a:srgbClr val="1F2933"/>
                        </a:solidFill>
                        <a:latin typeface="Calibri"/>
                      </a:endParaRPr>
                    </a:p>
                  </a:txBody>
                  <a:tcPr marL="64008" marR="64008" marT="22860" marB="22860" anchor="ctr">
                    <a:solidFill>
                      <a:srgbClr val="F1F4F7"/>
                    </a:solidFill>
                  </a:tcPr>
                </a:tc>
                <a:tc>
                  <a:txBody>
                    <a:bodyPr wrap="square"/>
                    <a:lstStyle/>
                    <a:p>
                      <a:pPr algn="ctr"/>
                      <a:r>
                        <a:rPr sz="1400" b="0" i="0">
                          <a:solidFill>
                            <a:srgbClr val="1F2933"/>
                          </a:solidFill>
                          <a:latin typeface="Calibri"/>
                        </a:rPr>
                        <a:t>−0.0006 [−0.0049, +0.0035]</a:t>
                      </a:r>
                      <a:endParaRPr sz="1400" b="0" i="0">
                        <a:solidFill>
                          <a:srgbClr val="1F2933"/>
                        </a:solidFill>
                        <a:latin typeface="Calibri"/>
                      </a:endParaRPr>
                    </a:p>
                  </a:txBody>
                  <a:tcPr marL="64008" marR="64008" marT="22860" marB="22860" anchor="ctr">
                    <a:solidFill>
                      <a:srgbClr val="F1F4F7"/>
                    </a:solidFill>
                  </a:tcPr>
                </a:tc>
              </a:tr>
            </a:tbl>
          </a:graphicData>
        </a:graphic>
      </p:graphicFrame>
      <p:sp>
        <p:nvSpPr>
          <p:cNvPr id="6" name="TextBox 5"/>
          <p:cNvSpPr txBox="1"/>
          <p:nvPr/>
        </p:nvSpPr>
        <p:spPr>
          <a:xfrm>
            <a:off x="548640" y="5532120"/>
            <a:ext cx="11064240" cy="868680"/>
          </a:xfrm>
          <a:prstGeom prst="rect">
            <a:avLst/>
          </a:prstGeom>
          <a:noFill/>
        </p:spPr>
        <p:txBody>
          <a:bodyPr wrap="square" lIns="45720" tIns="27432" rIns="45720" bIns="27432" anchor="t">
            <a:spAutoFit/>
          </a:bodyPr>
          <a:lstStyle/>
          <a:p>
            <a:pPr algn="l">
              <a:spcAft>
                <a:spcPts val="400"/>
              </a:spcAft>
            </a:pPr>
            <a:r>
              <a:rPr sz="1300" b="1" i="0">
                <a:solidFill>
                  <a:srgbClr val="5F6B7A"/>
                </a:solidFill>
                <a:latin typeface="Calibri"/>
              </a:rPr>
              <a:t>Negative log loss or Brier difference = first method better. </a:t>
            </a:r>
            <a:r>
              <a:rPr sz="1300" b="0" i="0">
                <a:solidFill>
                  <a:srgbClr val="5F6B7A"/>
                </a:solidFill>
                <a:latin typeface="Calibri"/>
              </a:rPr>
              <a:t>Highlighted: comparisons with the market. 24h: RF log-loss CI excludes 0, but the effect is small and Brier goes the other way; 72h CIs span 0. 10,000 resamples, seed 20261022. Descriptive only: 18 weeks, test set seen before; no multiplicity adjustment or serial-dependence correction; practical importance untested.</a:t>
            </a:r>
            <a:endParaRPr sz="1300" b="0" i="0">
              <a:solidFill>
                <a:srgbClr val="5F6B7A"/>
              </a:solidFill>
              <a:latin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A5: calibration diagnostics, 24h cutoff</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pic>
        <p:nvPicPr>
          <p:cNvPr id="5" name="Calibration figure 24h" descr="Calibration plots at the 24h cutoff"/>
          <p:cNvPicPr>
            <a:picLocks noChangeAspect="1"/>
          </p:cNvPicPr>
          <p:nvPr/>
        </p:nvPicPr>
        <p:blipFill>
          <a:blip r:embed="rId1"/>
          <a:stretch>
            <a:fillRect/>
          </a:stretch>
        </p:blipFill>
        <p:spPr>
          <a:xfrm>
            <a:off x="548640" y="1234440"/>
            <a:ext cx="8595360" cy="4780565"/>
          </a:xfrm>
          <a:prstGeom prst="rect">
            <a:avLst/>
          </a:prstGeom>
        </p:spPr>
      </p:pic>
      <p:sp>
        <p:nvSpPr>
          <p:cNvPr id="6" name="TextBox 5"/>
          <p:cNvSpPr txBox="1"/>
          <p:nvPr/>
        </p:nvSpPr>
        <p:spPr>
          <a:xfrm>
            <a:off x="9281160" y="1325880"/>
            <a:ext cx="2423160" cy="4937760"/>
          </a:xfrm>
          <a:prstGeom prst="rect">
            <a:avLst/>
          </a:prstGeom>
          <a:noFill/>
        </p:spPr>
        <p:txBody>
          <a:bodyPr wrap="square" lIns="45720" tIns="27432" rIns="45720" bIns="27432" anchor="t">
            <a:spAutoFit/>
          </a:bodyPr>
          <a:lstStyle/>
          <a:p>
            <a:pPr marL="182880" indent="-182880" algn="l">
              <a:spcAft>
                <a:spcPts val="900"/>
              </a:spcAft>
              <a:buChar char="•"/>
            </a:pPr>
            <a:r>
              <a:rPr sz="1450" b="0" i="0">
                <a:solidFill>
                  <a:srgbClr val="1F2933"/>
                </a:solidFill>
                <a:latin typeface="Calibri"/>
              </a:rPr>
              <a:t>Five equal-width bins; marker area = rows in bin.</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Left: market price, all weeks. Right: test weeks, market, LR-C and RF on the same rows.</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Descriptive only: 18 test weeks, sparse bins.</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No recalibration was fitted.</a:t>
            </a:r>
            <a:endParaRPr sz="1450" b="0" i="0">
              <a:solidFill>
                <a:srgbClr val="1F2933"/>
              </a:solidFill>
              <a:latin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A6: calibration diagnostics, 72h cutoff</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pic>
        <p:nvPicPr>
          <p:cNvPr id="5" name="Calibration figure 72h" descr="Calibration plots at the 72h cutoff"/>
          <p:cNvPicPr>
            <a:picLocks noChangeAspect="1"/>
          </p:cNvPicPr>
          <p:nvPr/>
        </p:nvPicPr>
        <p:blipFill>
          <a:blip r:embed="rId1"/>
          <a:stretch>
            <a:fillRect/>
          </a:stretch>
        </p:blipFill>
        <p:spPr>
          <a:xfrm>
            <a:off x="548640" y="1234440"/>
            <a:ext cx="8595360" cy="4780565"/>
          </a:xfrm>
          <a:prstGeom prst="rect">
            <a:avLst/>
          </a:prstGeom>
        </p:spPr>
      </p:pic>
      <p:sp>
        <p:nvSpPr>
          <p:cNvPr id="6" name="TextBox 5"/>
          <p:cNvSpPr txBox="1"/>
          <p:nvPr/>
        </p:nvSpPr>
        <p:spPr>
          <a:xfrm>
            <a:off x="9281160" y="1325880"/>
            <a:ext cx="2423160" cy="4937760"/>
          </a:xfrm>
          <a:prstGeom prst="rect">
            <a:avLst/>
          </a:prstGeom>
          <a:noFill/>
        </p:spPr>
        <p:txBody>
          <a:bodyPr wrap="square" lIns="45720" tIns="27432" rIns="45720" bIns="27432" anchor="t">
            <a:spAutoFit/>
          </a:bodyPr>
          <a:lstStyle/>
          <a:p>
            <a:pPr marL="182880" indent="-182880" algn="l">
              <a:spcAft>
                <a:spcPts val="900"/>
              </a:spcAft>
              <a:buChar char="•"/>
            </a:pPr>
            <a:r>
              <a:rPr sz="1450" b="0" i="0">
                <a:solidFill>
                  <a:srgbClr val="1F2933"/>
                </a:solidFill>
                <a:latin typeface="Calibri"/>
              </a:rPr>
              <a:t>Five equal-width bins; marker area = rows in bin.</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Left: market price, all weeks. Right: test weeks, market, LR-C and RF on the same rows.</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Descriptive only: 18 test weeks, sparse bins.</a:t>
            </a:r>
            <a:endParaRPr sz="1450" b="0" i="0">
              <a:solidFill>
                <a:srgbClr val="1F2933"/>
              </a:solidFill>
              <a:latin typeface="Calibri"/>
            </a:endParaRPr>
          </a:p>
          <a:p>
            <a:pPr marL="182880" indent="-182880" algn="l">
              <a:spcAft>
                <a:spcPts val="900"/>
              </a:spcAft>
              <a:buChar char="•"/>
            </a:pPr>
            <a:r>
              <a:rPr sz="1450" b="0" i="0">
                <a:solidFill>
                  <a:srgbClr val="1F2933"/>
                </a:solidFill>
                <a:latin typeface="Calibri"/>
              </a:rPr>
              <a:t>No recalibration was fitted.</a:t>
            </a:r>
            <a:endParaRPr sz="1450" b="0" i="0">
              <a:solidFill>
                <a:srgbClr val="1F2933"/>
              </a:solidFill>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A7: data quality and coverage by cutoff</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pic>
        <p:nvPicPr>
          <p:cNvPr id="5" name="Price freshness figure" descr="Age of last observed price by cutoff"/>
          <p:cNvPicPr>
            <a:picLocks noChangeAspect="1"/>
          </p:cNvPicPr>
          <p:nvPr/>
        </p:nvPicPr>
        <p:blipFill>
          <a:blip r:embed="rId1"/>
          <a:stretch>
            <a:fillRect/>
          </a:stretch>
        </p:blipFill>
        <p:spPr>
          <a:xfrm>
            <a:off x="548640" y="1234440"/>
            <a:ext cx="5669280" cy="2527653"/>
          </a:xfrm>
          <a:prstGeom prst="rect">
            <a:avLst/>
          </a:prstGeom>
        </p:spPr>
      </p:pic>
      <p:pic>
        <p:nvPicPr>
          <p:cNvPr id="6" name="Traded hours figure" descr="Number of hours with trades in the last 24 hours"/>
          <p:cNvPicPr>
            <a:picLocks noChangeAspect="1"/>
          </p:cNvPicPr>
          <p:nvPr/>
        </p:nvPicPr>
        <p:blipFill>
          <a:blip r:embed="rId2"/>
          <a:stretch>
            <a:fillRect/>
          </a:stretch>
        </p:blipFill>
        <p:spPr>
          <a:xfrm>
            <a:off x="548640" y="3853533"/>
            <a:ext cx="5669280" cy="2144643"/>
          </a:xfrm>
          <a:prstGeom prst="rect">
            <a:avLst/>
          </a:prstGeom>
        </p:spPr>
      </p:pic>
      <p:graphicFrame>
        <p:nvGraphicFramePr>
          <p:cNvPr id="7" name="Audit table"/>
          <p:cNvGraphicFramePr>
            <a:graphicFrameLocks noGrp="1"/>
          </p:cNvGraphicFramePr>
          <p:nvPr/>
        </p:nvGraphicFramePr>
        <p:xfrm>
          <a:off x="6492240" y="1234440"/>
          <a:ext cx="5120640" cy="3570732"/>
        </p:xfrm>
        <a:graphic>
          <a:graphicData uri="http://schemas.openxmlformats.org/drawingml/2006/table">
            <a:tbl>
              <a:tblPr firstRow="1">
                <a:tableStyleId>{5C22544A-7EE6-4342-B048-85BDC9FD1C3A}</a:tableStyleId>
              </a:tblPr>
              <a:tblGrid>
                <a:gridCol w="3657600"/>
                <a:gridCol w="731520"/>
                <a:gridCol w="731520"/>
              </a:tblGrid>
              <a:tr h="324612">
                <a:tc>
                  <a:txBody>
                    <a:bodyPr wrap="square"/>
                    <a:lstStyle/>
                    <a:p>
                      <a:pPr algn="l"/>
                      <a:r>
                        <a:rPr sz="1250" b="1" i="0">
                          <a:solidFill>
                            <a:srgbClr val="FFFFFF"/>
                          </a:solidFill>
                          <a:latin typeface="Calibri"/>
                        </a:rPr>
                        <a:t>Audit item</a:t>
                      </a:r>
                      <a:endParaRPr sz="1250" b="1" i="0">
                        <a:solidFill>
                          <a:srgbClr val="FFFFFF"/>
                        </a:solidFill>
                        <a:latin typeface="Calibri"/>
                      </a:endParaRPr>
                    </a:p>
                  </a:txBody>
                  <a:tcPr marL="64008" marR="64008" marT="22860" marB="22860" anchor="ctr">
                    <a:solidFill>
                      <a:srgbClr val="14283D"/>
                    </a:solidFill>
                  </a:tcPr>
                </a:tc>
                <a:tc>
                  <a:txBody>
                    <a:bodyPr wrap="square"/>
                    <a:lstStyle/>
                    <a:p>
                      <a:pPr algn="ctr"/>
                      <a:r>
                        <a:rPr sz="1250" b="1" i="0">
                          <a:solidFill>
                            <a:srgbClr val="FFFFFF"/>
                          </a:solidFill>
                          <a:latin typeface="Calibri"/>
                        </a:rPr>
                        <a:t>24h</a:t>
                      </a:r>
                      <a:endParaRPr sz="1250" b="1" i="0">
                        <a:solidFill>
                          <a:srgbClr val="FFFFFF"/>
                        </a:solidFill>
                        <a:latin typeface="Calibri"/>
                      </a:endParaRPr>
                    </a:p>
                  </a:txBody>
                  <a:tcPr marL="64008" marR="64008" marT="22860" marB="22860" anchor="ctr">
                    <a:solidFill>
                      <a:srgbClr val="14283D"/>
                    </a:solidFill>
                  </a:tcPr>
                </a:tc>
                <a:tc>
                  <a:txBody>
                    <a:bodyPr wrap="square"/>
                    <a:lstStyle/>
                    <a:p>
                      <a:pPr algn="ctr"/>
                      <a:r>
                        <a:rPr sz="1250" b="1" i="0">
                          <a:solidFill>
                            <a:srgbClr val="FFFFFF"/>
                          </a:solidFill>
                          <a:latin typeface="Calibri"/>
                        </a:rPr>
                        <a:t>72h</a:t>
                      </a:r>
                      <a:endParaRPr sz="1250" b="1" i="0">
                        <a:solidFill>
                          <a:srgbClr val="FFFFFF"/>
                        </a:solidFill>
                        <a:latin typeface="Calibri"/>
                      </a:endParaRPr>
                    </a:p>
                  </a:txBody>
                  <a:tcPr marL="64008" marR="64008" marT="22860" marB="22860" anchor="ctr">
                    <a:solidFill>
                      <a:srgbClr val="14283D"/>
                    </a:solidFill>
                  </a:tcPr>
                </a:tc>
              </a:tr>
              <a:tr h="324612">
                <a:tc>
                  <a:txBody>
                    <a:bodyPr wrap="square"/>
                    <a:lstStyle/>
                    <a:p>
                      <a:pPr algn="l"/>
                      <a:r>
                        <a:rPr sz="1250" b="0" i="0">
                          <a:solidFill>
                            <a:srgbClr val="1F2933"/>
                          </a:solidFill>
                          <a:latin typeface="Calibri"/>
                        </a:rPr>
                        <a:t>eligible candidate-week rows</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1,139</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1,131</a:t>
                      </a:r>
                      <a:endParaRPr sz="1250" b="0" i="0">
                        <a:solidFill>
                          <a:srgbClr val="1F2933"/>
                        </a:solidFill>
                        <a:latin typeface="Calibri"/>
                      </a:endParaRPr>
                    </a:p>
                  </a:txBody>
                  <a:tcPr marL="64008" marR="64008" marT="22860" marB="22860" anchor="ctr">
                    <a:solidFill>
                      <a:srgbClr val="FFFFFF"/>
                    </a:solidFill>
                  </a:tcPr>
                </a:tc>
              </a:tr>
              <a:tr h="324612">
                <a:tc>
                  <a:txBody>
                    <a:bodyPr wrap="square"/>
                    <a:lstStyle/>
                    <a:p>
                      <a:pPr algn="l"/>
                      <a:r>
                        <a:rPr sz="1250" b="0" i="0">
                          <a:solidFill>
                            <a:srgbClr val="1F2933"/>
                          </a:solidFill>
                          <a:latin typeface="Calibri"/>
                        </a:rPr>
                        <a:t>rows without observed price</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240</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276</a:t>
                      </a:r>
                      <a:endParaRPr sz="1250" b="0" i="0">
                        <a:solidFill>
                          <a:srgbClr val="1F2933"/>
                        </a:solidFill>
                        <a:latin typeface="Calibri"/>
                      </a:endParaRPr>
                    </a:p>
                  </a:txBody>
                  <a:tcPr marL="64008" marR="64008" marT="22860" marB="22860" anchor="ctr">
                    <a:solidFill>
                      <a:srgbClr val="F1F4F7"/>
                    </a:solidFill>
                  </a:tcPr>
                </a:tc>
              </a:tr>
              <a:tr h="324612">
                <a:tc>
                  <a:txBody>
                    <a:bodyPr wrap="square"/>
                    <a:lstStyle/>
                    <a:p>
                      <a:pPr algn="l"/>
                      <a:r>
                        <a:rPr sz="1250" b="0" i="0">
                          <a:solidFill>
                            <a:srgbClr val="1F2933"/>
                          </a:solidFill>
                          <a:latin typeface="Calibri"/>
                        </a:rPr>
                        <a:t>rows with price older than 24h</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302</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268</a:t>
                      </a:r>
                      <a:endParaRPr sz="1250" b="0" i="0">
                        <a:solidFill>
                          <a:srgbClr val="1F2933"/>
                        </a:solidFill>
                        <a:latin typeface="Calibri"/>
                      </a:endParaRPr>
                    </a:p>
                  </a:txBody>
                  <a:tcPr marL="64008" marR="64008" marT="22860" marB="22860" anchor="ctr">
                    <a:solidFill>
                      <a:srgbClr val="FFFFFF"/>
                    </a:solidFill>
                  </a:tcPr>
                </a:tc>
              </a:tr>
              <a:tr h="324612">
                <a:tc>
                  <a:txBody>
                    <a:bodyPr wrap="square"/>
                    <a:lstStyle/>
                    <a:p>
                      <a:pPr algn="l"/>
                      <a:r>
                        <a:rPr sz="1250" b="0" i="0">
                          <a:solidFill>
                            <a:srgbClr val="1F2933"/>
                          </a:solidFill>
                          <a:latin typeface="Calibri"/>
                        </a:rPr>
                        <a:t>rows without 24h price change</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263</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316</a:t>
                      </a:r>
                      <a:endParaRPr sz="1250" b="0" i="0">
                        <a:solidFill>
                          <a:srgbClr val="1F2933"/>
                        </a:solidFill>
                        <a:latin typeface="Calibri"/>
                      </a:endParaRPr>
                    </a:p>
                  </a:txBody>
                  <a:tcPr marL="64008" marR="64008" marT="22860" marB="22860" anchor="ctr">
                    <a:solidFill>
                      <a:srgbClr val="F1F4F7"/>
                    </a:solidFill>
                  </a:tcPr>
                </a:tc>
              </a:tr>
              <a:tr h="324612">
                <a:tc>
                  <a:txBody>
                    <a:bodyPr wrap="square"/>
                    <a:lstStyle/>
                    <a:p>
                      <a:pPr algn="l"/>
                      <a:r>
                        <a:rPr sz="1250" b="0" i="0">
                          <a:solidFill>
                            <a:srgbClr val="1F2933"/>
                          </a:solidFill>
                          <a:latin typeface="Calibri"/>
                        </a:rPr>
                        <a:t>rows with no returned hourly row in 24h window</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113</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90</a:t>
                      </a:r>
                      <a:endParaRPr sz="1250" b="0" i="0">
                        <a:solidFill>
                          <a:srgbClr val="1F2933"/>
                        </a:solidFill>
                        <a:latin typeface="Calibri"/>
                      </a:endParaRPr>
                    </a:p>
                  </a:txBody>
                  <a:tcPr marL="64008" marR="64008" marT="22860" marB="22860" anchor="ctr">
                    <a:solidFill>
                      <a:srgbClr val="FFFFFF"/>
                    </a:solidFill>
                  </a:tcPr>
                </a:tc>
              </a:tr>
              <a:tr h="324612">
                <a:tc>
                  <a:txBody>
                    <a:bodyPr wrap="square"/>
                    <a:lstStyle/>
                    <a:p>
                      <a:pPr algn="l"/>
                      <a:r>
                        <a:rPr sz="1250" b="0" i="0">
                          <a:solidFill>
                            <a:srgbClr val="1F2933"/>
                          </a:solidFill>
                          <a:latin typeface="Calibri"/>
                        </a:rPr>
                        <a:t>rows with returned window but zero volume</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435</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459</a:t>
                      </a:r>
                      <a:endParaRPr sz="1250" b="0" i="0">
                        <a:solidFill>
                          <a:srgbClr val="1F2933"/>
                        </a:solidFill>
                        <a:latin typeface="Calibri"/>
                      </a:endParaRPr>
                    </a:p>
                  </a:txBody>
                  <a:tcPr marL="64008" marR="64008" marT="22860" marB="22860" anchor="ctr">
                    <a:solidFill>
                      <a:srgbClr val="F1F4F7"/>
                    </a:solidFill>
                  </a:tcPr>
                </a:tc>
              </a:tr>
              <a:tr h="324612">
                <a:tc>
                  <a:txBody>
                    <a:bodyPr wrap="square"/>
                    <a:lstStyle/>
                    <a:p>
                      <a:pPr algn="l"/>
                      <a:r>
                        <a:rPr sz="1250" b="0" i="0">
                          <a:solidFill>
                            <a:srgbClr val="1F2933"/>
                          </a:solidFill>
                          <a:latin typeface="Calibri"/>
                        </a:rPr>
                        <a:t>rows with positive 24h volume</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591</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582</a:t>
                      </a:r>
                      <a:endParaRPr sz="1250" b="0" i="0">
                        <a:solidFill>
                          <a:srgbClr val="1F2933"/>
                        </a:solidFill>
                        <a:latin typeface="Calibri"/>
                      </a:endParaRPr>
                    </a:p>
                  </a:txBody>
                  <a:tcPr marL="64008" marR="64008" marT="22860" marB="22860" anchor="ctr">
                    <a:solidFill>
                      <a:srgbClr val="FFFFFF"/>
                    </a:solidFill>
                  </a:tcPr>
                </a:tc>
              </a:tr>
              <a:tr h="324612">
                <a:tc>
                  <a:txBody>
                    <a:bodyPr wrap="square"/>
                    <a:lstStyle/>
                    <a:p>
                      <a:pPr algn="l"/>
                      <a:r>
                        <a:rPr sz="1250" b="0" i="0">
                          <a:solidFill>
                            <a:srgbClr val="1F2933"/>
                          </a:solidFill>
                          <a:latin typeface="Calibri"/>
                        </a:rPr>
                        <a:t>weeks where winner not listed</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3</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5</a:t>
                      </a:r>
                      <a:endParaRPr sz="1250" b="0" i="0">
                        <a:solidFill>
                          <a:srgbClr val="1F2933"/>
                        </a:solidFill>
                        <a:latin typeface="Calibri"/>
                      </a:endParaRPr>
                    </a:p>
                  </a:txBody>
                  <a:tcPr marL="64008" marR="64008" marT="22860" marB="22860" anchor="ctr">
                    <a:solidFill>
                      <a:srgbClr val="F1F4F7"/>
                    </a:solidFill>
                  </a:tcPr>
                </a:tc>
              </a:tr>
              <a:tr h="324612">
                <a:tc>
                  <a:txBody>
                    <a:bodyPr wrap="square"/>
                    <a:lstStyle/>
                    <a:p>
                      <a:pPr algn="l"/>
                      <a:r>
                        <a:rPr sz="1250" b="0" i="0">
                          <a:solidFill>
                            <a:srgbClr val="1F2933"/>
                          </a:solidFill>
                          <a:latin typeface="Calibri"/>
                        </a:rPr>
                        <a:t>test rows scored (of 217)</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217</a:t>
                      </a:r>
                      <a:endParaRPr sz="1250" b="0" i="0">
                        <a:solidFill>
                          <a:srgbClr val="1F2933"/>
                        </a:solidFill>
                        <a:latin typeface="Calibri"/>
                      </a:endParaRPr>
                    </a:p>
                  </a:txBody>
                  <a:tcPr marL="64008" marR="64008" marT="22860" marB="22860" anchor="ctr">
                    <a:solidFill>
                      <a:srgbClr val="FFFFFF"/>
                    </a:solidFill>
                  </a:tcPr>
                </a:tc>
                <a:tc>
                  <a:txBody>
                    <a:bodyPr wrap="square"/>
                    <a:lstStyle/>
                    <a:p>
                      <a:pPr algn="ctr"/>
                      <a:r>
                        <a:rPr sz="1250" b="0" i="0">
                          <a:solidFill>
                            <a:srgbClr val="1F2933"/>
                          </a:solidFill>
                          <a:latin typeface="Calibri"/>
                        </a:rPr>
                        <a:t>214</a:t>
                      </a:r>
                      <a:endParaRPr sz="1250" b="0" i="0">
                        <a:solidFill>
                          <a:srgbClr val="1F2933"/>
                        </a:solidFill>
                        <a:latin typeface="Calibri"/>
                      </a:endParaRPr>
                    </a:p>
                  </a:txBody>
                  <a:tcPr marL="64008" marR="64008" marT="22860" marB="22860" anchor="ctr">
                    <a:solidFill>
                      <a:srgbClr val="FFFFFF"/>
                    </a:solidFill>
                  </a:tcPr>
                </a:tc>
              </a:tr>
              <a:tr h="324612">
                <a:tc>
                  <a:txBody>
                    <a:bodyPr wrap="square"/>
                    <a:lstStyle/>
                    <a:p>
                      <a:pPr algn="l"/>
                      <a:r>
                        <a:rPr sz="1250" b="0" i="0">
                          <a:solidFill>
                            <a:srgbClr val="1F2933"/>
                          </a:solidFill>
                          <a:latin typeface="Calibri"/>
                        </a:rPr>
                        <a:t>highest price wins (all 90 weeks)</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77/90</a:t>
                      </a:r>
                      <a:endParaRPr sz="1250" b="0" i="0">
                        <a:solidFill>
                          <a:srgbClr val="1F2933"/>
                        </a:solidFill>
                        <a:latin typeface="Calibri"/>
                      </a:endParaRPr>
                    </a:p>
                  </a:txBody>
                  <a:tcPr marL="64008" marR="64008" marT="22860" marB="22860" anchor="ctr">
                    <a:solidFill>
                      <a:srgbClr val="F1F4F7"/>
                    </a:solidFill>
                  </a:tcPr>
                </a:tc>
                <a:tc>
                  <a:txBody>
                    <a:bodyPr wrap="square"/>
                    <a:lstStyle/>
                    <a:p>
                      <a:pPr algn="ctr"/>
                      <a:r>
                        <a:rPr sz="1250" b="0" i="0">
                          <a:solidFill>
                            <a:srgbClr val="1F2933"/>
                          </a:solidFill>
                          <a:latin typeface="Calibri"/>
                        </a:rPr>
                        <a:t>67/90</a:t>
                      </a:r>
                      <a:endParaRPr sz="1250" b="0" i="0">
                        <a:solidFill>
                          <a:srgbClr val="1F2933"/>
                        </a:solidFill>
                        <a:latin typeface="Calibri"/>
                      </a:endParaRPr>
                    </a:p>
                  </a:txBody>
                  <a:tcPr marL="64008" marR="64008" marT="22860" marB="22860" anchor="ctr">
                    <a:solidFill>
                      <a:srgbClr val="F1F4F7"/>
                    </a:solidFill>
                  </a:tcPr>
                </a:tc>
              </a:tr>
            </a:tbl>
          </a:graphicData>
        </a:graphic>
      </p:graphicFrame>
      <p:sp>
        <p:nvSpPr>
          <p:cNvPr id="8" name="TextBox 7"/>
          <p:cNvSpPr txBox="1"/>
          <p:nvPr/>
        </p:nvSpPr>
        <p:spPr>
          <a:xfrm>
            <a:off x="6492240" y="4896612"/>
            <a:ext cx="5120640" cy="1554480"/>
          </a:xfrm>
          <a:prstGeom prst="rect">
            <a:avLst/>
          </a:prstGeom>
          <a:noFill/>
        </p:spPr>
        <p:txBody>
          <a:bodyPr wrap="square" lIns="45720" tIns="27432" rIns="45720" bIns="27432" anchor="t">
            <a:spAutoFit/>
          </a:bodyPr>
          <a:lstStyle/>
          <a:p>
            <a:pPr marL="182880" indent="-182880" algn="l">
              <a:spcAft>
                <a:spcPts val="300"/>
              </a:spcAft>
              <a:buChar char="•"/>
            </a:pPr>
            <a:r>
              <a:rPr sz="1250" b="0" i="0">
                <a:solidFill>
                  <a:srgbClr val="1F2933"/>
                </a:solidFill>
                <a:latin typeface="Calibri"/>
              </a:rPr>
              <a:t>Age = hours since the last observed trade at the cutoff.</a:t>
            </a:r>
            <a:endParaRPr sz="1250" b="0" i="0">
              <a:solidFill>
                <a:srgbClr val="1F2933"/>
              </a:solidFill>
              <a:latin typeface="Calibri"/>
            </a:endParaRPr>
          </a:p>
          <a:p>
            <a:pPr marL="182880" indent="-182880" algn="l">
              <a:spcAft>
                <a:spcPts val="300"/>
              </a:spcAft>
              <a:buChar char="•"/>
            </a:pPr>
            <a:r>
              <a:rPr sz="1250" b="0" i="0">
                <a:solidFill>
                  <a:srgbClr val="1F2933"/>
                </a:solidFill>
                <a:latin typeface="Calibri"/>
              </a:rPr>
              <a:t>Volume is NaN only when no hourly row is returned for the window; a returned zero-trade window is a true 0.</a:t>
            </a:r>
            <a:endParaRPr sz="1250" b="0" i="0">
              <a:solidFill>
                <a:srgbClr val="1F2933"/>
              </a:solidFill>
              <a:latin typeface="Calibri"/>
            </a:endParaRPr>
          </a:p>
          <a:p>
            <a:pPr marL="182880" indent="-182880" algn="l">
              <a:spcAft>
                <a:spcPts val="300"/>
              </a:spcAft>
              <a:buChar char="•"/>
            </a:pPr>
            <a:r>
              <a:rPr sz="1250" b="0" i="0">
                <a:solidFill>
                  <a:srgbClr val="1F2933"/>
                </a:solidFill>
                <a:latin typeface="Calibri"/>
              </a:rPr>
              <a:t>Price change needs a price at or before t − 24h, so it is missing more often than price.</a:t>
            </a:r>
            <a:endParaRPr sz="1250" b="0" i="0">
              <a:solidFill>
                <a:srgbClr val="1F2933"/>
              </a:solidFill>
              <a:latin typeface="Calibri"/>
            </a:endParaRPr>
          </a:p>
          <a:p>
            <a:pPr marL="182880" indent="-182880" algn="l">
              <a:spcAft>
                <a:spcPts val="300"/>
              </a:spcAft>
              <a:buChar char="•"/>
            </a:pPr>
            <a:r>
              <a:rPr sz="1250" b="0" i="0">
                <a:solidFill>
                  <a:srgbClr val="1F2933"/>
                </a:solidFill>
                <a:latin typeface="Calibri"/>
              </a:rPr>
              <a:t>All 18 test winners were listed at both cutoffs.</a:t>
            </a:r>
            <a:endParaRPr sz="1250" b="0" i="0">
              <a:solidFill>
                <a:srgbClr val="1F2933"/>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A8: key training code (executed script)</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Pipeline code"/>
          <p:cNvSpPr/>
          <p:nvPr/>
        </p:nvSpPr>
        <p:spPr>
          <a:xfrm>
            <a:off x="548640" y="1280160"/>
            <a:ext cx="11064240" cy="2394204"/>
          </a:xfrm>
          <a:prstGeom prst="roundRect">
            <a:avLst>
              <a:gd name="adj" fmla="val 4000"/>
            </a:avLst>
          </a:prstGeom>
          <a:solidFill>
            <a:srgbClr val="17222F"/>
          </a:solidFill>
          <a:ln>
            <a:noFill/>
          </a:ln>
          <a:effectLst/>
        </p:spPr>
        <p:style>
          <a:lnRef idx="1">
            <a:schemeClr val="accent1"/>
          </a:lnRef>
          <a:fillRef idx="3">
            <a:schemeClr val="accent1"/>
          </a:fillRef>
          <a:effectRef idx="0">
            <a:schemeClr val="accent1"/>
          </a:effectRef>
          <a:fontRef idx="minor">
            <a:schemeClr val="lt1"/>
          </a:fontRef>
        </p:style>
        <p:txBody>
          <a:bodyPr wrap="none" lIns="164592" tIns="54864" bIns="54864" rtlCol="0" anchor="ctr"/>
          <a:lstStyle/>
          <a:p>
            <a:pPr algn="l">
              <a:spcAft>
                <a:spcPts val="0"/>
              </a:spcAft>
            </a:pPr>
            <a:r>
              <a:rPr sz="1150" b="0" i="0">
                <a:solidFill>
                  <a:srgbClr val="E6EDF3"/>
                </a:solidFill>
                <a:latin typeface="Courier New" panose="02070409020205090404"/>
              </a:rPr>
              <a:t>def make_pipeline(kind, **params):</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if kind == "lr":</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return Pipeline([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("imputer", SimpleImputer(strategy="median", add_indicator=True, keep_empty_features=True)),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("scale", StandardScaler()),</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("model", LogisticRegression(C=params["C"], l1_ratio=0.0, solver="lbfgs",</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max_iter=5000, tol=1e-8, random_state=SEED))])</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return Pipeline([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("imputer", SimpleImputer(strategy="median", add_indicator=True, keep_empty_features=True)),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("model", RandomForestClassifier(n_estimators=RF_TREES, max_depth=params["max_depth"],</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min_samples_leaf=params["min_samples_leaf"], max_features=None,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random_state=SEED, n_jobs=1))])</a:t>
            </a:r>
            <a:endParaRPr sz="1150" b="0" i="0">
              <a:solidFill>
                <a:srgbClr val="E6EDF3"/>
              </a:solidFill>
              <a:latin typeface="Courier New" panose="02070409020205090404"/>
            </a:endParaRPr>
          </a:p>
        </p:txBody>
      </p:sp>
      <p:sp>
        <p:nvSpPr>
          <p:cNvPr id="6" name="TextBox 5"/>
          <p:cNvSpPr txBox="1"/>
          <p:nvPr/>
        </p:nvSpPr>
        <p:spPr>
          <a:xfrm>
            <a:off x="548640" y="3701795"/>
            <a:ext cx="11064240" cy="274320"/>
          </a:xfrm>
          <a:prstGeom prst="rect">
            <a:avLst/>
          </a:prstGeom>
          <a:noFill/>
        </p:spPr>
        <p:txBody>
          <a:bodyPr wrap="square" lIns="45720" tIns="27432" rIns="45720" bIns="27432" anchor="t">
            <a:spAutoFit/>
          </a:bodyPr>
          <a:lstStyle/>
          <a:p>
            <a:pPr algn="l">
              <a:spcAft>
                <a:spcPts val="400"/>
              </a:spcAft>
            </a:pPr>
            <a:r>
              <a:rPr sz="1200" b="0" i="1">
                <a:solidFill>
                  <a:srgbClr val="5F6B7A"/>
                </a:solidFill>
                <a:latin typeface="Calibri"/>
              </a:rPr>
              <a:t>netflix_midterm_v2.py lines 199–210: preprocessing and models</a:t>
            </a:r>
            <a:endParaRPr sz="1200" b="0" i="1">
              <a:solidFill>
                <a:srgbClr val="5F6B7A"/>
              </a:solidFill>
              <a:latin typeface="Calibri"/>
            </a:endParaRPr>
          </a:p>
        </p:txBody>
      </p:sp>
      <p:sp>
        <p:nvSpPr>
          <p:cNvPr id="7" name="Fit code"/>
          <p:cNvSpPr/>
          <p:nvPr/>
        </p:nvSpPr>
        <p:spPr>
          <a:xfrm>
            <a:off x="548640" y="4085843"/>
            <a:ext cx="11064240" cy="1503298"/>
          </a:xfrm>
          <a:prstGeom prst="roundRect">
            <a:avLst>
              <a:gd name="adj" fmla="val 4000"/>
            </a:avLst>
          </a:prstGeom>
          <a:solidFill>
            <a:srgbClr val="17222F"/>
          </a:solidFill>
          <a:ln>
            <a:noFill/>
          </a:ln>
          <a:effectLst/>
        </p:spPr>
        <p:style>
          <a:lnRef idx="1">
            <a:schemeClr val="accent1"/>
          </a:lnRef>
          <a:fillRef idx="3">
            <a:schemeClr val="accent1"/>
          </a:fillRef>
          <a:effectRef idx="0">
            <a:schemeClr val="accent1"/>
          </a:effectRef>
          <a:fontRef idx="minor">
            <a:schemeClr val="lt1"/>
          </a:fontRef>
        </p:style>
        <p:txBody>
          <a:bodyPr wrap="none" lIns="164592" tIns="54864" bIns="54864" rtlCol="0" anchor="ctr"/>
          <a:lstStyle/>
          <a:p>
            <a:pPr algn="l">
              <a:spcAft>
                <a:spcPts val="0"/>
              </a:spcAft>
            </a:pPr>
            <a:r>
              <a:rPr sz="1150" b="0" i="0">
                <a:solidFill>
                  <a:srgbClr val="E6EDF3"/>
                </a:solidFill>
                <a:latin typeface="Courier New" panose="02070409020205090404"/>
              </a:rPr>
              <a:t>def week_weights(train):</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return len(train) / (train.event_ticker.nunique() * train.groupby("event_ticker").market_ticker.transform("size"))</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def fit_predict(train, rows, columns, kind, **params):</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model = make_pipeline(kind, **params)</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model.fit(train[columns], train.label_yes, model__sample_weight=week_weights(train))</a:t>
            </a:r>
            <a:endParaRPr sz="1150" b="0" i="0">
              <a:solidFill>
                <a:srgbClr val="E6EDF3"/>
              </a:solidFill>
              <a:latin typeface="Courier New" panose="02070409020205090404"/>
            </a:endParaRPr>
          </a:p>
          <a:p>
            <a:pPr algn="l">
              <a:spcAft>
                <a:spcPts val="0"/>
              </a:spcAft>
            </a:pPr>
            <a:r>
              <a:rPr sz="1150" b="0" i="0">
                <a:solidFill>
                  <a:srgbClr val="E6EDF3"/>
                </a:solidFill>
                <a:latin typeface="Courier New" panose="02070409020205090404"/>
              </a:rPr>
              <a:t>    return model, model.predict_proba(rows[columns])[:, 1]</a:t>
            </a:r>
            <a:endParaRPr sz="1150" b="0" i="0">
              <a:solidFill>
                <a:srgbClr val="E6EDF3"/>
              </a:solidFill>
              <a:latin typeface="Courier New" panose="02070409020205090404"/>
            </a:endParaRPr>
          </a:p>
        </p:txBody>
      </p:sp>
      <p:sp>
        <p:nvSpPr>
          <p:cNvPr id="8" name="TextBox 7"/>
          <p:cNvSpPr txBox="1"/>
          <p:nvPr/>
        </p:nvSpPr>
        <p:spPr>
          <a:xfrm>
            <a:off x="548640" y="5616575"/>
            <a:ext cx="11064240" cy="274320"/>
          </a:xfrm>
          <a:prstGeom prst="rect">
            <a:avLst/>
          </a:prstGeom>
          <a:noFill/>
        </p:spPr>
        <p:txBody>
          <a:bodyPr wrap="square" lIns="45720" tIns="27432" rIns="45720" bIns="27432" anchor="t">
            <a:spAutoFit/>
          </a:bodyPr>
          <a:lstStyle/>
          <a:p>
            <a:pPr algn="l">
              <a:spcAft>
                <a:spcPts val="400"/>
              </a:spcAft>
            </a:pPr>
            <a:r>
              <a:rPr sz="1200" b="0" i="1">
                <a:solidFill>
                  <a:srgbClr val="5F6B7A"/>
                </a:solidFill>
                <a:latin typeface="Calibri"/>
              </a:rPr>
              <a:t>lines 213–214 and 217–220: equal total weight per training week; models are fitted on training rows only</a:t>
            </a:r>
            <a:endParaRPr sz="1200" b="0" i="1">
              <a:solidFill>
                <a:srgbClr val="5F6B7A"/>
              </a:solidFill>
              <a:latin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A9: key split and metric code (executed script)</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sp>
        <p:nvSpPr>
          <p:cNvPr id="5" name="Split code"/>
          <p:cNvSpPr/>
          <p:nvPr/>
        </p:nvSpPr>
        <p:spPr>
          <a:xfrm>
            <a:off x="548640" y="1280160"/>
            <a:ext cx="11064240" cy="837057"/>
          </a:xfrm>
          <a:prstGeom prst="roundRect">
            <a:avLst>
              <a:gd name="adj" fmla="val 4000"/>
            </a:avLst>
          </a:prstGeom>
          <a:solidFill>
            <a:srgbClr val="17222F"/>
          </a:solidFill>
          <a:ln>
            <a:noFill/>
          </a:ln>
          <a:effectLst/>
        </p:spPr>
        <p:style>
          <a:lnRef idx="1">
            <a:schemeClr val="accent1"/>
          </a:lnRef>
          <a:fillRef idx="3">
            <a:schemeClr val="accent1"/>
          </a:fillRef>
          <a:effectRef idx="0">
            <a:schemeClr val="accent1"/>
          </a:effectRef>
          <a:fontRef idx="minor">
            <a:schemeClr val="lt1"/>
          </a:fontRef>
        </p:style>
        <p:txBody>
          <a:bodyPr wrap="none" lIns="164592" tIns="54864" bIns="54864" rtlCol="0" anchor="ctr"/>
          <a:lstStyle/>
          <a:p>
            <a:pPr algn="l">
              <a:spcAft>
                <a:spcPts val="0"/>
              </a:spcAft>
            </a:pPr>
            <a:r>
              <a:rPr sz="1250" b="0" i="0">
                <a:solidFill>
                  <a:srgbClr val="E6EDF3"/>
                </a:solidFill>
                <a:latin typeface="Courier New" panose="02070409020205090404"/>
              </a:rPr>
              <a:t>n_train, n_valid = int(n * .6), int(n * .2)</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split_map = {e: ("train" if i &lt; n_train else "validation" if i &lt; n_train + n_valid else "test")</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for i, e in enumerate(included.event_ticker)}</a:t>
            </a:r>
            <a:endParaRPr sz="1250" b="0" i="0">
              <a:solidFill>
                <a:srgbClr val="E6EDF3"/>
              </a:solidFill>
              <a:latin typeface="Courier New" panose="02070409020205090404"/>
            </a:endParaRPr>
          </a:p>
        </p:txBody>
      </p:sp>
      <p:sp>
        <p:nvSpPr>
          <p:cNvPr id="6" name="TextBox 5"/>
          <p:cNvSpPr txBox="1"/>
          <p:nvPr/>
        </p:nvSpPr>
        <p:spPr>
          <a:xfrm>
            <a:off x="548640" y="2144649"/>
            <a:ext cx="11064240" cy="274320"/>
          </a:xfrm>
          <a:prstGeom prst="rect">
            <a:avLst/>
          </a:prstGeom>
          <a:noFill/>
        </p:spPr>
        <p:txBody>
          <a:bodyPr wrap="square" lIns="45720" tIns="27432" rIns="45720" bIns="27432" anchor="t">
            <a:spAutoFit/>
          </a:bodyPr>
          <a:lstStyle/>
          <a:p>
            <a:pPr algn="l">
              <a:spcAft>
                <a:spcPts val="400"/>
              </a:spcAft>
            </a:pPr>
            <a:r>
              <a:rPr sz="1200" b="0" i="1">
                <a:solidFill>
                  <a:srgbClr val="5F6B7A"/>
                </a:solidFill>
                <a:latin typeface="Calibri"/>
              </a:rPr>
              <a:t>lines 159–161: chronological 60/20/20 split of whole weeks</a:t>
            </a:r>
            <a:endParaRPr sz="1200" b="0" i="1">
              <a:solidFill>
                <a:srgbClr val="5F6B7A"/>
              </a:solidFill>
              <a:latin typeface="Calibri"/>
            </a:endParaRPr>
          </a:p>
        </p:txBody>
      </p:sp>
      <p:sp>
        <p:nvSpPr>
          <p:cNvPr id="7" name="Metric code"/>
          <p:cNvSpPr/>
          <p:nvPr/>
        </p:nvSpPr>
        <p:spPr>
          <a:xfrm>
            <a:off x="548640" y="2528697"/>
            <a:ext cx="11064240" cy="2580132"/>
          </a:xfrm>
          <a:prstGeom prst="roundRect">
            <a:avLst>
              <a:gd name="adj" fmla="val 4000"/>
            </a:avLst>
          </a:prstGeom>
          <a:solidFill>
            <a:srgbClr val="17222F"/>
          </a:solidFill>
          <a:ln>
            <a:noFill/>
          </a:ln>
          <a:effectLst/>
        </p:spPr>
        <p:style>
          <a:lnRef idx="1">
            <a:schemeClr val="accent1"/>
          </a:lnRef>
          <a:fillRef idx="3">
            <a:schemeClr val="accent1"/>
          </a:fillRef>
          <a:effectRef idx="0">
            <a:schemeClr val="accent1"/>
          </a:effectRef>
          <a:fontRef idx="minor">
            <a:schemeClr val="lt1"/>
          </a:fontRef>
        </p:style>
        <p:txBody>
          <a:bodyPr wrap="none" lIns="164592" tIns="54864" bIns="54864" rtlCol="0" anchor="ctr"/>
          <a:lstStyle/>
          <a:p>
            <a:pPr algn="l">
              <a:spcAft>
                <a:spcPts val="0"/>
              </a:spcAft>
            </a:pPr>
            <a:r>
              <a:rPr sz="1250" b="0" i="0">
                <a:solidFill>
                  <a:srgbClr val="E6EDF3"/>
                </a:solidFill>
                <a:latin typeface="Courier New" panose="02070409020205090404"/>
              </a:rPr>
              <a:t>def clipped(p):</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return np.clip(np.asarray(p, dtype=float), EPS, 1 - EPS)</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def per_week_metric(df, prob_col, metric):</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"""Mean loss within each week over scorable candidates (observed market price). Returns a Series by week."""</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p, y = clipped(df[prob_col]), df.label_yes.to_numpy()</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loss = -(y * np.log(p) + (1 - y) * np.log(1 - p)) if metric == "log_loss" else (p - y) ** 2</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return pd.Series(loss, index=df.index).groupby(df.event_ticker).mean()</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def week_equal(df, prob_col, metric):</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s = per_week_metric(df, prob_col, metric)</a:t>
            </a:r>
            <a:endParaRPr sz="1250" b="0" i="0">
              <a:solidFill>
                <a:srgbClr val="E6EDF3"/>
              </a:solidFill>
              <a:latin typeface="Courier New" panose="02070409020205090404"/>
            </a:endParaRPr>
          </a:p>
          <a:p>
            <a:pPr algn="l">
              <a:spcAft>
                <a:spcPts val="0"/>
              </a:spcAft>
            </a:pPr>
            <a:r>
              <a:rPr sz="1250" b="0" i="0">
                <a:solidFill>
                  <a:srgbClr val="E6EDF3"/>
                </a:solidFill>
                <a:latin typeface="Courier New" panose="02070409020205090404"/>
              </a:rPr>
              <a:t>    return float(s.mean()) if len(s) else np.nan</a:t>
            </a:r>
            <a:endParaRPr sz="1250" b="0" i="0">
              <a:solidFill>
                <a:srgbClr val="E6EDF3"/>
              </a:solidFill>
              <a:latin typeface="Courier New" panose="02070409020205090404"/>
            </a:endParaRPr>
          </a:p>
        </p:txBody>
      </p:sp>
      <p:sp>
        <p:nvSpPr>
          <p:cNvPr id="8" name="TextBox 7"/>
          <p:cNvSpPr txBox="1"/>
          <p:nvPr/>
        </p:nvSpPr>
        <p:spPr>
          <a:xfrm>
            <a:off x="548640" y="5136261"/>
            <a:ext cx="11064240" cy="274320"/>
          </a:xfrm>
          <a:prstGeom prst="rect">
            <a:avLst/>
          </a:prstGeom>
          <a:noFill/>
        </p:spPr>
        <p:txBody>
          <a:bodyPr wrap="square" lIns="45720" tIns="27432" rIns="45720" bIns="27432" anchor="t">
            <a:spAutoFit/>
          </a:bodyPr>
          <a:lstStyle/>
          <a:p>
            <a:pPr algn="l">
              <a:spcAft>
                <a:spcPts val="400"/>
              </a:spcAft>
            </a:pPr>
            <a:r>
              <a:rPr sz="1200" b="0" i="1">
                <a:solidFill>
                  <a:srgbClr val="5F6B7A"/>
                </a:solidFill>
                <a:latin typeface="Calibri"/>
              </a:rPr>
              <a:t>lines 183–184, 187–191, 194–196: clipping, per-week loss, week-equal mean</a:t>
            </a:r>
            <a:endParaRPr sz="1200" b="0" i="1">
              <a:solidFill>
                <a:srgbClr val="5F6B7A"/>
              </a:solidFill>
              <a:latin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48640" y="292608"/>
            <a:ext cx="11064240" cy="868680"/>
          </a:xfrm>
        </p:spPr>
        <p:txBody>
          <a:bodyPr wrap="square" lIns="45720" rIns="45720" anchor="ctr"/>
          <a:lstStyle/>
          <a:p>
            <a:pPr algn="l"/>
            <a:r>
              <a:rPr sz="2700" b="1" i="0">
                <a:solidFill>
                  <a:srgbClr val="14283D"/>
                </a:solidFill>
                <a:latin typeface="Cambria"/>
              </a:rPr>
              <a:t>Appendix A10: reproduction entry and run record</a:t>
            </a:r>
            <a:endParaRPr sz="2700" b="1" i="0">
              <a:solidFill>
                <a:srgbClr val="14283D"/>
              </a:solidFill>
              <a:latin typeface="Cambria"/>
            </a:endParaRPr>
          </a:p>
        </p:txBody>
      </p:sp>
      <p:sp>
        <p:nvSpPr>
          <p:cNvPr id="3" name="Footer"/>
          <p:cNvSpPr txBox="1"/>
          <p:nvPr/>
        </p:nvSpPr>
        <p:spPr>
          <a:xfrm>
            <a:off x="548640" y="6464808"/>
            <a:ext cx="9601200" cy="274320"/>
          </a:xfrm>
          <a:prstGeom prst="rect">
            <a:avLst/>
          </a:prstGeom>
          <a:noFill/>
        </p:spPr>
        <p:txBody>
          <a:bodyPr wrap="square" lIns="45720" tIns="27432" rIns="45720" bIns="27432" anchor="t">
            <a:spAutoFit/>
          </a:bodyPr>
          <a:lstStyle/>
          <a:p>
            <a:pPr algn="l">
              <a:spcAft>
                <a:spcPts val="400"/>
              </a:spcAft>
            </a:pPr>
            <a:r>
              <a:rPr sz="1100" b="0" i="0">
                <a:solidFill>
                  <a:srgbClr val="5F6B7A"/>
                </a:solidFill>
                <a:latin typeface="Calibri"/>
              </a:rPr>
              <a:t>STATS 414 midterm  |  Kalshi Netflix weekly #1 movie  |  exploratory re-analysis, not trading advice</a:t>
            </a:r>
            <a:endParaRPr sz="1100" b="0" i="0">
              <a:solidFill>
                <a:srgbClr val="5F6B7A"/>
              </a:solidFill>
              <a:latin typeface="Calibri"/>
            </a:endParaRPr>
          </a:p>
        </p:txBody>
      </p:sp>
      <p:sp>
        <p:nvSpPr>
          <p:cNvPr id="4" name="Slide number"/>
          <p:cNvSpPr txBox="1"/>
          <p:nvPr/>
        </p:nvSpPr>
        <p:spPr>
          <a:xfrm>
            <a:off x="10972800" y="6473952"/>
            <a:ext cx="685800" cy="274320"/>
          </a:xfrm>
          <a:prstGeom prst="rect">
            <a:avLst/>
          </a:prstGeom>
          <a:noFill/>
        </p:spPr>
        <p:txBody>
          <a:bodyPr wrap="none">
            <a:spAutoFit/>
          </a:bodyPr>
          <a:lstStyle/>
          <a:p>
            <a:pPr algn="r"/>
            <a:fld id="{B6F15528-21DE-4FAA-801E-634DDDAF4B2B}" type="slidenum">
              <a:rPr lang="en-US" sz="1100">
                <a:solidFill>
                  <a:srgbClr val="5F6B7A"/>
                </a:solidFill>
              </a:rPr>
            </a:fld>
            <a:endParaRPr lang="en-US" sz="1100">
              <a:solidFill>
                <a:srgbClr val="5F6B7A"/>
              </a:solidFill>
            </a:endParaRPr>
          </a:p>
        </p:txBody>
      </p:sp>
      <p:graphicFrame>
        <p:nvGraphicFramePr>
          <p:cNvPr id="5" name="Run record table"/>
          <p:cNvGraphicFramePr>
            <a:graphicFrameLocks noGrp="1"/>
          </p:cNvGraphicFramePr>
          <p:nvPr/>
        </p:nvGraphicFramePr>
        <p:xfrm>
          <a:off x="548640" y="1234440"/>
          <a:ext cx="11064240" cy="4389120"/>
        </p:xfrm>
        <a:graphic>
          <a:graphicData uri="http://schemas.openxmlformats.org/drawingml/2006/table">
            <a:tbl>
              <a:tblPr firstRow="1">
                <a:tableStyleId>{5C22544A-7EE6-4342-B048-85BDC9FD1C3A}</a:tableStyleId>
              </a:tblPr>
              <a:tblGrid>
                <a:gridCol w="2103120"/>
                <a:gridCol w="8961120"/>
              </a:tblGrid>
              <a:tr h="438912">
                <a:tc>
                  <a:txBody>
                    <a:bodyPr wrap="square"/>
                    <a:lstStyle/>
                    <a:p>
                      <a:pPr algn="l"/>
                      <a:r>
                        <a:rPr sz="1400" b="1" i="0">
                          <a:solidFill>
                            <a:srgbClr val="FFFFFF"/>
                          </a:solidFill>
                          <a:latin typeface="Calibri"/>
                        </a:rPr>
                        <a:t>Item</a:t>
                      </a:r>
                      <a:endParaRPr sz="1400" b="1" i="0">
                        <a:solidFill>
                          <a:srgbClr val="FFFFFF"/>
                        </a:solidFill>
                        <a:latin typeface="Calibri"/>
                      </a:endParaRPr>
                    </a:p>
                  </a:txBody>
                  <a:tcPr marL="64008" marR="64008" marT="22860" marB="22860" anchor="ctr">
                    <a:solidFill>
                      <a:srgbClr val="14283D"/>
                    </a:solidFill>
                  </a:tcPr>
                </a:tc>
                <a:tc>
                  <a:txBody>
                    <a:bodyPr wrap="square"/>
                    <a:lstStyle/>
                    <a:p>
                      <a:pPr algn="l"/>
                      <a:r>
                        <a:rPr sz="1400" b="1" i="0">
                          <a:solidFill>
                            <a:srgbClr val="FFFFFF"/>
                          </a:solidFill>
                          <a:latin typeface="Calibri"/>
                        </a:rPr>
                        <a:t>Value</a:t>
                      </a:r>
                      <a:endParaRPr sz="1400" b="1" i="0">
                        <a:solidFill>
                          <a:srgbClr val="FFFFFF"/>
                        </a:solidFill>
                        <a:latin typeface="Calibri"/>
                      </a:endParaRPr>
                    </a:p>
                  </a:txBody>
                  <a:tcPr marL="64008" marR="64008" marT="22860" marB="22860" anchor="ctr">
                    <a:solidFill>
                      <a:srgbClr val="14283D"/>
                    </a:solidFill>
                  </a:tcPr>
                </a:tc>
              </a:tr>
              <a:tr h="438912">
                <a:tc>
                  <a:txBody>
                    <a:bodyPr wrap="square"/>
                    <a:lstStyle/>
                    <a:p>
                      <a:pPr algn="l"/>
                      <a:r>
                        <a:rPr sz="1400" b="1" i="0">
                          <a:solidFill>
                            <a:srgbClr val="1F2933"/>
                          </a:solidFill>
                          <a:latin typeface="Calibri"/>
                        </a:rPr>
                        <a:t>Run</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python code/netflix_midterm_v2.py; then python code/build_ppt_v2.py</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l"/>
                      <a:r>
                        <a:rPr sz="1400" b="1" i="0">
                          <a:solidFill>
                            <a:srgbClr val="1F2933"/>
                          </a:solidFill>
                          <a:latin typeface="Calibri"/>
                        </a:rPr>
                        <a:t>Colab</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notebooks/Netflix_Midterm_v2_Colab.ipynb (runs from input_data/)</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Share package</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Netflix_Midterm_v2_share.zip (code, input_data, results, figures, slides, docs)</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l"/>
                      <a:r>
                        <a:rPr sz="1400" b="1" i="0">
                          <a:solidFill>
                            <a:srgbClr val="1F2933"/>
                          </a:solidFill>
                          <a:latin typeface="Calibri"/>
                        </a:rPr>
                        <a:t>Seed</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20261022</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Executed (UTC)</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2026-10-27T22:56:37, runtime 31.8 s</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l"/>
                      <a:r>
                        <a:rPr sz="1400" b="1" i="0">
                          <a:solidFill>
                            <a:srgbClr val="1F2933"/>
                          </a:solidFill>
                          <a:latin typeface="Calibri"/>
                        </a:rPr>
                        <a:t>Versions</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Python 3.13.16, pandas 3.0.5, numpy 2.5.3, scikit-learn 1.9.1</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Candles read from</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csv_mirror_of_parquet</a:t>
                      </a:r>
                      <a:endParaRPr sz="1400" b="0" i="0">
                        <a:solidFill>
                          <a:srgbClr val="1F2933"/>
                        </a:solidFill>
                        <a:latin typeface="Calibri"/>
                      </a:endParaRPr>
                    </a:p>
                  </a:txBody>
                  <a:tcPr marL="64008" marR="64008" marT="22860" marB="22860" anchor="ctr">
                    <a:solidFill>
                      <a:srgbClr val="FFFFFF"/>
                    </a:solidFill>
                  </a:tcPr>
                </a:tc>
              </a:tr>
              <a:tr h="438912">
                <a:tc>
                  <a:txBody>
                    <a:bodyPr wrap="square"/>
                    <a:lstStyle/>
                    <a:p>
                      <a:pPr algn="l"/>
                      <a:r>
                        <a:rPr sz="1400" b="1" i="0">
                          <a:solidFill>
                            <a:srgbClr val="1F2933"/>
                          </a:solidFill>
                          <a:latin typeface="Calibri"/>
                        </a:rPr>
                        <a:t>SHA256 (first 12)</a:t>
                      </a:r>
                      <a:endParaRPr sz="1400" b="1" i="0">
                        <a:solidFill>
                          <a:srgbClr val="1F2933"/>
                        </a:solidFill>
                        <a:latin typeface="Calibri"/>
                      </a:endParaRPr>
                    </a:p>
                  </a:txBody>
                  <a:tcPr marL="64008" marR="64008" marT="22860" marB="22860" anchor="ctr">
                    <a:solidFill>
                      <a:srgbClr val="F1F4F7"/>
                    </a:solidFill>
                  </a:tcPr>
                </a:tc>
                <a:tc>
                  <a:txBody>
                    <a:bodyPr wrap="square"/>
                    <a:lstStyle/>
                    <a:p>
                      <a:pPr algn="l"/>
                      <a:r>
                        <a:rPr sz="1400" b="0" i="0">
                          <a:solidFill>
                            <a:srgbClr val="1F2933"/>
                          </a:solidFill>
                          <a:latin typeface="Calibri"/>
                        </a:rPr>
                        <a:t>markets cb398ba90466, parquet d286717b525e, csv mirror 8518eb12e730</a:t>
                      </a:r>
                      <a:endParaRPr sz="1400" b="0" i="0">
                        <a:solidFill>
                          <a:srgbClr val="1F2933"/>
                        </a:solidFill>
                        <a:latin typeface="Calibri"/>
                      </a:endParaRPr>
                    </a:p>
                  </a:txBody>
                  <a:tcPr marL="64008" marR="64008" marT="22860" marB="22860" anchor="ctr">
                    <a:solidFill>
                      <a:srgbClr val="F1F4F7"/>
                    </a:solidFill>
                  </a:tcPr>
                </a:tc>
              </a:tr>
              <a:tr h="438912">
                <a:tc>
                  <a:txBody>
                    <a:bodyPr wrap="square"/>
                    <a:lstStyle/>
                    <a:p>
                      <a:pPr algn="l"/>
                      <a:r>
                        <a:rPr sz="1400" b="1" i="0">
                          <a:solidFill>
                            <a:srgbClr val="1F2933"/>
                          </a:solidFill>
                          <a:latin typeface="Calibri"/>
                        </a:rPr>
                        <a:t>SHA256 (first 12)</a:t>
                      </a:r>
                      <a:endParaRPr sz="1400" b="1" i="0">
                        <a:solidFill>
                          <a:srgbClr val="1F2933"/>
                        </a:solidFill>
                        <a:latin typeface="Calibri"/>
                      </a:endParaRPr>
                    </a:p>
                  </a:txBody>
                  <a:tcPr marL="64008" marR="64008" marT="22860" marB="22860" anchor="ctr">
                    <a:solidFill>
                      <a:srgbClr val="FFFFFF"/>
                    </a:solidFill>
                  </a:tcPr>
                </a:tc>
                <a:tc>
                  <a:txBody>
                    <a:bodyPr wrap="square"/>
                    <a:lstStyle/>
                    <a:p>
                      <a:pPr algn="l"/>
                      <a:r>
                        <a:rPr sz="1400" b="0" i="0">
                          <a:solidFill>
                            <a:srgbClr val="1F2933"/>
                          </a:solidFill>
                          <a:latin typeface="Calibri"/>
                        </a:rPr>
                        <a:t>script f95e8ee0f214, protocol a98a354d2e77</a:t>
                      </a:r>
                      <a:endParaRPr sz="1400" b="0" i="0">
                        <a:solidFill>
                          <a:srgbClr val="1F2933"/>
                        </a:solidFill>
                        <a:latin typeface="Calibri"/>
                      </a:endParaRPr>
                    </a:p>
                  </a:txBody>
                  <a:tcPr marL="64008" marR="64008" marT="22860" marB="22860" anchor="ctr">
                    <a:solidFill>
                      <a:srgbClr val="FFFFFF"/>
                    </a:solidFill>
                  </a:tcPr>
                </a:tc>
              </a:tr>
            </a:tbl>
          </a:graphicData>
        </a:graphic>
      </p:graphicFrame>
      <p:sp>
        <p:nvSpPr>
          <p:cNvPr id="6" name="TextBox 5"/>
          <p:cNvSpPr txBox="1"/>
          <p:nvPr/>
        </p:nvSpPr>
        <p:spPr>
          <a:xfrm>
            <a:off x="548640" y="5760720"/>
            <a:ext cx="11064240" cy="685800"/>
          </a:xfrm>
          <a:prstGeom prst="rect">
            <a:avLst/>
          </a:prstGeom>
          <a:noFill/>
        </p:spPr>
        <p:txBody>
          <a:bodyPr wrap="square" lIns="45720" tIns="27432" rIns="45720" bIns="27432" anchor="t">
            <a:spAutoFit/>
          </a:bodyPr>
          <a:lstStyle/>
          <a:p>
            <a:pPr marL="182880" indent="-182880" algn="l">
              <a:spcAft>
                <a:spcPts val="300"/>
              </a:spcAft>
              <a:buChar char="•"/>
            </a:pPr>
            <a:r>
              <a:rPr sz="1250" b="0" i="0">
                <a:solidFill>
                  <a:srgbClr val="1F2933"/>
                </a:solidFill>
                <a:latin typeface="Calibri"/>
              </a:rPr>
              <a:t>Results were computed from the CSV mirror of the hourly-candle parquet (verified against the parquet footer statistics) because pyarrow could not be installed in the run environment; the script's parquet path was not executed here. Full hashes: results/run_record.json.</a:t>
            </a:r>
            <a:endParaRPr sz="1250" b="0" i="0">
              <a:solidFill>
                <a:srgbClr val="1F2933"/>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19110</Words>
  <Application>WPS 文字</Application>
  <PresentationFormat>On-screen Show (4:3)</PresentationFormat>
  <Paragraphs>1102</Paragraphs>
  <Slides>22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22</vt:i4>
      </vt:variant>
    </vt:vector>
  </HeadingPairs>
  <TitlesOfParts>
    <vt:vector size="39" baseType="lpstr">
      <vt:lpstr>Arial</vt:lpstr>
      <vt:lpstr>宋体</vt:lpstr>
      <vt:lpstr>Wingdings</vt:lpstr>
      <vt:lpstr>Arial</vt:lpstr>
      <vt:lpstr>Cambria</vt:lpstr>
      <vt:lpstr>苹方-简</vt:lpstr>
      <vt:lpstr>Calibri</vt:lpstr>
      <vt:lpstr>Courier New</vt:lpstr>
      <vt:lpstr>Helvetica Neue</vt:lpstr>
      <vt:lpstr>微软雅黑</vt:lpstr>
      <vt:lpstr>方正雅意黑 GB18030L2</vt:lpstr>
      <vt:lpstr>宋体</vt:lpstr>
      <vt:lpstr>Arial Unicode MS</vt:lpstr>
      <vt:lpstr>汉仪书宋二KW</vt:lpstr>
      <vt:lpstr>Cambria</vt:lpstr>
      <vt:lpstr>Courier New</vt:lpstr>
      <vt:lpstr>Office Theme</vt:lpstr>
      <vt:lpstr>Beyond the price: can past change and volume predict Netflix's weekly #1 movie?</vt:lpstr>
      <vt:lpstr>Each week: yes/no contracts whose prices are probabilities</vt:lpstr>
      <vt:lpstr>Data: 90 completed weeks; long-shot prices and thin trading</vt:lpstr>
      <vt:lpstr>Features use only what was known at prediction time</vt:lpstr>
      <vt:lpstr>Four systems isolate price change and volume</vt:lpstr>
      <vt:lpstr>Whole-week time split; test weeks never choose settings</vt:lpstr>
      <vt:lpstr>24h top-1: no accuracy gain over the market price</vt:lpstr>
      <vt:lpstr>RF lowers log loss but not Brier; no method dominates</vt:lpstr>
      <vt:lpstr>72h cutoff (exploratory): no clear gain</vt:lpstr>
      <vt:lpstr>Conclusion: no consistent case for replacing the market price</vt:lpstr>
      <vt:lpstr>Limits, and one clean next step</vt:lpstr>
      <vt:lpstr>Appendix guide</vt:lpstr>
      <vt:lpstr>Appendix A1: metric definitions</vt:lpstr>
      <vt:lpstr>Appendix A2: validation tuning, 24h cutoff</vt:lpstr>
      <vt:lpstr>Appendix A3: validation tuning, 72h cutoff (exploratory)</vt:lpstr>
      <vt:lpstr>Appendix A4: paired week-bootstrap differences, test weeks</vt:lpstr>
      <vt:lpstr>Appendix A5: calibration diagnostics, 24h cutoff</vt:lpstr>
      <vt:lpstr>Appendix A6: calibration diagnostics, 72h cutoff</vt:lpstr>
      <vt:lpstr>Appendix A7: data quality and coverage by cutoff</vt:lpstr>
      <vt:lpstr>Appendix A8: key training code (executed script)</vt:lpstr>
      <vt:lpstr>Appendix A9: key split and metric code (executed script)</vt:lpstr>
      <vt:lpstr>Appendix A10: reproduction entry and run record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biu biu</cp:lastModifiedBy>
  <cp:revision>3</cp:revision>
  <dcterms:created xsi:type="dcterms:W3CDTF">2026-10-29T02:02:19Z</dcterms:created>
  <dcterms:modified xsi:type="dcterms:W3CDTF">2026-10-29T02:02:19Z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3DA77E751362EF58B6A8E26A9D7F69DA_42</vt:lpwstr>
  </property>
  <property fmtid="{D5CDD505-2E9C-101B-9397-08002B2CF9AE}" pid="3" name="KSOProductBuildVer">
    <vt:lpwstr>2052-12.1.28496.28496</vt:lpwstr>
  </property>
</Properties>
</file>